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1119" r:id="rId2"/>
    <p:sldId id="1516" r:id="rId3"/>
    <p:sldId id="1497" r:id="rId4"/>
    <p:sldId id="1498" r:id="rId5"/>
    <p:sldId id="1507" r:id="rId6"/>
    <p:sldId id="1508" r:id="rId7"/>
    <p:sldId id="1509" r:id="rId8"/>
    <p:sldId id="1510" r:id="rId9"/>
    <p:sldId id="1511" r:id="rId10"/>
    <p:sldId id="1512" r:id="rId11"/>
    <p:sldId id="1513" r:id="rId12"/>
    <p:sldId id="1514" r:id="rId13"/>
    <p:sldId id="1515" r:id="rId14"/>
    <p:sldId id="1517" r:id="rId15"/>
    <p:sldId id="1518" r:id="rId16"/>
    <p:sldId id="256" r:id="rId17"/>
    <p:sldId id="1519" r:id="rId18"/>
    <p:sldId id="257" r:id="rId19"/>
    <p:sldId id="1520" r:id="rId20"/>
    <p:sldId id="258" r:id="rId21"/>
    <p:sldId id="1521" r:id="rId22"/>
    <p:sldId id="259" r:id="rId23"/>
    <p:sldId id="1522" r:id="rId24"/>
    <p:sldId id="1523" r:id="rId25"/>
    <p:sldId id="1524" r:id="rId26"/>
    <p:sldId id="1525" r:id="rId27"/>
    <p:sldId id="1527" r:id="rId28"/>
    <p:sldId id="1526" r:id="rId29"/>
    <p:sldId id="1528" r:id="rId30"/>
    <p:sldId id="1529" r:id="rId31"/>
    <p:sldId id="1530" r:id="rId32"/>
    <p:sldId id="1531" r:id="rId33"/>
    <p:sldId id="1537" r:id="rId34"/>
    <p:sldId id="1532" r:id="rId35"/>
    <p:sldId id="1533" r:id="rId36"/>
    <p:sldId id="1534" r:id="rId37"/>
    <p:sldId id="1535" r:id="rId38"/>
    <p:sldId id="1536" r:id="rId39"/>
    <p:sldId id="1538" r:id="rId40"/>
    <p:sldId id="1539" r:id="rId41"/>
    <p:sldId id="1540" r:id="rId42"/>
    <p:sldId id="1541" r:id="rId43"/>
    <p:sldId id="1542" r:id="rId44"/>
    <p:sldId id="1543" r:id="rId45"/>
    <p:sldId id="1545" r:id="rId46"/>
    <p:sldId id="1546" r:id="rId47"/>
    <p:sldId id="1547" r:id="rId48"/>
    <p:sldId id="1548" r:id="rId49"/>
    <p:sldId id="301"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99"/>
    <a:srgbClr val="008000"/>
    <a:srgbClr val="2CB22F"/>
    <a:srgbClr val="AEFCFC"/>
    <a:srgbClr val="E0C1FF"/>
    <a:srgbClr val="CC99FF"/>
    <a:srgbClr val="00589A"/>
    <a:srgbClr val="DECEFE"/>
    <a:srgbClr val="D0B9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89150" autoAdjust="0"/>
  </p:normalViewPr>
  <p:slideViewPr>
    <p:cSldViewPr snapToGrid="0">
      <p:cViewPr>
        <p:scale>
          <a:sx n="75" d="100"/>
          <a:sy n="75" d="100"/>
        </p:scale>
        <p:origin x="3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5813B3-6425-4A6D-806E-021B84DD5758}" type="datetimeFigureOut">
              <a:rPr lang="en-IN" smtClean="0"/>
              <a:t>23-10-2025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193CE8-3B10-43B2-8860-AFD8154600F8}" type="slidenum">
              <a:rPr lang="en-IN" smtClean="0"/>
              <a:t>‹#›</a:t>
            </a:fld>
            <a:endParaRPr lang="en-IN"/>
          </a:p>
        </p:txBody>
      </p:sp>
    </p:spTree>
    <p:extLst>
      <p:ext uri="{BB962C8B-B14F-4D97-AF65-F5344CB8AC3E}">
        <p14:creationId xmlns:p14="http://schemas.microsoft.com/office/powerpoint/2010/main" val="730557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10843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93CE8-3B10-43B2-8860-AFD8154600F8}" type="slidenum">
              <a:rPr lang="en-IN" smtClean="0"/>
              <a:t>44</a:t>
            </a:fld>
            <a:endParaRPr lang="en-IN"/>
          </a:p>
        </p:txBody>
      </p:sp>
    </p:spTree>
    <p:extLst>
      <p:ext uri="{BB962C8B-B14F-4D97-AF65-F5344CB8AC3E}">
        <p14:creationId xmlns:p14="http://schemas.microsoft.com/office/powerpoint/2010/main" val="30108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6" name="Google Shape;120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55428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caletrix Title Page">
    <p:spTree>
      <p:nvGrpSpPr>
        <p:cNvPr id="1" name=""/>
        <p:cNvGrpSpPr/>
        <p:nvPr/>
      </p:nvGrpSpPr>
      <p:grpSpPr>
        <a:xfrm>
          <a:off x="0" y="0"/>
          <a:ext cx="0" cy="0"/>
          <a:chOff x="0" y="0"/>
          <a:chExt cx="0" cy="0"/>
        </a:xfrm>
      </p:grpSpPr>
      <p:sp>
        <p:nvSpPr>
          <p:cNvPr id="2" name="Google Shape;22;p3">
            <a:extLst>
              <a:ext uri="{FF2B5EF4-FFF2-40B4-BE49-F238E27FC236}">
                <a16:creationId xmlns:a16="http://schemas.microsoft.com/office/drawing/2014/main" id="{2F306997-3B2B-2B65-053F-A3D89D2F2DA0}"/>
              </a:ext>
            </a:extLst>
          </p:cNvPr>
          <p:cNvSpPr/>
          <p:nvPr userDrawn="1"/>
        </p:nvSpPr>
        <p:spPr>
          <a:xfrm>
            <a:off x="-67" y="0"/>
            <a:ext cx="12192000" cy="6327976"/>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pic>
        <p:nvPicPr>
          <p:cNvPr id="3" name="Picture 2">
            <a:extLst>
              <a:ext uri="{FF2B5EF4-FFF2-40B4-BE49-F238E27FC236}">
                <a16:creationId xmlns:a16="http://schemas.microsoft.com/office/drawing/2014/main" id="{03AD558F-750C-7F7A-EF36-7477B28E6647}"/>
              </a:ext>
            </a:extLst>
          </p:cNvPr>
          <p:cNvPicPr>
            <a:picLocks noChangeAspect="1"/>
          </p:cNvPicPr>
          <p:nvPr userDrawn="1"/>
        </p:nvPicPr>
        <p:blipFill rotWithShape="1">
          <a:blip r:embed="rId2"/>
          <a:srcRect r="5636" b="4250"/>
          <a:stretch/>
        </p:blipFill>
        <p:spPr>
          <a:xfrm flipH="1">
            <a:off x="937527" y="1260005"/>
            <a:ext cx="5091797" cy="4486363"/>
          </a:xfrm>
          <a:prstGeom prst="rect">
            <a:avLst/>
          </a:prstGeom>
        </p:spPr>
      </p:pic>
      <p:sp>
        <p:nvSpPr>
          <p:cNvPr id="10" name="Rectangle 9">
            <a:extLst>
              <a:ext uri="{FF2B5EF4-FFF2-40B4-BE49-F238E27FC236}">
                <a16:creationId xmlns:a16="http://schemas.microsoft.com/office/drawing/2014/main" id="{41D13BBF-8BF9-58E8-2D48-8C25E8436E1D}"/>
              </a:ext>
            </a:extLst>
          </p:cNvPr>
          <p:cNvSpPr/>
          <p:nvPr userDrawn="1"/>
        </p:nvSpPr>
        <p:spPr>
          <a:xfrm>
            <a:off x="0" y="0"/>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12" name="Google Shape;37;p60">
            <a:extLst>
              <a:ext uri="{FF2B5EF4-FFF2-40B4-BE49-F238E27FC236}">
                <a16:creationId xmlns:a16="http://schemas.microsoft.com/office/drawing/2014/main" id="{E6481E89-02DE-7518-CF7A-DC982067B7A2}"/>
              </a:ext>
            </a:extLst>
          </p:cNvPr>
          <p:cNvSpPr txBox="1">
            <a:spLocks noGrp="1"/>
          </p:cNvSpPr>
          <p:nvPr>
            <p:ph type="subTitle" idx="1"/>
          </p:nvPr>
        </p:nvSpPr>
        <p:spPr>
          <a:xfrm>
            <a:off x="6279060" y="2107188"/>
            <a:ext cx="545574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Tree>
    <p:extLst>
      <p:ext uri="{BB962C8B-B14F-4D97-AF65-F5344CB8AC3E}">
        <p14:creationId xmlns:p14="http://schemas.microsoft.com/office/powerpoint/2010/main" val="391836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1"/>
        <p:cNvGrpSpPr/>
        <p:nvPr/>
      </p:nvGrpSpPr>
      <p:grpSpPr>
        <a:xfrm>
          <a:off x="0" y="0"/>
          <a:ext cx="0" cy="0"/>
          <a:chOff x="0" y="0"/>
          <a:chExt cx="0" cy="0"/>
        </a:xfrm>
      </p:grpSpPr>
      <p:sp>
        <p:nvSpPr>
          <p:cNvPr id="23" name="Google Shape;23;p3"/>
          <p:cNvSpPr txBox="1">
            <a:spLocks noGrp="1"/>
          </p:cNvSpPr>
          <p:nvPr>
            <p:ph type="title"/>
          </p:nvPr>
        </p:nvSpPr>
        <p:spPr>
          <a:xfrm>
            <a:off x="415600" y="4289085"/>
            <a:ext cx="11428400" cy="1256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atin typeface="Raleway" pitchFamily="2" charset="0"/>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dirty="0"/>
          </a:p>
        </p:txBody>
      </p:sp>
      <p:sp>
        <p:nvSpPr>
          <p:cNvPr id="2" name="Google Shape;8;p1">
            <a:extLst>
              <a:ext uri="{FF2B5EF4-FFF2-40B4-BE49-F238E27FC236}">
                <a16:creationId xmlns:a16="http://schemas.microsoft.com/office/drawing/2014/main" id="{9DF37ADA-1D1E-F64E-723D-3F6E9A12009A}"/>
              </a:ext>
            </a:extLst>
          </p:cNvPr>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rmAutofit/>
          </a:bodyPr>
          <a:lstStyle>
            <a:lvl1pPr lvl="0" algn="r">
              <a:buNone/>
              <a:defRPr sz="1333">
                <a:solidFill>
                  <a:schemeClr val="bg1"/>
                </a:solidFill>
                <a:latin typeface="Raleway" pitchFamily="2" charset="0"/>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3313620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1"/>
        <p:cNvGrpSpPr/>
        <p:nvPr/>
      </p:nvGrpSpPr>
      <p:grpSpPr>
        <a:xfrm>
          <a:off x="0" y="0"/>
          <a:ext cx="0" cy="0"/>
          <a:chOff x="0" y="0"/>
          <a:chExt cx="0" cy="0"/>
        </a:xfrm>
      </p:grpSpPr>
      <p:sp>
        <p:nvSpPr>
          <p:cNvPr id="62" name="Google Shape;62;p10"/>
          <p:cNvSpPr txBox="1">
            <a:spLocks noGrp="1"/>
          </p:cNvSpPr>
          <p:nvPr>
            <p:ph type="body" idx="1"/>
          </p:nvPr>
        </p:nvSpPr>
        <p:spPr>
          <a:xfrm>
            <a:off x="1081404" y="5270123"/>
            <a:ext cx="7998400" cy="7984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2400"/>
              <a:buFont typeface="PT Sans Narrow"/>
              <a:buNone/>
              <a:defRPr sz="3200">
                <a:latin typeface="Raleway" pitchFamily="2" charset="0"/>
                <a:ea typeface="Raleway" pitchFamily="2" charset="0"/>
                <a:cs typeface="Raleway" pitchFamily="2" charset="0"/>
                <a:sym typeface="PT Sans Narrow"/>
              </a:defRPr>
            </a:lvl1pPr>
          </a:lstStyle>
          <a:p>
            <a:endParaRPr dirty="0"/>
          </a:p>
        </p:txBody>
      </p:sp>
      <p:sp>
        <p:nvSpPr>
          <p:cNvPr id="6" name="Slide Number Placeholder 5">
            <a:extLst>
              <a:ext uri="{FF2B5EF4-FFF2-40B4-BE49-F238E27FC236}">
                <a16:creationId xmlns:a16="http://schemas.microsoft.com/office/drawing/2014/main" id="{2D49176E-C771-72C8-F8E5-906AAEAB5941}"/>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99187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userDrawn="1">
  <p:cSld name="One column text">
    <p:spTree>
      <p:nvGrpSpPr>
        <p:cNvPr id="1" name="Shape 44"/>
        <p:cNvGrpSpPr/>
        <p:nvPr/>
      </p:nvGrpSpPr>
      <p:grpSpPr>
        <a:xfrm>
          <a:off x="0" y="0"/>
          <a:ext cx="0" cy="0"/>
          <a:chOff x="0" y="0"/>
          <a:chExt cx="0" cy="0"/>
        </a:xfrm>
      </p:grpSpPr>
      <p:sp>
        <p:nvSpPr>
          <p:cNvPr id="46" name="Google Shape;46;p7"/>
          <p:cNvSpPr txBox="1">
            <a:spLocks noGrp="1"/>
          </p:cNvSpPr>
          <p:nvPr>
            <p:ph type="body" idx="1"/>
          </p:nvPr>
        </p:nvSpPr>
        <p:spPr>
          <a:xfrm>
            <a:off x="415600" y="1672836"/>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333">
                <a:latin typeface="Calibri" panose="020F0502020204030204" pitchFamily="34" charset="0"/>
                <a:cs typeface="Calibri" panose="020F0502020204030204" pitchFamily="34" charset="0"/>
              </a:defRPr>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dirty="0"/>
          </a:p>
        </p:txBody>
      </p:sp>
      <p:sp>
        <p:nvSpPr>
          <p:cNvPr id="5" name="Google Shape;45;p7">
            <a:extLst>
              <a:ext uri="{FF2B5EF4-FFF2-40B4-BE49-F238E27FC236}">
                <a16:creationId xmlns:a16="http://schemas.microsoft.com/office/drawing/2014/main" id="{482C3779-B2BB-CEE4-3E2C-334B9C6C7D8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7" name="Slide Number Placeholder 5">
            <a:extLst>
              <a:ext uri="{FF2B5EF4-FFF2-40B4-BE49-F238E27FC236}">
                <a16:creationId xmlns:a16="http://schemas.microsoft.com/office/drawing/2014/main" id="{E53AC460-69CA-8F48-E3C8-414742235405}"/>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228013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9630DA-C8F6-4DCB-07B4-8474A714CA0E}"/>
              </a:ext>
            </a:extLst>
          </p:cNvPr>
          <p:cNvSpPr>
            <a:spLocks noGrp="1"/>
          </p:cNvSpPr>
          <p:nvPr>
            <p:ph type="pic" idx="1"/>
          </p:nvPr>
        </p:nvSpPr>
        <p:spPr>
          <a:xfrm>
            <a:off x="5183188" y="2049463"/>
            <a:ext cx="6172200" cy="3811588"/>
          </a:xfrm>
          <a:prstGeom prst="rect">
            <a:avLst/>
          </a:prstGeom>
        </p:spPr>
        <p:txBody>
          <a:bodyPr>
            <a:normAutofit/>
          </a:bodyPr>
          <a:lstStyle>
            <a:lvl1pPr marL="0" indent="0">
              <a:buNone/>
              <a:defRPr sz="1333">
                <a:latin typeface="Calibri" panose="020F0502020204030204" pitchFamily="34" charset="0"/>
                <a:cs typeface="Calibri" panose="020F0502020204030204" pitchFamily="34"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dirty="0"/>
          </a:p>
        </p:txBody>
      </p:sp>
      <p:sp>
        <p:nvSpPr>
          <p:cNvPr id="4" name="Text Placeholder 3">
            <a:extLst>
              <a:ext uri="{FF2B5EF4-FFF2-40B4-BE49-F238E27FC236}">
                <a16:creationId xmlns:a16="http://schemas.microsoft.com/office/drawing/2014/main" id="{2D23ABE9-772D-629A-0846-B8D8655E488F}"/>
              </a:ext>
            </a:extLst>
          </p:cNvPr>
          <p:cNvSpPr>
            <a:spLocks noGrp="1"/>
          </p:cNvSpPr>
          <p:nvPr>
            <p:ph type="body" sz="half" idx="2"/>
          </p:nvPr>
        </p:nvSpPr>
        <p:spPr>
          <a:xfrm>
            <a:off x="839788" y="2057401"/>
            <a:ext cx="3932237" cy="3811588"/>
          </a:xfrm>
          <a:prstGeom prst="rect">
            <a:avLst/>
          </a:prstGeom>
        </p:spPr>
        <p:txBody>
          <a:bodyPr/>
          <a:lstStyle>
            <a:lvl1pPr marL="0" indent="0">
              <a:buNone/>
              <a:defRPr sz="1333">
                <a:latin typeface="Calibri" panose="020F0502020204030204" pitchFamily="34" charset="0"/>
                <a:cs typeface="Calibri" panose="020F0502020204030204"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11" name="Google Shape;45;p7">
            <a:extLst>
              <a:ext uri="{FF2B5EF4-FFF2-40B4-BE49-F238E27FC236}">
                <a16:creationId xmlns:a16="http://schemas.microsoft.com/office/drawing/2014/main" id="{2DDA5E8B-7438-C891-2771-F57700CCD3F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3" name="Slide Number Placeholder 5">
            <a:extLst>
              <a:ext uri="{FF2B5EF4-FFF2-40B4-BE49-F238E27FC236}">
                <a16:creationId xmlns:a16="http://schemas.microsoft.com/office/drawing/2014/main" id="{BE10E01B-527E-6CF6-D575-6D430AD2824D}"/>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2061382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userDrawn="1">
  <p:cSld name="Title and Content">
    <p:spTree>
      <p:nvGrpSpPr>
        <p:cNvPr id="1" name="Shape 91"/>
        <p:cNvGrpSpPr/>
        <p:nvPr/>
      </p:nvGrpSpPr>
      <p:grpSpPr>
        <a:xfrm>
          <a:off x="0" y="0"/>
          <a:ext cx="0" cy="0"/>
          <a:chOff x="0" y="0"/>
          <a:chExt cx="0" cy="0"/>
        </a:xfrm>
      </p:grpSpPr>
      <p:sp>
        <p:nvSpPr>
          <p:cNvPr id="93" name="Google Shape;93;p15"/>
          <p:cNvSpPr txBox="1">
            <a:spLocks noGrp="1"/>
          </p:cNvSpPr>
          <p:nvPr>
            <p:ph type="body" idx="1"/>
          </p:nvPr>
        </p:nvSpPr>
        <p:spPr>
          <a:xfrm>
            <a:off x="838200" y="2023409"/>
            <a:ext cx="10515600" cy="3955636"/>
          </a:xfrm>
          <a:prstGeom prst="rect">
            <a:avLst/>
          </a:prstGeom>
          <a:noFill/>
          <a:ln>
            <a:noFill/>
          </a:ln>
        </p:spPr>
        <p:txBody>
          <a:bodyPr spcFirstLastPara="1" wrap="square" lIns="68575" tIns="34275" rIns="68575" bIns="34275" anchor="t" anchorCtr="0">
            <a:normAutofit/>
          </a:bodyPr>
          <a:lstStyle>
            <a:lvl1pPr marL="609585" lvl="0" indent="-423323" algn="l" rtl="0">
              <a:lnSpc>
                <a:spcPct val="90000"/>
              </a:lnSpc>
              <a:spcBef>
                <a:spcPts val="1067"/>
              </a:spcBef>
              <a:spcAft>
                <a:spcPts val="0"/>
              </a:spcAft>
              <a:buClr>
                <a:schemeClr val="dk1"/>
              </a:buClr>
              <a:buSzPts val="1400"/>
              <a:buChar char="•"/>
              <a:defRPr>
                <a:latin typeface="Calibri" panose="020F0502020204030204" pitchFamily="34" charset="0"/>
                <a:cs typeface="Calibri" panose="020F0502020204030204" pitchFamily="34" charset="0"/>
              </a:defRPr>
            </a:lvl1pPr>
            <a:lvl2pPr marL="1219170" lvl="1" indent="-423323" algn="l" rtl="0">
              <a:lnSpc>
                <a:spcPct val="90000"/>
              </a:lnSpc>
              <a:spcBef>
                <a:spcPts val="533"/>
              </a:spcBef>
              <a:spcAft>
                <a:spcPts val="0"/>
              </a:spcAft>
              <a:buClr>
                <a:schemeClr val="dk1"/>
              </a:buClr>
              <a:buSzPts val="1400"/>
              <a:buChar char="•"/>
              <a:defRPr/>
            </a:lvl2pPr>
            <a:lvl3pPr marL="1828754" lvl="2" indent="-423323" algn="l" rtl="0">
              <a:lnSpc>
                <a:spcPct val="90000"/>
              </a:lnSpc>
              <a:spcBef>
                <a:spcPts val="533"/>
              </a:spcBef>
              <a:spcAft>
                <a:spcPts val="0"/>
              </a:spcAft>
              <a:buClr>
                <a:schemeClr val="dk1"/>
              </a:buClr>
              <a:buSzPts val="1400"/>
              <a:buChar char="•"/>
              <a:defRPr/>
            </a:lvl3pPr>
            <a:lvl4pPr marL="2438339" lvl="3" indent="-423323" algn="l" rtl="0">
              <a:lnSpc>
                <a:spcPct val="90000"/>
              </a:lnSpc>
              <a:spcBef>
                <a:spcPts val="533"/>
              </a:spcBef>
              <a:spcAft>
                <a:spcPts val="0"/>
              </a:spcAft>
              <a:buClr>
                <a:schemeClr val="dk1"/>
              </a:buClr>
              <a:buSzPts val="1400"/>
              <a:buChar char="•"/>
              <a:defRPr/>
            </a:lvl4pPr>
            <a:lvl5pPr marL="3047924" lvl="4" indent="-423323" algn="l" rtl="0">
              <a:lnSpc>
                <a:spcPct val="90000"/>
              </a:lnSpc>
              <a:spcBef>
                <a:spcPts val="533"/>
              </a:spcBef>
              <a:spcAft>
                <a:spcPts val="0"/>
              </a:spcAft>
              <a:buClr>
                <a:schemeClr val="dk1"/>
              </a:buClr>
              <a:buSzPts val="1400"/>
              <a:buChar char="•"/>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0"/>
              </a:spcAft>
              <a:buClr>
                <a:schemeClr val="dk1"/>
              </a:buClr>
              <a:buSzPts val="1400"/>
              <a:buChar char="•"/>
              <a:defRPr/>
            </a:lvl9pPr>
          </a:lstStyle>
          <a:p>
            <a:endParaRPr dirty="0"/>
          </a:p>
        </p:txBody>
      </p:sp>
      <p:sp>
        <p:nvSpPr>
          <p:cNvPr id="4" name="Google Shape;45;p7">
            <a:extLst>
              <a:ext uri="{FF2B5EF4-FFF2-40B4-BE49-F238E27FC236}">
                <a16:creationId xmlns:a16="http://schemas.microsoft.com/office/drawing/2014/main" id="{EB44CB0A-F4B1-A402-3759-2C3528AB8E4F}"/>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9" name="Slide Number Placeholder 5">
            <a:extLst>
              <a:ext uri="{FF2B5EF4-FFF2-40B4-BE49-F238E27FC236}">
                <a16:creationId xmlns:a16="http://schemas.microsoft.com/office/drawing/2014/main" id="{876617F3-2402-6614-1A74-28C7B4C54B2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2932584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6E896A-68C9-7523-8C07-666BD0EFBA84}"/>
              </a:ext>
            </a:extLst>
          </p:cNvPr>
          <p:cNvSpPr>
            <a:spLocks noGrp="1"/>
          </p:cNvSpPr>
          <p:nvPr>
            <p:ph idx="1"/>
          </p:nvPr>
        </p:nvSpPr>
        <p:spPr>
          <a:xfrm>
            <a:off x="415600" y="2602499"/>
            <a:ext cx="11360800" cy="3153216"/>
          </a:xfrm>
          <a:prstGeom prst="rect">
            <a:avLst/>
          </a:prstGeom>
        </p:spPr>
        <p:txBody>
          <a:bodyPr/>
          <a:lstStyle>
            <a:lvl1pPr>
              <a:defRPr>
                <a:latin typeface="Calibri" panose="020F0502020204030204" pitchFamily="34" charset="0"/>
                <a:cs typeface="Calibri" panose="020F0502020204030204" pitchFamily="34" charset="0"/>
              </a:defRPr>
            </a:lvl1pPr>
            <a:lvl2pPr>
              <a:defRPr>
                <a:latin typeface="Raleway" pitchFamily="2" charset="0"/>
              </a:defRPr>
            </a:lvl2pPr>
            <a:lvl3pPr>
              <a:defRPr>
                <a:latin typeface="Raleway" pitchFamily="2" charset="0"/>
              </a:defRPr>
            </a:lvl3pPr>
            <a:lvl4pPr>
              <a:defRPr>
                <a:latin typeface="Raleway" pitchFamily="2" charset="0"/>
              </a:defRPr>
            </a:lvl4pPr>
            <a:lvl5pPr>
              <a:defRPr>
                <a:latin typeface="Raleway"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45;p7">
            <a:extLst>
              <a:ext uri="{FF2B5EF4-FFF2-40B4-BE49-F238E27FC236}">
                <a16:creationId xmlns:a16="http://schemas.microsoft.com/office/drawing/2014/main" id="{2B1567C0-4287-5016-773D-60FC6944785E}"/>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2" name="Slide Number Placeholder 5">
            <a:extLst>
              <a:ext uri="{FF2B5EF4-FFF2-40B4-BE49-F238E27FC236}">
                <a16:creationId xmlns:a16="http://schemas.microsoft.com/office/drawing/2014/main" id="{54CBDA10-C463-8A5E-0969-8CFE1D30C617}"/>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16484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1" userDrawn="1">
  <p:cSld name="Title and two columns 1">
    <p:spTree>
      <p:nvGrpSpPr>
        <p:cNvPr id="1" name="Shape 76"/>
        <p:cNvGrpSpPr/>
        <p:nvPr/>
      </p:nvGrpSpPr>
      <p:grpSpPr>
        <a:xfrm>
          <a:off x="0" y="0"/>
          <a:ext cx="0" cy="0"/>
          <a:chOff x="0" y="0"/>
          <a:chExt cx="0" cy="0"/>
        </a:xfrm>
      </p:grpSpPr>
      <p:sp>
        <p:nvSpPr>
          <p:cNvPr id="77" name="Google Shape;77;p13"/>
          <p:cNvSpPr txBox="1">
            <a:spLocks noGrp="1"/>
          </p:cNvSpPr>
          <p:nvPr>
            <p:ph type="subTitle" idx="1"/>
          </p:nvPr>
        </p:nvSpPr>
        <p:spPr>
          <a:xfrm>
            <a:off x="18027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78" name="Google Shape;78;p13"/>
          <p:cNvSpPr txBox="1">
            <a:spLocks noGrp="1"/>
          </p:cNvSpPr>
          <p:nvPr>
            <p:ph type="subTitle" idx="2"/>
          </p:nvPr>
        </p:nvSpPr>
        <p:spPr>
          <a:xfrm>
            <a:off x="18027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dirty="0"/>
          </a:p>
        </p:txBody>
      </p:sp>
      <p:sp>
        <p:nvSpPr>
          <p:cNvPr id="79" name="Google Shape;79;p13"/>
          <p:cNvSpPr txBox="1">
            <a:spLocks noGrp="1"/>
          </p:cNvSpPr>
          <p:nvPr>
            <p:ph type="subTitle" idx="3"/>
          </p:nvPr>
        </p:nvSpPr>
        <p:spPr>
          <a:xfrm>
            <a:off x="67430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80" name="Google Shape;80;p13"/>
          <p:cNvSpPr txBox="1">
            <a:spLocks noGrp="1"/>
          </p:cNvSpPr>
          <p:nvPr>
            <p:ph type="subTitle" idx="4"/>
          </p:nvPr>
        </p:nvSpPr>
        <p:spPr>
          <a:xfrm>
            <a:off x="67430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a:p>
        </p:txBody>
      </p:sp>
      <p:sp>
        <p:nvSpPr>
          <p:cNvPr id="3" name="Google Shape;45;p7">
            <a:extLst>
              <a:ext uri="{FF2B5EF4-FFF2-40B4-BE49-F238E27FC236}">
                <a16:creationId xmlns:a16="http://schemas.microsoft.com/office/drawing/2014/main" id="{D0B48D13-027A-4AFE-4CD9-AAE135E2BABD}"/>
              </a:ext>
            </a:extLst>
          </p:cNvPr>
          <p:cNvSpPr txBox="1">
            <a:spLocks noGrp="1"/>
          </p:cNvSpPr>
          <p:nvPr>
            <p:ph type="title"/>
          </p:nvPr>
        </p:nvSpPr>
        <p:spPr>
          <a:xfrm>
            <a:off x="403199" y="115200"/>
            <a:ext cx="10550999"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9" name="Slide Number Placeholder 5">
            <a:extLst>
              <a:ext uri="{FF2B5EF4-FFF2-40B4-BE49-F238E27FC236}">
                <a16:creationId xmlns:a16="http://schemas.microsoft.com/office/drawing/2014/main" id="{9432BB4C-0FFD-F107-637F-62075DD566B0}"/>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265085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6"/>
        <p:cNvGrpSpPr/>
        <p:nvPr/>
      </p:nvGrpSpPr>
      <p:grpSpPr>
        <a:xfrm>
          <a:off x="0" y="0"/>
          <a:ext cx="0" cy="0"/>
          <a:chOff x="0" y="0"/>
          <a:chExt cx="0" cy="0"/>
        </a:xfrm>
      </p:grpSpPr>
      <p:sp>
        <p:nvSpPr>
          <p:cNvPr id="67" name="Google Shape;67;p11"/>
          <p:cNvSpPr txBox="1">
            <a:spLocks noGrp="1"/>
          </p:cNvSpPr>
          <p:nvPr>
            <p:ph type="title" hasCustomPrompt="1"/>
          </p:nvPr>
        </p:nvSpPr>
        <p:spPr>
          <a:xfrm>
            <a:off x="415600" y="2236481"/>
            <a:ext cx="11360800" cy="20512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7333">
                <a:solidFill>
                  <a:schemeClr val="accent3"/>
                </a:solidFill>
                <a:latin typeface="Calibri" panose="020F0502020204030204" pitchFamily="34" charset="0"/>
                <a:cs typeface="Calibri" panose="020F0502020204030204" pitchFamily="34" charset="0"/>
              </a:defRPr>
            </a:lvl1pPr>
            <a:lvl2pPr lvl="1" algn="ctr">
              <a:spcBef>
                <a:spcPts val="0"/>
              </a:spcBef>
              <a:spcAft>
                <a:spcPts val="0"/>
              </a:spcAft>
              <a:buClr>
                <a:schemeClr val="accent3"/>
              </a:buClr>
              <a:buSzPts val="13000"/>
              <a:buNone/>
              <a:defRPr sz="17333">
                <a:solidFill>
                  <a:schemeClr val="accent3"/>
                </a:solidFill>
              </a:defRPr>
            </a:lvl2pPr>
            <a:lvl3pPr lvl="2" algn="ctr">
              <a:spcBef>
                <a:spcPts val="0"/>
              </a:spcBef>
              <a:spcAft>
                <a:spcPts val="0"/>
              </a:spcAft>
              <a:buClr>
                <a:schemeClr val="accent3"/>
              </a:buClr>
              <a:buSzPts val="13000"/>
              <a:buNone/>
              <a:defRPr sz="17333">
                <a:solidFill>
                  <a:schemeClr val="accent3"/>
                </a:solidFill>
              </a:defRPr>
            </a:lvl3pPr>
            <a:lvl4pPr lvl="3" algn="ctr">
              <a:spcBef>
                <a:spcPts val="0"/>
              </a:spcBef>
              <a:spcAft>
                <a:spcPts val="0"/>
              </a:spcAft>
              <a:buClr>
                <a:schemeClr val="accent3"/>
              </a:buClr>
              <a:buSzPts val="13000"/>
              <a:buNone/>
              <a:defRPr sz="17333">
                <a:solidFill>
                  <a:schemeClr val="accent3"/>
                </a:solidFill>
              </a:defRPr>
            </a:lvl4pPr>
            <a:lvl5pPr lvl="4" algn="ctr">
              <a:spcBef>
                <a:spcPts val="0"/>
              </a:spcBef>
              <a:spcAft>
                <a:spcPts val="0"/>
              </a:spcAft>
              <a:buClr>
                <a:schemeClr val="accent3"/>
              </a:buClr>
              <a:buSzPts val="13000"/>
              <a:buNone/>
              <a:defRPr sz="17333">
                <a:solidFill>
                  <a:schemeClr val="accent3"/>
                </a:solidFill>
              </a:defRPr>
            </a:lvl5pPr>
            <a:lvl6pPr lvl="5" algn="ctr">
              <a:spcBef>
                <a:spcPts val="0"/>
              </a:spcBef>
              <a:spcAft>
                <a:spcPts val="0"/>
              </a:spcAft>
              <a:buClr>
                <a:schemeClr val="accent3"/>
              </a:buClr>
              <a:buSzPts val="13000"/>
              <a:buNone/>
              <a:defRPr sz="17333">
                <a:solidFill>
                  <a:schemeClr val="accent3"/>
                </a:solidFill>
              </a:defRPr>
            </a:lvl6pPr>
            <a:lvl7pPr lvl="6" algn="ctr">
              <a:spcBef>
                <a:spcPts val="0"/>
              </a:spcBef>
              <a:spcAft>
                <a:spcPts val="0"/>
              </a:spcAft>
              <a:buClr>
                <a:schemeClr val="accent3"/>
              </a:buClr>
              <a:buSzPts val="13000"/>
              <a:buNone/>
              <a:defRPr sz="17333">
                <a:solidFill>
                  <a:schemeClr val="accent3"/>
                </a:solidFill>
              </a:defRPr>
            </a:lvl7pPr>
            <a:lvl8pPr lvl="7" algn="ctr">
              <a:spcBef>
                <a:spcPts val="0"/>
              </a:spcBef>
              <a:spcAft>
                <a:spcPts val="0"/>
              </a:spcAft>
              <a:buClr>
                <a:schemeClr val="accent3"/>
              </a:buClr>
              <a:buSzPts val="13000"/>
              <a:buNone/>
              <a:defRPr sz="17333">
                <a:solidFill>
                  <a:schemeClr val="accent3"/>
                </a:solidFill>
              </a:defRPr>
            </a:lvl8pPr>
            <a:lvl9pPr lvl="8" algn="ctr">
              <a:spcBef>
                <a:spcPts val="0"/>
              </a:spcBef>
              <a:spcAft>
                <a:spcPts val="0"/>
              </a:spcAft>
              <a:buClr>
                <a:schemeClr val="accent3"/>
              </a:buClr>
              <a:buSzPts val="13000"/>
              <a:buNone/>
              <a:defRPr sz="17333">
                <a:solidFill>
                  <a:schemeClr val="accent3"/>
                </a:solidFill>
              </a:defRPr>
            </a:lvl9pPr>
          </a:lstStyle>
          <a:p>
            <a:r>
              <a:rPr dirty="0"/>
              <a:t>xx%</a:t>
            </a:r>
          </a:p>
        </p:txBody>
      </p:sp>
      <p:sp>
        <p:nvSpPr>
          <p:cNvPr id="68" name="Google Shape;68;p11"/>
          <p:cNvSpPr txBox="1">
            <a:spLocks noGrp="1"/>
          </p:cNvSpPr>
          <p:nvPr>
            <p:ph type="body" idx="1"/>
          </p:nvPr>
        </p:nvSpPr>
        <p:spPr>
          <a:xfrm>
            <a:off x="415600" y="4490881"/>
            <a:ext cx="11360800" cy="14288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atin typeface="Calibri" panose="020F0502020204030204" pitchFamily="34" charset="0"/>
                <a:cs typeface="Calibri" panose="020F0502020204030204" pitchFamily="34" charset="0"/>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dirty="0"/>
          </a:p>
        </p:txBody>
      </p:sp>
      <p:sp>
        <p:nvSpPr>
          <p:cNvPr id="8" name="Slide Number Placeholder 5">
            <a:extLst>
              <a:ext uri="{FF2B5EF4-FFF2-40B4-BE49-F238E27FC236}">
                <a16:creationId xmlns:a16="http://schemas.microsoft.com/office/drawing/2014/main" id="{FEF22A34-8630-7179-6BE7-3A5ED218F44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36081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Google Shape;45;p7">
            <a:extLst>
              <a:ext uri="{FF2B5EF4-FFF2-40B4-BE49-F238E27FC236}">
                <a16:creationId xmlns:a16="http://schemas.microsoft.com/office/drawing/2014/main" id="{564256A3-4B60-B37C-3C15-AB3FE9B6DA43}"/>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1" name="Slide Number Placeholder 5">
            <a:extLst>
              <a:ext uri="{FF2B5EF4-FFF2-40B4-BE49-F238E27FC236}">
                <a16:creationId xmlns:a16="http://schemas.microsoft.com/office/drawing/2014/main" id="{4B24C27D-E9CF-52B2-895E-3ABEC7ADC878}"/>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560623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83060A7-945A-2E96-761C-7E7F8D3C45F9}"/>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71137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
        <p:cNvGrpSpPr/>
        <p:nvPr/>
      </p:nvGrpSpPr>
      <p:grpSpPr>
        <a:xfrm>
          <a:off x="0" y="0"/>
          <a:ext cx="0" cy="0"/>
          <a:chOff x="0" y="0"/>
          <a:chExt cx="0" cy="0"/>
        </a:xfrm>
      </p:grpSpPr>
      <p:sp>
        <p:nvSpPr>
          <p:cNvPr id="37" name="Google Shape;37;p60"/>
          <p:cNvSpPr txBox="1">
            <a:spLocks noGrp="1"/>
          </p:cNvSpPr>
          <p:nvPr>
            <p:ph type="subTitle" idx="1"/>
          </p:nvPr>
        </p:nvSpPr>
        <p:spPr>
          <a:xfrm>
            <a:off x="2840535" y="4195828"/>
            <a:ext cx="649400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
        <p:nvSpPr>
          <p:cNvPr id="38" name="Google Shape;38;p60"/>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1pPr>
            <a:lvl2pPr marL="0" lvl="1"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2pPr>
            <a:lvl3pPr marL="0" lvl="2"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3pPr>
            <a:lvl4pPr marL="0" lvl="3"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4pPr>
            <a:lvl5pPr marL="0" lvl="4"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5pPr>
            <a:lvl6pPr marL="0" lvl="5"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6pPr>
            <a:lvl7pPr marL="0" lvl="6"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7pPr>
            <a:lvl8pPr marL="0" lvl="7"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8pPr>
            <a:lvl9pPr marL="0" lvl="8"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830446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03200" y="115200"/>
            <a:ext cx="11360800" cy="9432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dirty="0"/>
          </a:p>
        </p:txBody>
      </p:sp>
      <p:sp>
        <p:nvSpPr>
          <p:cNvPr id="27" name="Rectangle 26">
            <a:extLst>
              <a:ext uri="{FF2B5EF4-FFF2-40B4-BE49-F238E27FC236}">
                <a16:creationId xmlns:a16="http://schemas.microsoft.com/office/drawing/2014/main" id="{D2573FB6-F6A4-C682-F4CD-14CE8176A144}"/>
              </a:ext>
            </a:extLst>
          </p:cNvPr>
          <p:cNvSpPr/>
          <p:nvPr userDrawn="1"/>
        </p:nvSpPr>
        <p:spPr>
          <a:xfrm>
            <a:off x="0" y="6331389"/>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8" name="Google Shape;8;p1"/>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lvl="0" algn="r">
              <a:buNone/>
              <a:defRPr sz="1333">
                <a:solidFill>
                  <a:schemeClr val="bg1"/>
                </a:solidFill>
                <a:latin typeface="Raleway" pitchFamily="2" charset="0"/>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945671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6CF642-B155-3EAA-0E23-97793C0E3936}"/>
              </a:ext>
            </a:extLst>
          </p:cNvPr>
          <p:cNvSpPr txBox="1"/>
          <p:nvPr/>
        </p:nvSpPr>
        <p:spPr>
          <a:xfrm>
            <a:off x="6359212" y="1544482"/>
            <a:ext cx="4741333" cy="4648196"/>
          </a:xfrm>
          <a:prstGeom prst="rect">
            <a:avLst/>
          </a:prstGeom>
          <a:noFill/>
        </p:spPr>
        <p:txBody>
          <a:bodyPr wrap="square" rtlCol="0">
            <a:spAutoFit/>
          </a:bodyPr>
          <a:lstStyle/>
          <a:p>
            <a:pPr algn="ctr" defTabSz="1219170">
              <a:buClr>
                <a:srgbClr val="000000"/>
              </a:buClr>
            </a:pPr>
            <a:r>
              <a:rPr lang="en-IN" sz="2667" b="1" kern="0" dirty="0">
                <a:solidFill>
                  <a:srgbClr val="00CC99"/>
                </a:solidFill>
                <a:latin typeface="Arial"/>
                <a:cs typeface="Arial"/>
                <a:sym typeface="Arial"/>
              </a:rPr>
              <a:t>Project Title:</a:t>
            </a: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r>
              <a:rPr lang="en-IN" sz="2667" kern="0" dirty="0">
                <a:solidFill>
                  <a:srgbClr val="00CC99"/>
                </a:solidFill>
                <a:latin typeface="Arial"/>
                <a:cs typeface="Arial"/>
                <a:sym typeface="Arial"/>
              </a:rPr>
              <a:t>Retail Analytics Project</a:t>
            </a:r>
          </a:p>
          <a:p>
            <a:pPr algn="ctr" defTabSz="1219170">
              <a:buClr>
                <a:srgbClr val="000000"/>
              </a:buClr>
            </a:pPr>
            <a:endParaRPr lang="en-IN" sz="2667" kern="0" dirty="0">
              <a:solidFill>
                <a:srgbClr val="00CC99"/>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r>
              <a:rPr lang="en-IN" sz="2667" b="1" kern="0" dirty="0">
                <a:solidFill>
                  <a:srgbClr val="00CC99"/>
                </a:solidFill>
                <a:latin typeface="Arial"/>
                <a:cs typeface="Arial"/>
                <a:sym typeface="Arial"/>
              </a:rPr>
              <a:t>Name: Adarsh Gupta</a:t>
            </a: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p:txBody>
      </p:sp>
    </p:spTree>
    <p:extLst>
      <p:ext uri="{BB962C8B-B14F-4D97-AF65-F5344CB8AC3E}">
        <p14:creationId xmlns:p14="http://schemas.microsoft.com/office/powerpoint/2010/main" val="3071345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E52DF-0A9E-B3BB-50B1-7957E35CAE66}"/>
              </a:ext>
            </a:extLst>
          </p:cNvPr>
          <p:cNvSpPr>
            <a:spLocks noGrp="1"/>
          </p:cNvSpPr>
          <p:nvPr>
            <p:ph type="title"/>
          </p:nvPr>
        </p:nvSpPr>
        <p:spPr>
          <a:xfrm>
            <a:off x="381800" y="373304"/>
            <a:ext cx="11428400" cy="863828"/>
          </a:xfrm>
        </p:spPr>
        <p:txBody>
          <a:bodyPr>
            <a:normAutofit/>
          </a:bodyPr>
          <a:lstStyle/>
          <a:p>
            <a:pPr algn="l"/>
            <a:r>
              <a:rPr lang="en-US" sz="2800" dirty="0">
                <a:solidFill>
                  <a:srgbClr val="00CC99"/>
                </a:solidFill>
              </a:rPr>
              <a:t>Business Context and Objective</a:t>
            </a:r>
            <a:endParaRPr lang="en-IN" sz="2800" dirty="0">
              <a:solidFill>
                <a:srgbClr val="00CC99"/>
              </a:solidFill>
            </a:endParaRPr>
          </a:p>
        </p:txBody>
      </p:sp>
      <p:sp>
        <p:nvSpPr>
          <p:cNvPr id="4" name="TextBox 3">
            <a:extLst>
              <a:ext uri="{FF2B5EF4-FFF2-40B4-BE49-F238E27FC236}">
                <a16:creationId xmlns:a16="http://schemas.microsoft.com/office/drawing/2014/main" id="{EC92E7BD-624D-1680-DFD5-68F09C9535D7}"/>
              </a:ext>
            </a:extLst>
          </p:cNvPr>
          <p:cNvSpPr txBox="1"/>
          <p:nvPr/>
        </p:nvSpPr>
        <p:spPr>
          <a:xfrm>
            <a:off x="381800" y="1625656"/>
            <a:ext cx="10334847" cy="3416320"/>
          </a:xfrm>
          <a:prstGeom prst="rect">
            <a:avLst/>
          </a:prstGeom>
          <a:noFill/>
        </p:spPr>
        <p:txBody>
          <a:bodyPr wrap="square" rtlCol="0">
            <a:spAutoFit/>
          </a:bodyPr>
          <a:lstStyle/>
          <a:p>
            <a:pPr marL="285750" indent="-285750">
              <a:buFont typeface="Arial" panose="020B0604020202020204" pitchFamily="34" charset="0"/>
              <a:buChar char="•"/>
            </a:pPr>
            <a:r>
              <a:rPr lang="en-US" b="1" dirty="0"/>
              <a:t>Business Context</a:t>
            </a:r>
          </a:p>
          <a:p>
            <a:r>
              <a:rPr lang="en-IN" dirty="0"/>
              <a:t>      </a:t>
            </a:r>
          </a:p>
          <a:p>
            <a:r>
              <a:rPr lang="en-IN" dirty="0"/>
              <a:t>The client is a leading  firm in the Indian Retail market. It has partnered with </a:t>
            </a:r>
            <a:r>
              <a:rPr lang="en-IN" dirty="0" err="1"/>
              <a:t>AnalytixLabs</a:t>
            </a:r>
            <a:r>
              <a:rPr lang="en-IN" dirty="0"/>
              <a:t> so as to derive data driven insights from Point-of-sale data provided. The insights are required to shape their Customer Relationship Management, Marketing campaigns and Sales Strategy.</a:t>
            </a:r>
          </a:p>
          <a:p>
            <a:endParaRPr lang="en-IN" dirty="0"/>
          </a:p>
          <a:p>
            <a:pPr marL="285750" indent="-285750">
              <a:buFont typeface="Arial" panose="020B0604020202020204" pitchFamily="34" charset="0"/>
              <a:buChar char="•"/>
            </a:pPr>
            <a:r>
              <a:rPr lang="en-IN" b="1" dirty="0"/>
              <a:t>Business Objective</a:t>
            </a:r>
          </a:p>
          <a:p>
            <a:endParaRPr lang="en-IN" b="1" dirty="0"/>
          </a:p>
          <a:p>
            <a:r>
              <a:rPr lang="en-IN" dirty="0"/>
              <a:t>The objective is to generate insights that can be leveraged to drive sales growth and customer management . The analysis aims to </a:t>
            </a:r>
            <a:r>
              <a:rPr lang="en-IN" dirty="0" err="1"/>
              <a:t>undertand</a:t>
            </a:r>
            <a:r>
              <a:rPr lang="en-IN" dirty="0"/>
              <a:t> customer, product, channel, store performance across the business. Ultimately this will help the client enhance profitability, customer retention and decision-making efficiency.</a:t>
            </a:r>
          </a:p>
        </p:txBody>
      </p:sp>
    </p:spTree>
    <p:extLst>
      <p:ext uri="{BB962C8B-B14F-4D97-AF65-F5344CB8AC3E}">
        <p14:creationId xmlns:p14="http://schemas.microsoft.com/office/powerpoint/2010/main" val="2503818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452" y="409585"/>
            <a:ext cx="11185238" cy="1256000"/>
          </a:xfrm>
        </p:spPr>
        <p:txBody>
          <a:bodyPr>
            <a:normAutofit/>
          </a:bodyPr>
          <a:lstStyle/>
          <a:p>
            <a:pPr algn="l"/>
            <a:r>
              <a:rPr lang="en-US" sz="2800" dirty="0">
                <a:solidFill>
                  <a:srgbClr val="00CC99"/>
                </a:solidFill>
              </a:rPr>
              <a:t>Task </a:t>
            </a:r>
            <a:r>
              <a:rPr sz="2800" dirty="0">
                <a:solidFill>
                  <a:srgbClr val="00CC99"/>
                </a:solidFill>
              </a:rPr>
              <a:t>Overview</a:t>
            </a:r>
          </a:p>
        </p:txBody>
      </p:sp>
      <p:sp>
        <p:nvSpPr>
          <p:cNvPr id="3" name="TextBox 2"/>
          <p:cNvSpPr txBox="1"/>
          <p:nvPr/>
        </p:nvSpPr>
        <p:spPr>
          <a:xfrm>
            <a:off x="442452" y="1822901"/>
            <a:ext cx="10336710" cy="2862322"/>
          </a:xfrm>
          <a:prstGeom prst="rect">
            <a:avLst/>
          </a:prstGeom>
          <a:noFill/>
        </p:spPr>
        <p:txBody>
          <a:bodyPr wrap="square">
            <a:spAutoFit/>
          </a:bodyPr>
          <a:lstStyle/>
          <a:p>
            <a:pPr marL="342900" indent="-342900">
              <a:buFont typeface="Arial" panose="020B0604020202020204" pitchFamily="34" charset="0"/>
              <a:buChar char="•"/>
              <a:defRPr sz="1400"/>
            </a:pPr>
            <a:r>
              <a:rPr lang="en-US" sz="2000" dirty="0"/>
              <a:t>Import the complete dataset into SQL Server for end-to-end analysis.</a:t>
            </a:r>
          </a:p>
          <a:p>
            <a:pPr marL="342900" indent="-342900">
              <a:buFont typeface="Arial" panose="020B0604020202020204" pitchFamily="34" charset="0"/>
              <a:buChar char="•"/>
              <a:defRPr sz="1400"/>
            </a:pPr>
            <a:r>
              <a:rPr lang="en-US" sz="2000" dirty="0"/>
              <a:t>Conduct a comprehensive data audit and data cleansing in SQL to identify and resolve data related issues.</a:t>
            </a:r>
          </a:p>
          <a:p>
            <a:pPr marL="342900" indent="-342900">
              <a:buFont typeface="Arial" panose="020B0604020202020204" pitchFamily="34" charset="0"/>
              <a:buChar char="•"/>
              <a:defRPr sz="1400"/>
            </a:pPr>
            <a:r>
              <a:rPr lang="en-US" sz="2000" dirty="0"/>
              <a:t>Create three master tables at Customer level, Orders level and Store level each with one row per entity.</a:t>
            </a:r>
          </a:p>
          <a:p>
            <a:pPr marL="342900" indent="-342900">
              <a:buFont typeface="Arial" panose="020B0604020202020204" pitchFamily="34" charset="0"/>
              <a:buChar char="•"/>
              <a:defRPr sz="1400"/>
            </a:pPr>
            <a:r>
              <a:rPr lang="en-US" sz="2000" dirty="0"/>
              <a:t>Perform exploratory and diagnostic business analysis to discover key patterns and performance drivers.</a:t>
            </a:r>
          </a:p>
          <a:p>
            <a:pPr marL="342900" indent="-342900">
              <a:buFont typeface="Arial" panose="020B0604020202020204" pitchFamily="34" charset="0"/>
              <a:buChar char="•"/>
              <a:defRPr sz="1400"/>
            </a:pPr>
            <a:r>
              <a:rPr lang="en-US" sz="2000" dirty="0"/>
              <a:t>Design and publish interactive Power BI dashboards for customers, products, orders and stores.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9096" y="399753"/>
            <a:ext cx="11303225" cy="288506"/>
          </a:xfrm>
        </p:spPr>
        <p:txBody>
          <a:bodyPr>
            <a:normAutofit fontScale="90000"/>
          </a:bodyPr>
          <a:lstStyle/>
          <a:p>
            <a:pPr algn="l"/>
            <a:r>
              <a:rPr sz="2800" dirty="0">
                <a:solidFill>
                  <a:srgbClr val="00CC99"/>
                </a:solidFill>
              </a:rPr>
              <a:t>Data Summar</a:t>
            </a:r>
            <a:r>
              <a:rPr lang="en-US" sz="2800" dirty="0">
                <a:solidFill>
                  <a:srgbClr val="00CC99"/>
                </a:solidFill>
              </a:rPr>
              <a:t>y</a:t>
            </a:r>
            <a:endParaRPr sz="2800" dirty="0">
              <a:solidFill>
                <a:srgbClr val="00CC99"/>
              </a:solidFill>
            </a:endParaRPr>
          </a:p>
        </p:txBody>
      </p:sp>
      <p:graphicFrame>
        <p:nvGraphicFramePr>
          <p:cNvPr id="5" name="Table 4">
            <a:extLst>
              <a:ext uri="{FF2B5EF4-FFF2-40B4-BE49-F238E27FC236}">
                <a16:creationId xmlns:a16="http://schemas.microsoft.com/office/drawing/2014/main" id="{83D6F957-807B-0488-2494-0255FC3C93E4}"/>
              </a:ext>
            </a:extLst>
          </p:cNvPr>
          <p:cNvGraphicFramePr>
            <a:graphicFrameLocks noGrp="1"/>
          </p:cNvGraphicFramePr>
          <p:nvPr>
            <p:extLst>
              <p:ext uri="{D42A27DB-BD31-4B8C-83A1-F6EECF244321}">
                <p14:modId xmlns:p14="http://schemas.microsoft.com/office/powerpoint/2010/main" val="2145350982"/>
              </p:ext>
            </p:extLst>
          </p:nvPr>
        </p:nvGraphicFramePr>
        <p:xfrm>
          <a:off x="0" y="68826"/>
          <a:ext cx="12191998" cy="6253315"/>
        </p:xfrm>
        <a:graphic>
          <a:graphicData uri="http://schemas.openxmlformats.org/drawingml/2006/table">
            <a:tbl>
              <a:tblPr firstRow="1" bandRow="1">
                <a:tableStyleId>{5C22544A-7EE6-4342-B048-85BDC9FD1C3A}</a:tableStyleId>
              </a:tblPr>
              <a:tblGrid>
                <a:gridCol w="2429774">
                  <a:extLst>
                    <a:ext uri="{9D8B030D-6E8A-4147-A177-3AD203B41FA5}">
                      <a16:colId xmlns:a16="http://schemas.microsoft.com/office/drawing/2014/main" val="2497113152"/>
                    </a:ext>
                  </a:extLst>
                </a:gridCol>
                <a:gridCol w="2440556">
                  <a:extLst>
                    <a:ext uri="{9D8B030D-6E8A-4147-A177-3AD203B41FA5}">
                      <a16:colId xmlns:a16="http://schemas.microsoft.com/office/drawing/2014/main" val="3763388068"/>
                    </a:ext>
                  </a:extLst>
                </a:gridCol>
                <a:gridCol w="2440556">
                  <a:extLst>
                    <a:ext uri="{9D8B030D-6E8A-4147-A177-3AD203B41FA5}">
                      <a16:colId xmlns:a16="http://schemas.microsoft.com/office/drawing/2014/main" val="2242501564"/>
                    </a:ext>
                  </a:extLst>
                </a:gridCol>
                <a:gridCol w="2440556">
                  <a:extLst>
                    <a:ext uri="{9D8B030D-6E8A-4147-A177-3AD203B41FA5}">
                      <a16:colId xmlns:a16="http://schemas.microsoft.com/office/drawing/2014/main" val="2573315591"/>
                    </a:ext>
                  </a:extLst>
                </a:gridCol>
                <a:gridCol w="2440556">
                  <a:extLst>
                    <a:ext uri="{9D8B030D-6E8A-4147-A177-3AD203B41FA5}">
                      <a16:colId xmlns:a16="http://schemas.microsoft.com/office/drawing/2014/main" val="3954284240"/>
                    </a:ext>
                  </a:extLst>
                </a:gridCol>
              </a:tblGrid>
              <a:tr h="1085963">
                <a:tc>
                  <a:txBody>
                    <a:bodyPr/>
                    <a:lstStyle/>
                    <a:p>
                      <a:pPr algn="ctr"/>
                      <a:r>
                        <a:rPr lang="en-US" dirty="0">
                          <a:solidFill>
                            <a:schemeClr val="tx1"/>
                          </a:solidFill>
                        </a:rPr>
                        <a:t>Table Name</a:t>
                      </a:r>
                      <a:endParaRPr lang="en-IN" dirty="0">
                        <a:solidFill>
                          <a:schemeClr val="tx1"/>
                        </a:solidFill>
                      </a:endParaRPr>
                    </a:p>
                  </a:txBody>
                  <a:tcPr/>
                </a:tc>
                <a:tc>
                  <a:txBody>
                    <a:bodyPr/>
                    <a:lstStyle/>
                    <a:p>
                      <a:pPr algn="ctr"/>
                      <a:r>
                        <a:rPr lang="en-US" dirty="0">
                          <a:solidFill>
                            <a:schemeClr val="tx1"/>
                          </a:solidFill>
                        </a:rPr>
                        <a:t>Primary Key and Foreign Key</a:t>
                      </a:r>
                      <a:endParaRPr lang="en-IN" dirty="0">
                        <a:solidFill>
                          <a:schemeClr val="tx1"/>
                        </a:solidFill>
                      </a:endParaRPr>
                    </a:p>
                  </a:txBody>
                  <a:tcPr/>
                </a:tc>
                <a:tc>
                  <a:txBody>
                    <a:bodyPr/>
                    <a:lstStyle/>
                    <a:p>
                      <a:pPr algn="ctr"/>
                      <a:r>
                        <a:rPr lang="en-US" dirty="0">
                          <a:solidFill>
                            <a:schemeClr val="tx1"/>
                          </a:solidFill>
                        </a:rPr>
                        <a:t> Columns</a:t>
                      </a:r>
                      <a:endParaRPr lang="en-IN" dirty="0">
                        <a:solidFill>
                          <a:schemeClr val="tx1"/>
                        </a:solidFill>
                      </a:endParaRPr>
                    </a:p>
                  </a:txBody>
                  <a:tcPr/>
                </a:tc>
                <a:tc>
                  <a:txBody>
                    <a:bodyPr/>
                    <a:lstStyle/>
                    <a:p>
                      <a:pPr algn="ctr"/>
                      <a:r>
                        <a:rPr lang="en-US" dirty="0">
                          <a:solidFill>
                            <a:schemeClr val="tx1"/>
                          </a:solidFill>
                        </a:rPr>
                        <a:t>Relationship</a:t>
                      </a:r>
                      <a:endParaRPr lang="en-IN" dirty="0">
                        <a:solidFill>
                          <a:schemeClr val="tx1"/>
                        </a:solidFill>
                      </a:endParaRPr>
                    </a:p>
                  </a:txBody>
                  <a:tcPr/>
                </a:tc>
                <a:tc>
                  <a:txBody>
                    <a:bodyPr/>
                    <a:lstStyle/>
                    <a:p>
                      <a:pPr algn="ctr"/>
                      <a:r>
                        <a:rPr lang="en-US" dirty="0">
                          <a:solidFill>
                            <a:schemeClr val="tx1"/>
                          </a:solidFill>
                        </a:rPr>
                        <a:t>Table Description</a:t>
                      </a:r>
                      <a:endParaRPr lang="en-IN" dirty="0">
                        <a:solidFill>
                          <a:schemeClr val="tx1"/>
                        </a:solidFill>
                      </a:endParaRPr>
                    </a:p>
                  </a:txBody>
                  <a:tcPr/>
                </a:tc>
                <a:extLst>
                  <a:ext uri="{0D108BD9-81ED-4DB2-BD59-A6C34878D82A}">
                    <a16:rowId xmlns:a16="http://schemas.microsoft.com/office/drawing/2014/main" val="2078656360"/>
                  </a:ext>
                </a:extLst>
              </a:tr>
              <a:tr h="750520">
                <a:tc>
                  <a:txBody>
                    <a:bodyPr/>
                    <a:lstStyle/>
                    <a:p>
                      <a:pPr algn="ctr"/>
                      <a:r>
                        <a:rPr lang="en-US" sz="1200" dirty="0"/>
                        <a:t>Customers</a:t>
                      </a:r>
                      <a:endParaRPr lang="en-IN" sz="1200" dirty="0"/>
                    </a:p>
                  </a:txBody>
                  <a:tcPr/>
                </a:tc>
                <a:tc>
                  <a:txBody>
                    <a:bodyPr/>
                    <a:lstStyle/>
                    <a:p>
                      <a:pPr algn="ctr"/>
                      <a:r>
                        <a:rPr lang="en-US" sz="1200" dirty="0"/>
                        <a:t>PK: CustId</a:t>
                      </a:r>
                      <a:endParaRPr lang="en-IN" sz="1200" dirty="0"/>
                    </a:p>
                  </a:txBody>
                  <a:tcPr/>
                </a:tc>
                <a:tc>
                  <a:txBody>
                    <a:bodyPr/>
                    <a:lstStyle/>
                    <a:p>
                      <a:pPr algn="ctr"/>
                      <a:r>
                        <a:rPr lang="en-US" sz="1200" dirty="0" err="1"/>
                        <a:t>Customer_City</a:t>
                      </a:r>
                      <a:r>
                        <a:rPr lang="en-US" sz="1200" dirty="0"/>
                        <a:t>, </a:t>
                      </a:r>
                      <a:r>
                        <a:rPr lang="en-US" sz="1200" dirty="0" err="1"/>
                        <a:t>Customer_State</a:t>
                      </a:r>
                      <a:r>
                        <a:rPr lang="en-US" sz="1200" dirty="0"/>
                        <a:t>, Gender</a:t>
                      </a:r>
                      <a:endParaRPr lang="en-IN" sz="1200" dirty="0"/>
                    </a:p>
                  </a:txBody>
                  <a:tcPr/>
                </a:tc>
                <a:tc>
                  <a:txBody>
                    <a:bodyPr/>
                    <a:lstStyle/>
                    <a:p>
                      <a:pPr algn="ctr"/>
                      <a:r>
                        <a:rPr lang="en-US" sz="1200" dirty="0"/>
                        <a:t>One to many with Orders table on CustID</a:t>
                      </a:r>
                      <a:endParaRPr lang="en-IN" sz="1200" dirty="0"/>
                    </a:p>
                  </a:txBody>
                  <a:tcPr/>
                </a:tc>
                <a:tc>
                  <a:txBody>
                    <a:bodyPr/>
                    <a:lstStyle/>
                    <a:p>
                      <a:pPr algn="ctr"/>
                      <a:r>
                        <a:rPr lang="en-US" sz="1200" dirty="0"/>
                        <a:t>Master data on Customer details like Gender, Location </a:t>
                      </a:r>
                      <a:endParaRPr lang="en-IN" sz="1200" dirty="0"/>
                    </a:p>
                  </a:txBody>
                  <a:tcPr/>
                </a:tc>
                <a:extLst>
                  <a:ext uri="{0D108BD9-81ED-4DB2-BD59-A6C34878D82A}">
                    <a16:rowId xmlns:a16="http://schemas.microsoft.com/office/drawing/2014/main" val="3731055458"/>
                  </a:ext>
                </a:extLst>
              </a:tr>
              <a:tr h="1391152">
                <a:tc>
                  <a:txBody>
                    <a:bodyPr/>
                    <a:lstStyle/>
                    <a:p>
                      <a:pPr algn="ctr"/>
                      <a:r>
                        <a:rPr lang="en-US" sz="1200" dirty="0"/>
                        <a:t>Orders</a:t>
                      </a:r>
                      <a:endParaRPr lang="en-IN" sz="1200" dirty="0"/>
                    </a:p>
                  </a:txBody>
                  <a:tcPr/>
                </a:tc>
                <a:tc>
                  <a:txBody>
                    <a:bodyPr/>
                    <a:lstStyle/>
                    <a:p>
                      <a:pPr algn="l"/>
                      <a:r>
                        <a:rPr lang="en-US" sz="1200" dirty="0"/>
                        <a:t>PK: </a:t>
                      </a:r>
                      <a:r>
                        <a:rPr lang="en-US" sz="1200" dirty="0" err="1"/>
                        <a:t>OrderId</a:t>
                      </a:r>
                      <a:r>
                        <a:rPr lang="en-US" sz="1200" dirty="0"/>
                        <a:t>, </a:t>
                      </a:r>
                      <a:r>
                        <a:rPr lang="en-US" sz="1200" dirty="0" err="1"/>
                        <a:t>ProductId</a:t>
                      </a:r>
                      <a:r>
                        <a:rPr lang="en-US" sz="1200" dirty="0"/>
                        <a:t>, Quantity</a:t>
                      </a:r>
                    </a:p>
                    <a:p>
                      <a:pPr algn="l"/>
                      <a:r>
                        <a:rPr lang="en-US" sz="1200" dirty="0"/>
                        <a:t>FK: </a:t>
                      </a:r>
                      <a:r>
                        <a:rPr lang="en-US" sz="1200" dirty="0" err="1"/>
                        <a:t>StoreId</a:t>
                      </a:r>
                      <a:r>
                        <a:rPr lang="en-US" sz="1200" dirty="0"/>
                        <a:t>, </a:t>
                      </a:r>
                      <a:r>
                        <a:rPr lang="en-US" sz="1200" dirty="0" err="1"/>
                        <a:t>CustomerId</a:t>
                      </a:r>
                      <a:r>
                        <a:rPr lang="en-US" sz="1200" dirty="0"/>
                        <a:t>, </a:t>
                      </a:r>
                      <a:r>
                        <a:rPr lang="en-US" sz="1200" dirty="0" err="1"/>
                        <a:t>OrderId</a:t>
                      </a:r>
                      <a:r>
                        <a:rPr lang="en-US" sz="1200" dirty="0"/>
                        <a:t>, </a:t>
                      </a:r>
                      <a:r>
                        <a:rPr lang="en-US" sz="1200" dirty="0" err="1"/>
                        <a:t>ProductId</a:t>
                      </a:r>
                      <a:endParaRPr lang="en-US" sz="1200" dirty="0"/>
                    </a:p>
                    <a:p>
                      <a:pPr algn="ctr"/>
                      <a:endParaRPr lang="en-IN" sz="1200" dirty="0"/>
                    </a:p>
                  </a:txBody>
                  <a:tcPr/>
                </a:tc>
                <a:tc>
                  <a:txBody>
                    <a:bodyPr/>
                    <a:lstStyle/>
                    <a:p>
                      <a:pPr algn="ctr"/>
                      <a:r>
                        <a:rPr lang="en-US" sz="1200" dirty="0" err="1"/>
                        <a:t>Channel,Bill_date_timestamp,Quantity</a:t>
                      </a:r>
                      <a:r>
                        <a:rPr lang="en-US" sz="1200" dirty="0"/>
                        <a:t>, Cost per Unit, MRP, Discount, </a:t>
                      </a:r>
                      <a:r>
                        <a:rPr lang="en-US" sz="1200" dirty="0" err="1"/>
                        <a:t>TotalAmount</a:t>
                      </a:r>
                      <a:endParaRPr lang="en-IN" sz="1200" dirty="0"/>
                    </a:p>
                  </a:txBody>
                  <a:tcPr/>
                </a:tc>
                <a:tc>
                  <a:txBody>
                    <a:bodyPr/>
                    <a:lstStyle/>
                    <a:p>
                      <a:pPr algn="l"/>
                      <a:r>
                        <a:rPr lang="en-US" sz="1200" dirty="0"/>
                        <a:t>One to one with </a:t>
                      </a:r>
                      <a:r>
                        <a:rPr lang="en-US" sz="1200" dirty="0" err="1"/>
                        <a:t>OrderPayments</a:t>
                      </a:r>
                      <a:r>
                        <a:rPr lang="en-US" sz="1200" dirty="0"/>
                        <a:t>, Order Review on </a:t>
                      </a:r>
                      <a:r>
                        <a:rPr lang="en-US" sz="1200" dirty="0" err="1"/>
                        <a:t>OrderId</a:t>
                      </a:r>
                      <a:r>
                        <a:rPr lang="en-US" sz="1200" dirty="0"/>
                        <a:t>. Many to one with Customers, Product and Store Info table.</a:t>
                      </a:r>
                      <a:endParaRPr lang="en-IN" sz="1200" dirty="0"/>
                    </a:p>
                  </a:txBody>
                  <a:tcPr/>
                </a:tc>
                <a:tc>
                  <a:txBody>
                    <a:bodyPr/>
                    <a:lstStyle/>
                    <a:p>
                      <a:pPr algn="ctr"/>
                      <a:r>
                        <a:rPr lang="en-US" sz="1200" dirty="0"/>
                        <a:t>It is the fact table on which analysis shall be performed. It contains Customer order details at the Item level.</a:t>
                      </a:r>
                      <a:endParaRPr lang="en-IN" sz="1200" dirty="0"/>
                    </a:p>
                  </a:txBody>
                  <a:tcPr/>
                </a:tc>
                <a:extLst>
                  <a:ext uri="{0D108BD9-81ED-4DB2-BD59-A6C34878D82A}">
                    <a16:rowId xmlns:a16="http://schemas.microsoft.com/office/drawing/2014/main" val="749089622"/>
                  </a:ext>
                </a:extLst>
              </a:tr>
              <a:tr h="762320">
                <a:tc>
                  <a:txBody>
                    <a:bodyPr/>
                    <a:lstStyle/>
                    <a:p>
                      <a:pPr algn="ctr"/>
                      <a:r>
                        <a:rPr lang="en-US" sz="1200" dirty="0"/>
                        <a:t>Order Payments</a:t>
                      </a:r>
                      <a:endParaRPr lang="en-IN" sz="1200" dirty="0"/>
                    </a:p>
                  </a:txBody>
                  <a:tcPr/>
                </a:tc>
                <a:tc>
                  <a:txBody>
                    <a:bodyPr/>
                    <a:lstStyle/>
                    <a:p>
                      <a:pPr algn="ctr"/>
                      <a:r>
                        <a:rPr lang="en-US" sz="1200" dirty="0"/>
                        <a:t>Pk: </a:t>
                      </a:r>
                      <a:r>
                        <a:rPr lang="en-US" sz="1200" dirty="0" err="1"/>
                        <a:t>OrderId</a:t>
                      </a:r>
                      <a:endParaRPr lang="en-IN" sz="1200" dirty="0"/>
                    </a:p>
                  </a:txBody>
                  <a:tcPr/>
                </a:tc>
                <a:tc>
                  <a:txBody>
                    <a:bodyPr/>
                    <a:lstStyle/>
                    <a:p>
                      <a:pPr algn="ctr"/>
                      <a:r>
                        <a:rPr lang="en-US" sz="1200" dirty="0"/>
                        <a:t>Payment Type and Payment Value</a:t>
                      </a:r>
                      <a:endParaRPr lang="en-IN" sz="1200" dirty="0"/>
                    </a:p>
                  </a:txBody>
                  <a:tcPr/>
                </a:tc>
                <a:tc>
                  <a:txBody>
                    <a:bodyPr/>
                    <a:lstStyle/>
                    <a:p>
                      <a:pPr algn="ctr"/>
                      <a:r>
                        <a:rPr lang="en-US" sz="1200" dirty="0"/>
                        <a:t>One to one relation with Orders table on </a:t>
                      </a:r>
                      <a:r>
                        <a:rPr lang="en-US" sz="1200" dirty="0" err="1"/>
                        <a:t>OrderId</a:t>
                      </a:r>
                      <a:endParaRPr lang="en-IN" sz="1200" dirty="0"/>
                    </a:p>
                  </a:txBody>
                  <a:tcPr/>
                </a:tc>
                <a:tc>
                  <a:txBody>
                    <a:bodyPr/>
                    <a:lstStyle/>
                    <a:p>
                      <a:pPr algn="ctr"/>
                      <a:r>
                        <a:rPr lang="en-US" sz="1200" dirty="0"/>
                        <a:t>Master data for transactions details at every transaction level with Payment type and value.</a:t>
                      </a:r>
                    </a:p>
                  </a:txBody>
                  <a:tcPr/>
                </a:tc>
                <a:extLst>
                  <a:ext uri="{0D108BD9-81ED-4DB2-BD59-A6C34878D82A}">
                    <a16:rowId xmlns:a16="http://schemas.microsoft.com/office/drawing/2014/main" val="867781072"/>
                  </a:ext>
                </a:extLst>
              </a:tr>
              <a:tr h="750520">
                <a:tc>
                  <a:txBody>
                    <a:bodyPr/>
                    <a:lstStyle/>
                    <a:p>
                      <a:pPr algn="ctr"/>
                      <a:r>
                        <a:rPr lang="en-US" sz="1200" dirty="0"/>
                        <a:t>Order Review Rating</a:t>
                      </a:r>
                      <a:endParaRPr lang="en-IN" sz="1200" dirty="0"/>
                    </a:p>
                  </a:txBody>
                  <a:tcPr/>
                </a:tc>
                <a:tc>
                  <a:txBody>
                    <a:bodyPr/>
                    <a:lstStyle/>
                    <a:p>
                      <a:pPr algn="ctr"/>
                      <a:r>
                        <a:rPr lang="en-US" sz="1200" dirty="0"/>
                        <a:t>PK: </a:t>
                      </a:r>
                      <a:r>
                        <a:rPr lang="en-US" sz="1200" dirty="0" err="1"/>
                        <a:t>OrderId</a:t>
                      </a:r>
                      <a:endParaRPr lang="en-IN" sz="1200" dirty="0"/>
                    </a:p>
                  </a:txBody>
                  <a:tcPr/>
                </a:tc>
                <a:tc>
                  <a:txBody>
                    <a:bodyPr/>
                    <a:lstStyle/>
                    <a:p>
                      <a:pPr algn="ctr"/>
                      <a:r>
                        <a:rPr lang="en-US" sz="1200" dirty="0"/>
                        <a:t>Customer Satisfaction Score</a:t>
                      </a:r>
                      <a:endParaRPr lang="en-IN" sz="1200" dirty="0"/>
                    </a:p>
                  </a:txBody>
                  <a:tcPr/>
                </a:tc>
                <a:tc>
                  <a:txBody>
                    <a:bodyPr/>
                    <a:lstStyle/>
                    <a:p>
                      <a:pPr algn="ctr"/>
                      <a:r>
                        <a:rPr lang="en-US" sz="1200" dirty="0"/>
                        <a:t>One to one relationship with Order Table on </a:t>
                      </a:r>
                      <a:r>
                        <a:rPr lang="en-US" sz="1200" dirty="0" err="1"/>
                        <a:t>OrderId</a:t>
                      </a:r>
                      <a:endParaRPr lang="en-IN" sz="1200" dirty="0"/>
                    </a:p>
                  </a:txBody>
                  <a:tcPr/>
                </a:tc>
                <a:tc>
                  <a:txBody>
                    <a:bodyPr/>
                    <a:lstStyle/>
                    <a:p>
                      <a:pPr algn="ctr"/>
                      <a:r>
                        <a:rPr lang="en-US" sz="1200" dirty="0"/>
                        <a:t>Master data on Customer rating for each order placed.</a:t>
                      </a:r>
                      <a:endParaRPr lang="en-IN" sz="1200" dirty="0"/>
                    </a:p>
                  </a:txBody>
                  <a:tcPr/>
                </a:tc>
                <a:extLst>
                  <a:ext uri="{0D108BD9-81ED-4DB2-BD59-A6C34878D82A}">
                    <a16:rowId xmlns:a16="http://schemas.microsoft.com/office/drawing/2014/main" val="1745751188"/>
                  </a:ext>
                </a:extLst>
              </a:tr>
              <a:tr h="762320">
                <a:tc>
                  <a:txBody>
                    <a:bodyPr/>
                    <a:lstStyle/>
                    <a:p>
                      <a:pPr algn="ctr"/>
                      <a:r>
                        <a:rPr lang="en-US" sz="1200" dirty="0"/>
                        <a:t>Products Info</a:t>
                      </a:r>
                      <a:endParaRPr lang="en-IN" sz="1200" dirty="0"/>
                    </a:p>
                  </a:txBody>
                  <a:tcPr/>
                </a:tc>
                <a:tc>
                  <a:txBody>
                    <a:bodyPr/>
                    <a:lstStyle/>
                    <a:p>
                      <a:pPr algn="ctr"/>
                      <a:r>
                        <a:rPr lang="en-US" sz="1200" dirty="0"/>
                        <a:t>PK: </a:t>
                      </a:r>
                      <a:r>
                        <a:rPr lang="en-US" sz="1200" dirty="0" err="1"/>
                        <a:t>ProductId</a:t>
                      </a:r>
                      <a:endParaRPr lang="en-IN" sz="1200" dirty="0"/>
                    </a:p>
                  </a:txBody>
                  <a:tcPr/>
                </a:tc>
                <a:tc>
                  <a:txBody>
                    <a:bodyPr/>
                    <a:lstStyle/>
                    <a:p>
                      <a:pPr algn="ctr"/>
                      <a:r>
                        <a:rPr lang="en-US" sz="1200" dirty="0"/>
                        <a:t>Category, Product name length, description length, photos quantity, weight, dimensions. </a:t>
                      </a:r>
                      <a:endParaRPr lang="en-IN" sz="1200" dirty="0"/>
                    </a:p>
                  </a:txBody>
                  <a:tcPr/>
                </a:tc>
                <a:tc>
                  <a:txBody>
                    <a:bodyPr/>
                    <a:lstStyle/>
                    <a:p>
                      <a:pPr algn="ctr"/>
                      <a:r>
                        <a:rPr lang="en-US" sz="1200" dirty="0"/>
                        <a:t>One to many relationship with Orders table on </a:t>
                      </a:r>
                      <a:r>
                        <a:rPr lang="en-US" sz="1200" dirty="0" err="1"/>
                        <a:t>ProductId</a:t>
                      </a:r>
                      <a:endParaRPr lang="en-IN" sz="1200" dirty="0"/>
                    </a:p>
                  </a:txBody>
                  <a:tcPr/>
                </a:tc>
                <a:tc>
                  <a:txBody>
                    <a:bodyPr/>
                    <a:lstStyle/>
                    <a:p>
                      <a:pPr algn="ctr"/>
                      <a:r>
                        <a:rPr lang="en-US" sz="1200" dirty="0"/>
                        <a:t>Detailed information about all products available in company catalogue.</a:t>
                      </a:r>
                      <a:endParaRPr lang="en-IN" sz="1200" dirty="0"/>
                    </a:p>
                  </a:txBody>
                  <a:tcPr/>
                </a:tc>
                <a:extLst>
                  <a:ext uri="{0D108BD9-81ED-4DB2-BD59-A6C34878D82A}">
                    <a16:rowId xmlns:a16="http://schemas.microsoft.com/office/drawing/2014/main" val="267031140"/>
                  </a:ext>
                </a:extLst>
              </a:tr>
              <a:tr h="750520">
                <a:tc>
                  <a:txBody>
                    <a:bodyPr/>
                    <a:lstStyle/>
                    <a:p>
                      <a:pPr algn="ctr"/>
                      <a:r>
                        <a:rPr lang="en-US" sz="1200" dirty="0"/>
                        <a:t>Store Info</a:t>
                      </a:r>
                      <a:endParaRPr lang="en-IN" sz="1200" dirty="0"/>
                    </a:p>
                  </a:txBody>
                  <a:tcPr/>
                </a:tc>
                <a:tc>
                  <a:txBody>
                    <a:bodyPr/>
                    <a:lstStyle/>
                    <a:p>
                      <a:pPr algn="ctr"/>
                      <a:r>
                        <a:rPr lang="en-US" sz="1200" dirty="0"/>
                        <a:t>PK: </a:t>
                      </a:r>
                      <a:r>
                        <a:rPr lang="en-US" sz="1200" dirty="0" err="1"/>
                        <a:t>StoreId</a:t>
                      </a:r>
                      <a:endParaRPr lang="en-IN" sz="1200" dirty="0"/>
                    </a:p>
                  </a:txBody>
                  <a:tcPr/>
                </a:tc>
                <a:tc>
                  <a:txBody>
                    <a:bodyPr/>
                    <a:lstStyle/>
                    <a:p>
                      <a:pPr algn="ctr"/>
                      <a:r>
                        <a:rPr lang="en-US" sz="1200" dirty="0"/>
                        <a:t>Seller City, Seller State, Region</a:t>
                      </a:r>
                      <a:endParaRPr lang="en-IN" sz="1200" dirty="0"/>
                    </a:p>
                  </a:txBody>
                  <a:tcPr/>
                </a:tc>
                <a:tc>
                  <a:txBody>
                    <a:bodyPr/>
                    <a:lstStyle/>
                    <a:p>
                      <a:pPr algn="ctr"/>
                      <a:r>
                        <a:rPr lang="en-US" sz="1200" dirty="0"/>
                        <a:t>One to many relation with Orders Table on </a:t>
                      </a:r>
                      <a:r>
                        <a:rPr lang="en-US" sz="1200" dirty="0" err="1"/>
                        <a:t>StoreId</a:t>
                      </a:r>
                      <a:endParaRPr lang="en-IN" sz="1200" dirty="0"/>
                    </a:p>
                  </a:txBody>
                  <a:tcPr/>
                </a:tc>
                <a:tc>
                  <a:txBody>
                    <a:bodyPr/>
                    <a:lstStyle/>
                    <a:p>
                      <a:pPr algn="ctr"/>
                      <a:r>
                        <a:rPr lang="en-US" sz="1200" dirty="0"/>
                        <a:t>Master data for store location details.  </a:t>
                      </a:r>
                      <a:endParaRPr lang="en-IN" sz="1200" dirty="0"/>
                    </a:p>
                  </a:txBody>
                  <a:tcPr/>
                </a:tc>
                <a:extLst>
                  <a:ext uri="{0D108BD9-81ED-4DB2-BD59-A6C34878D82A}">
                    <a16:rowId xmlns:a16="http://schemas.microsoft.com/office/drawing/2014/main" val="184942239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1BCEB-2485-FF82-CC2E-D77B5A778C52}"/>
              </a:ext>
            </a:extLst>
          </p:cNvPr>
          <p:cNvSpPr>
            <a:spLocks noGrp="1"/>
          </p:cNvSpPr>
          <p:nvPr>
            <p:ph type="title"/>
          </p:nvPr>
        </p:nvSpPr>
        <p:spPr>
          <a:xfrm>
            <a:off x="403197" y="0"/>
            <a:ext cx="3598532" cy="1061884"/>
          </a:xfrm>
        </p:spPr>
        <p:txBody>
          <a:bodyPr/>
          <a:lstStyle/>
          <a:p>
            <a:r>
              <a:rPr lang="en-US" sz="2800" dirty="0">
                <a:solidFill>
                  <a:srgbClr val="00CC99"/>
                </a:solidFill>
              </a:rPr>
              <a:t>Table Relationship</a:t>
            </a:r>
            <a:endParaRPr lang="en-IN" sz="2800" dirty="0">
              <a:solidFill>
                <a:srgbClr val="00CC99"/>
              </a:solidFill>
            </a:endParaRPr>
          </a:p>
        </p:txBody>
      </p:sp>
      <p:pic>
        <p:nvPicPr>
          <p:cNvPr id="4" name="Picture 3" descr="A screenshot of a computer">
            <a:extLst>
              <a:ext uri="{FF2B5EF4-FFF2-40B4-BE49-F238E27FC236}">
                <a16:creationId xmlns:a16="http://schemas.microsoft.com/office/drawing/2014/main" id="{BDC25F89-F796-4776-7A10-E02039AE2A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796412"/>
            <a:ext cx="9639701" cy="5476568"/>
          </a:xfrm>
          <a:prstGeom prst="rect">
            <a:avLst/>
          </a:prstGeom>
        </p:spPr>
      </p:pic>
    </p:spTree>
    <p:extLst>
      <p:ext uri="{BB962C8B-B14F-4D97-AF65-F5344CB8AC3E}">
        <p14:creationId xmlns:p14="http://schemas.microsoft.com/office/powerpoint/2010/main" val="84121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21F5E2-65CB-256A-29CC-E2DC34C45F0B}"/>
              </a:ext>
            </a:extLst>
          </p:cNvPr>
          <p:cNvSpPr txBox="1"/>
          <p:nvPr/>
        </p:nvSpPr>
        <p:spPr>
          <a:xfrm>
            <a:off x="373626" y="235973"/>
            <a:ext cx="10491020" cy="523220"/>
          </a:xfrm>
          <a:prstGeom prst="rect">
            <a:avLst/>
          </a:prstGeom>
          <a:noFill/>
        </p:spPr>
        <p:txBody>
          <a:bodyPr wrap="square" rtlCol="0">
            <a:spAutoFit/>
          </a:bodyPr>
          <a:lstStyle/>
          <a:p>
            <a:r>
              <a:rPr lang="en-US" sz="2800" dirty="0">
                <a:solidFill>
                  <a:srgbClr val="00CC99"/>
                </a:solidFill>
              </a:rPr>
              <a:t>Primary Key integrity</a:t>
            </a:r>
            <a:endParaRPr lang="en-IN" sz="2800" dirty="0">
              <a:solidFill>
                <a:srgbClr val="00CC99"/>
              </a:solidFill>
            </a:endParaRPr>
          </a:p>
        </p:txBody>
      </p:sp>
      <p:sp>
        <p:nvSpPr>
          <p:cNvPr id="4" name="TextBox 3">
            <a:extLst>
              <a:ext uri="{FF2B5EF4-FFF2-40B4-BE49-F238E27FC236}">
                <a16:creationId xmlns:a16="http://schemas.microsoft.com/office/drawing/2014/main" id="{ABE4D231-AC58-564A-B2CF-01F0E9A4E5FC}"/>
              </a:ext>
            </a:extLst>
          </p:cNvPr>
          <p:cNvSpPr txBox="1"/>
          <p:nvPr/>
        </p:nvSpPr>
        <p:spPr>
          <a:xfrm>
            <a:off x="501444" y="951398"/>
            <a:ext cx="11189111" cy="5047536"/>
          </a:xfrm>
          <a:prstGeom prst="rect">
            <a:avLst/>
          </a:prstGeom>
          <a:noFill/>
        </p:spPr>
        <p:txBody>
          <a:bodyPr wrap="square" rtlCol="0">
            <a:spAutoFit/>
          </a:bodyPr>
          <a:lstStyle/>
          <a:p>
            <a:pPr marL="285750" indent="-285750">
              <a:buFont typeface="Arial" panose="020B0604020202020204" pitchFamily="34" charset="0"/>
              <a:buChar char="•"/>
            </a:pPr>
            <a:r>
              <a:rPr lang="en-US" b="1" dirty="0"/>
              <a:t>Customers Table and Product table</a:t>
            </a:r>
          </a:p>
          <a:p>
            <a:r>
              <a:rPr lang="en-US" b="1" dirty="0"/>
              <a:t>     </a:t>
            </a:r>
            <a:r>
              <a:rPr lang="en-US" sz="1600" dirty="0"/>
              <a:t>T</a:t>
            </a:r>
            <a:r>
              <a:rPr lang="en-US" sz="1400" dirty="0"/>
              <a:t>he Primary Key CustId and </a:t>
            </a:r>
            <a:r>
              <a:rPr lang="en-US" sz="1400" dirty="0" err="1"/>
              <a:t>ProductId</a:t>
            </a:r>
            <a:r>
              <a:rPr lang="en-US" sz="1400" dirty="0"/>
              <a:t> are found to be unique and non missing.</a:t>
            </a:r>
          </a:p>
          <a:p>
            <a:endParaRPr lang="en-US" sz="1600" dirty="0"/>
          </a:p>
          <a:p>
            <a:pPr marL="285750" indent="-285750">
              <a:buFont typeface="Arial" panose="020B0604020202020204" pitchFamily="34" charset="0"/>
              <a:buChar char="•"/>
            </a:pPr>
            <a:r>
              <a:rPr lang="en-US" b="1" dirty="0"/>
              <a:t> Orders Table </a:t>
            </a:r>
          </a:p>
          <a:p>
            <a:r>
              <a:rPr lang="en-US" sz="1400" b="1" dirty="0"/>
              <a:t>     </a:t>
            </a:r>
            <a:r>
              <a:rPr lang="en-US" sz="1400" dirty="0"/>
              <a:t> We see that there are 9803 duplicate </a:t>
            </a:r>
            <a:r>
              <a:rPr lang="en-US" sz="1400" dirty="0" err="1"/>
              <a:t>OrderID's</a:t>
            </a:r>
            <a:r>
              <a:rPr lang="en-US" sz="1400" dirty="0"/>
              <a:t>. The data is given at item level. Even if we consider composite key of </a:t>
            </a:r>
            <a:r>
              <a:rPr lang="en-US" sz="1400" dirty="0" err="1"/>
              <a:t>orderID</a:t>
            </a:r>
            <a:r>
              <a:rPr lang="en-US" sz="1400" dirty="0"/>
              <a:t> and </a:t>
            </a:r>
            <a:r>
              <a:rPr lang="en-US" sz="1400" dirty="0" err="1"/>
              <a:t>ProductID</a:t>
            </a:r>
            <a:r>
              <a:rPr lang="en-US" sz="1400" dirty="0"/>
              <a:t> we see duplicates of 10225. It is only when we consider a composite key of </a:t>
            </a:r>
            <a:r>
              <a:rPr lang="en-US" sz="1400" dirty="0" err="1"/>
              <a:t>OrderId</a:t>
            </a:r>
            <a:r>
              <a:rPr lang="en-US" sz="1400" dirty="0"/>
              <a:t>, </a:t>
            </a:r>
            <a:r>
              <a:rPr lang="en-US" sz="1400" dirty="0" err="1"/>
              <a:t>ProductID</a:t>
            </a:r>
            <a:r>
              <a:rPr lang="en-US" sz="1400" dirty="0"/>
              <a:t> and Quantity that we get unique and non missing values. So, it means that orders are disintegrated at level of Product quantity because same product has different MRP so different quantities are bought at different MRP’s.</a:t>
            </a:r>
          </a:p>
          <a:p>
            <a:endParaRPr lang="en-US" sz="1600" dirty="0"/>
          </a:p>
          <a:p>
            <a:pPr marL="285750" indent="-285750">
              <a:buFont typeface="Arial" panose="020B0604020202020204" pitchFamily="34" charset="0"/>
              <a:buChar char="•"/>
            </a:pPr>
            <a:r>
              <a:rPr lang="en-US" dirty="0"/>
              <a:t> </a:t>
            </a:r>
            <a:r>
              <a:rPr lang="en-US" b="1" dirty="0"/>
              <a:t>Order Payments Table</a:t>
            </a:r>
          </a:p>
          <a:p>
            <a:r>
              <a:rPr lang="en-US" sz="1600" b="1" dirty="0"/>
              <a:t>      </a:t>
            </a:r>
            <a:r>
              <a:rPr lang="en-US" sz="1400" dirty="0"/>
              <a:t>The Primary Key is </a:t>
            </a:r>
            <a:r>
              <a:rPr lang="en-US" sz="1400" dirty="0" err="1"/>
              <a:t>OrderId</a:t>
            </a:r>
            <a:r>
              <a:rPr lang="en-US" sz="1400" dirty="0"/>
              <a:t> but there are 4446 duplicate </a:t>
            </a:r>
            <a:r>
              <a:rPr lang="en-US" sz="1400" dirty="0" err="1"/>
              <a:t>OrderId’s</a:t>
            </a:r>
            <a:r>
              <a:rPr lang="en-US" sz="1400" dirty="0"/>
              <a:t>. In order to resolve the issue, the table needs to be          aggregated at </a:t>
            </a:r>
            <a:r>
              <a:rPr lang="en-US" sz="1400" dirty="0" err="1"/>
              <a:t>OrderId</a:t>
            </a:r>
            <a:r>
              <a:rPr lang="en-US" sz="1400" dirty="0"/>
              <a:t> level. In fact, there are 615 records that are duplicated and hence we need to remove these duplicate records.</a:t>
            </a:r>
          </a:p>
          <a:p>
            <a:endParaRPr lang="en-US" sz="1600" dirty="0"/>
          </a:p>
          <a:p>
            <a:pPr marL="285750" indent="-285750">
              <a:buFont typeface="Arial" panose="020B0604020202020204" pitchFamily="34" charset="0"/>
              <a:buChar char="•"/>
            </a:pPr>
            <a:r>
              <a:rPr lang="en-US" b="1" dirty="0"/>
              <a:t>Order Review Rating Table</a:t>
            </a:r>
          </a:p>
          <a:p>
            <a:r>
              <a:rPr lang="en-US" sz="1600" dirty="0"/>
              <a:t>     The table has Issues with primary key </a:t>
            </a:r>
            <a:r>
              <a:rPr lang="en-US" sz="1600" dirty="0" err="1"/>
              <a:t>OrderId</a:t>
            </a:r>
            <a:r>
              <a:rPr lang="en-US" sz="1600" dirty="0"/>
              <a:t> as it has 559 duplicated </a:t>
            </a:r>
            <a:r>
              <a:rPr lang="en-US" sz="1600" dirty="0" err="1"/>
              <a:t>OrderId’s</a:t>
            </a:r>
            <a:r>
              <a:rPr lang="en-US" sz="1600" dirty="0"/>
              <a:t> but that can be due to the data being disintegrated at each review level. </a:t>
            </a:r>
          </a:p>
          <a:p>
            <a:endParaRPr lang="en-US" sz="1600" dirty="0"/>
          </a:p>
          <a:p>
            <a:pPr marL="285750" indent="-285750">
              <a:buFont typeface="Arial" panose="020B0604020202020204" pitchFamily="34" charset="0"/>
              <a:buChar char="•"/>
            </a:pPr>
            <a:r>
              <a:rPr lang="en-US" sz="1600" dirty="0"/>
              <a:t> </a:t>
            </a:r>
            <a:r>
              <a:rPr lang="en-US" b="1" dirty="0"/>
              <a:t>Store Info table</a:t>
            </a:r>
            <a:endParaRPr lang="en-IN" b="1" dirty="0"/>
          </a:p>
          <a:p>
            <a:r>
              <a:rPr lang="en-US" sz="1600" dirty="0"/>
              <a:t>      The primary key of </a:t>
            </a:r>
            <a:r>
              <a:rPr lang="en-US" sz="1600" dirty="0" err="1"/>
              <a:t>StoreId</a:t>
            </a:r>
            <a:r>
              <a:rPr lang="en-US" sz="1600" dirty="0"/>
              <a:t> has 1 duplicated value of ST410. Since the entire record is duplicated we shall remove the duplicated record.</a:t>
            </a:r>
            <a:endParaRPr lang="en-IN" sz="1600" dirty="0"/>
          </a:p>
        </p:txBody>
      </p:sp>
    </p:spTree>
    <p:extLst>
      <p:ext uri="{BB962C8B-B14F-4D97-AF65-F5344CB8AC3E}">
        <p14:creationId xmlns:p14="http://schemas.microsoft.com/office/powerpoint/2010/main" val="2996831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BC495-845F-DF90-FA24-588FEE2D6898}"/>
              </a:ext>
            </a:extLst>
          </p:cNvPr>
          <p:cNvSpPr>
            <a:spLocks noGrp="1"/>
          </p:cNvSpPr>
          <p:nvPr>
            <p:ph type="title"/>
          </p:nvPr>
        </p:nvSpPr>
        <p:spPr>
          <a:xfrm>
            <a:off x="200967" y="90711"/>
            <a:ext cx="11342104" cy="743302"/>
          </a:xfrm>
        </p:spPr>
        <p:txBody>
          <a:bodyPr>
            <a:normAutofit/>
          </a:bodyPr>
          <a:lstStyle/>
          <a:p>
            <a:pPr algn="l"/>
            <a:r>
              <a:rPr lang="en-US" sz="2800" dirty="0">
                <a:solidFill>
                  <a:srgbClr val="00CC99"/>
                </a:solidFill>
              </a:rPr>
              <a:t>Foreign Key Consistency</a:t>
            </a:r>
            <a:endParaRPr lang="en-IN" sz="2800" dirty="0">
              <a:solidFill>
                <a:srgbClr val="00CC99"/>
              </a:solidFill>
            </a:endParaRPr>
          </a:p>
        </p:txBody>
      </p:sp>
      <p:sp>
        <p:nvSpPr>
          <p:cNvPr id="3" name="TextBox 2">
            <a:extLst>
              <a:ext uri="{FF2B5EF4-FFF2-40B4-BE49-F238E27FC236}">
                <a16:creationId xmlns:a16="http://schemas.microsoft.com/office/drawing/2014/main" id="{BDF136DA-9F5D-745C-48AA-34A0942C6D28}"/>
              </a:ext>
            </a:extLst>
          </p:cNvPr>
          <p:cNvSpPr txBox="1"/>
          <p:nvPr/>
        </p:nvSpPr>
        <p:spPr>
          <a:xfrm>
            <a:off x="422787" y="1130710"/>
            <a:ext cx="10874478" cy="2862322"/>
          </a:xfrm>
          <a:prstGeom prst="rect">
            <a:avLst/>
          </a:prstGeom>
          <a:noFill/>
        </p:spPr>
        <p:txBody>
          <a:bodyPr wrap="square" rtlCol="0">
            <a:spAutoFit/>
          </a:bodyPr>
          <a:lstStyle/>
          <a:p>
            <a:r>
              <a:rPr lang="en-US" sz="1600" dirty="0"/>
              <a:t>We have to check if the data in the orders table (Fact Table) has all the corresponding information in the various Dimension tables i.e. Order Payments, Order Reviews, Product table, Customer Table and Store Info Table.</a:t>
            </a:r>
          </a:p>
          <a:p>
            <a:endParaRPr lang="en-US" sz="1600" dirty="0"/>
          </a:p>
          <a:p>
            <a:pPr marL="285750" indent="-285750">
              <a:buFont typeface="Arial" panose="020B0604020202020204" pitchFamily="34" charset="0"/>
              <a:buChar char="•"/>
            </a:pPr>
            <a:r>
              <a:rPr lang="en-US" sz="1600" dirty="0" err="1"/>
              <a:t>OrderReviews</a:t>
            </a:r>
            <a:r>
              <a:rPr lang="en-US" sz="1600" dirty="0"/>
              <a:t> table has details on all </a:t>
            </a:r>
            <a:r>
              <a:rPr lang="en-US" sz="1600" dirty="0" err="1"/>
              <a:t>OrderId’s</a:t>
            </a:r>
            <a:r>
              <a:rPr lang="en-US" sz="1600" dirty="0"/>
              <a:t> in the Orders table so no foreign key inconsistency found.</a:t>
            </a:r>
          </a:p>
          <a:p>
            <a:pPr marL="285750" indent="-285750">
              <a:buFont typeface="Arial" panose="020B0604020202020204" pitchFamily="34" charset="0"/>
              <a:buChar char="•"/>
            </a:pPr>
            <a:r>
              <a:rPr lang="en-US" sz="1600" dirty="0"/>
              <a:t>Customers table has details on all </a:t>
            </a:r>
            <a:r>
              <a:rPr lang="en-US" sz="1600" dirty="0" err="1"/>
              <a:t>Customer_Id’s</a:t>
            </a:r>
            <a:r>
              <a:rPr lang="en-US" sz="1600" dirty="0"/>
              <a:t> in the Orders table so no foreign key inconsistency found.</a:t>
            </a:r>
          </a:p>
          <a:p>
            <a:pPr marL="285750" indent="-285750">
              <a:buFont typeface="Arial" panose="020B0604020202020204" pitchFamily="34" charset="0"/>
              <a:buChar char="•"/>
            </a:pPr>
            <a:r>
              <a:rPr lang="en-US" sz="1600" dirty="0"/>
              <a:t>Products Info table has details on all </a:t>
            </a:r>
            <a:r>
              <a:rPr lang="en-US" sz="1600" dirty="0" err="1"/>
              <a:t>ProductId’s</a:t>
            </a:r>
            <a:r>
              <a:rPr lang="en-US" sz="1600" dirty="0"/>
              <a:t> in the Orders table so no foreign key inconsistency found.</a:t>
            </a:r>
          </a:p>
          <a:p>
            <a:pPr marL="285750" indent="-285750">
              <a:buFont typeface="Arial" panose="020B0604020202020204" pitchFamily="34" charset="0"/>
              <a:buChar char="•"/>
            </a:pPr>
            <a:r>
              <a:rPr lang="en-US" sz="1600" dirty="0"/>
              <a:t>Stores Info table has details on all </a:t>
            </a:r>
            <a:r>
              <a:rPr lang="en-US" sz="1600" dirty="0" err="1"/>
              <a:t>StoreId’s</a:t>
            </a:r>
            <a:r>
              <a:rPr lang="en-US" sz="1600" dirty="0"/>
              <a:t> in the Orders table so no foreign key inconsistency found.</a:t>
            </a:r>
          </a:p>
          <a:p>
            <a:pPr marL="285750" indent="-285750">
              <a:buFont typeface="Arial" panose="020B0604020202020204" pitchFamily="34" charset="0"/>
              <a:buChar char="•"/>
            </a:pPr>
            <a:r>
              <a:rPr lang="en-US" sz="1600" dirty="0"/>
              <a:t>However, in case of Order Payments we have found that there is one </a:t>
            </a:r>
            <a:r>
              <a:rPr lang="en-US" sz="1600" dirty="0" err="1"/>
              <a:t>OrderId</a:t>
            </a:r>
            <a:r>
              <a:rPr lang="en-US" sz="1600" dirty="0"/>
              <a:t>  in the Orders table that has no information in Order Payments table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32B83948-696E-DCEE-F9A6-B09BB6E0C0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471" y="3592171"/>
            <a:ext cx="11031794" cy="1196139"/>
          </a:xfrm>
          <a:prstGeom prst="rect">
            <a:avLst/>
          </a:prstGeom>
        </p:spPr>
      </p:pic>
    </p:spTree>
    <p:extLst>
      <p:ext uri="{BB962C8B-B14F-4D97-AF65-F5344CB8AC3E}">
        <p14:creationId xmlns:p14="http://schemas.microsoft.com/office/powerpoint/2010/main" val="3827020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AF0F06-566A-C159-3239-F5D618C48AD8}"/>
              </a:ext>
            </a:extLst>
          </p:cNvPr>
          <p:cNvSpPr>
            <a:spLocks noGrp="1"/>
          </p:cNvSpPr>
          <p:nvPr>
            <p:ph type="body" idx="1"/>
          </p:nvPr>
        </p:nvSpPr>
        <p:spPr>
          <a:xfrm>
            <a:off x="511277" y="865239"/>
            <a:ext cx="10842523" cy="5113806"/>
          </a:xfrm>
        </p:spPr>
        <p:txBody>
          <a:bodyPr>
            <a:normAutofit/>
          </a:bodyPr>
          <a:lstStyle/>
          <a:p>
            <a:pPr>
              <a:buFont typeface="Arial" panose="020B0604020202020204" pitchFamily="34" charset="0"/>
              <a:buChar char="•"/>
            </a:pPr>
            <a:r>
              <a:rPr lang="en-US" sz="1800" b="1" dirty="0">
                <a:solidFill>
                  <a:schemeClr val="tx1"/>
                </a:solidFill>
              </a:rPr>
              <a:t>Methodology Adopted</a:t>
            </a:r>
          </a:p>
          <a:p>
            <a:pPr marL="186262" indent="0">
              <a:buNone/>
            </a:pPr>
            <a:r>
              <a:rPr lang="en-US" sz="1800" dirty="0">
                <a:solidFill>
                  <a:schemeClr val="tx1"/>
                </a:solidFill>
              </a:rPr>
              <a:t>         In the detection for outliers in the Orders table that would be used for analysis we have adopted the Central Limit Theorem and since the dataset is large so we can assume Normality of distribution. So, we can infer that if the data is not within 3 Std Dev difference from mean we have considered it as an outlier.</a:t>
            </a:r>
          </a:p>
          <a:p>
            <a:pPr marL="186262" indent="0">
              <a:buNone/>
            </a:pPr>
            <a:r>
              <a:rPr lang="en-US" sz="1800" dirty="0">
                <a:solidFill>
                  <a:schemeClr val="tx1"/>
                </a:solidFill>
              </a:rPr>
              <a:t> </a:t>
            </a:r>
            <a:endParaRPr lang="en-IN" sz="1800" dirty="0">
              <a:solidFill>
                <a:srgbClr val="92D050"/>
              </a:solidFill>
            </a:endParaRPr>
          </a:p>
          <a:p>
            <a:pPr>
              <a:buFont typeface="Arial" panose="020B0604020202020204" pitchFamily="34" charset="0"/>
              <a:buChar char="•"/>
            </a:pPr>
            <a:r>
              <a:rPr lang="en-IN" sz="1800" b="1" dirty="0">
                <a:solidFill>
                  <a:schemeClr val="tx1"/>
                </a:solidFill>
              </a:rPr>
              <a:t>Results</a:t>
            </a:r>
          </a:p>
          <a:p>
            <a:pPr>
              <a:buFont typeface="Wingdings" panose="05000000000000000000" pitchFamily="2" charset="2"/>
              <a:buChar char="Ø"/>
            </a:pPr>
            <a:r>
              <a:rPr lang="en-US" dirty="0"/>
              <a:t>Observed that there are 965 </a:t>
            </a:r>
            <a:r>
              <a:rPr lang="en-US" dirty="0" err="1"/>
              <a:t>Orderid’s</a:t>
            </a:r>
            <a:r>
              <a:rPr lang="en-US" dirty="0"/>
              <a:t> with aggregated quantities not within 3 times the Std Deviation from mean aggregated quantity so, these may be considered as outliers.</a:t>
            </a:r>
          </a:p>
          <a:p>
            <a:pPr>
              <a:buFont typeface="Wingdings" panose="05000000000000000000" pitchFamily="2" charset="2"/>
              <a:buChar char="Ø"/>
            </a:pPr>
            <a:r>
              <a:rPr lang="en-US" sz="1800" b="1" dirty="0">
                <a:solidFill>
                  <a:schemeClr val="tx1"/>
                </a:solidFill>
              </a:rPr>
              <a:t> </a:t>
            </a:r>
            <a:r>
              <a:rPr lang="en-US" sz="1800" dirty="0"/>
              <a:t>Observed that there are 1757 </a:t>
            </a:r>
            <a:r>
              <a:rPr lang="en-US" sz="1800" dirty="0" err="1"/>
              <a:t>Orderid’s</a:t>
            </a:r>
            <a:r>
              <a:rPr lang="en-US" sz="1800" dirty="0"/>
              <a:t> with average price not within 3 times the Std Deviation from mean of price aggregated at </a:t>
            </a:r>
            <a:r>
              <a:rPr lang="en-US" sz="1800" dirty="0" err="1"/>
              <a:t>Orderid</a:t>
            </a:r>
            <a:r>
              <a:rPr lang="en-US" sz="1800" dirty="0"/>
              <a:t> level so, these </a:t>
            </a:r>
            <a:r>
              <a:rPr lang="en-US" sz="1800" dirty="0" err="1"/>
              <a:t>OrderId’s</a:t>
            </a:r>
            <a:r>
              <a:rPr lang="en-US" sz="1800" dirty="0"/>
              <a:t> may be considered as outliers.</a:t>
            </a:r>
          </a:p>
          <a:p>
            <a:pPr>
              <a:buFont typeface="Wingdings" panose="05000000000000000000" pitchFamily="2" charset="2"/>
              <a:buChar char="Ø"/>
            </a:pPr>
            <a:r>
              <a:rPr lang="en-US" sz="1800" dirty="0"/>
              <a:t> Observed that there are 1365 </a:t>
            </a:r>
            <a:r>
              <a:rPr lang="en-US" sz="1800" dirty="0" err="1"/>
              <a:t>Orderid’s</a:t>
            </a:r>
            <a:r>
              <a:rPr lang="en-US" sz="1800" dirty="0"/>
              <a:t> with Average discounts not within 3 times the Std Deviation from mean aggregated Discounts at </a:t>
            </a:r>
            <a:r>
              <a:rPr lang="en-US" sz="1800" dirty="0" err="1"/>
              <a:t>OrderId</a:t>
            </a:r>
            <a:r>
              <a:rPr lang="en-US" sz="1800" dirty="0"/>
              <a:t> level so, these can be considered as outliers</a:t>
            </a:r>
          </a:p>
          <a:p>
            <a:pPr>
              <a:buFont typeface="Wingdings" panose="05000000000000000000" pitchFamily="2" charset="2"/>
              <a:buChar char="Ø"/>
            </a:pPr>
            <a:r>
              <a:rPr lang="en-US" dirty="0"/>
              <a:t>But if we find out outliers in terms of both quantity and MRP at the order level then we find that there are only 4 </a:t>
            </a:r>
            <a:r>
              <a:rPr lang="en-US" dirty="0" err="1"/>
              <a:t>orderId’s</a:t>
            </a:r>
            <a:r>
              <a:rPr lang="en-US" dirty="0"/>
              <a:t> that have prices as well as quantities as outliers.</a:t>
            </a:r>
            <a:endParaRPr lang="en-US" sz="1800" dirty="0"/>
          </a:p>
          <a:p>
            <a:pPr marL="186262" indent="0">
              <a:buNone/>
            </a:pPr>
            <a:endParaRPr lang="en-US" sz="1800" dirty="0"/>
          </a:p>
        </p:txBody>
      </p:sp>
      <p:sp>
        <p:nvSpPr>
          <p:cNvPr id="3" name="Title 2">
            <a:extLst>
              <a:ext uri="{FF2B5EF4-FFF2-40B4-BE49-F238E27FC236}">
                <a16:creationId xmlns:a16="http://schemas.microsoft.com/office/drawing/2014/main" id="{E9B8F3F0-C448-3431-EA32-ABEC74827E59}"/>
              </a:ext>
            </a:extLst>
          </p:cNvPr>
          <p:cNvSpPr>
            <a:spLocks noGrp="1"/>
          </p:cNvSpPr>
          <p:nvPr>
            <p:ph type="title"/>
          </p:nvPr>
        </p:nvSpPr>
        <p:spPr>
          <a:xfrm>
            <a:off x="403197" y="0"/>
            <a:ext cx="10675200" cy="688258"/>
          </a:xfrm>
        </p:spPr>
        <p:txBody>
          <a:bodyPr/>
          <a:lstStyle/>
          <a:p>
            <a:r>
              <a:rPr lang="en-US" sz="2800" dirty="0">
                <a:solidFill>
                  <a:srgbClr val="00CC99"/>
                </a:solidFill>
              </a:rPr>
              <a:t>Outliers Detection</a:t>
            </a:r>
            <a:endParaRPr lang="en-IN" sz="2800" dirty="0">
              <a:solidFill>
                <a:srgbClr val="00CC99"/>
              </a:solidFill>
            </a:endParaRPr>
          </a:p>
        </p:txBody>
      </p:sp>
    </p:spTree>
    <p:extLst>
      <p:ext uri="{BB962C8B-B14F-4D97-AF65-F5344CB8AC3E}">
        <p14:creationId xmlns:p14="http://schemas.microsoft.com/office/powerpoint/2010/main" val="2378015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96E286-A91F-87CC-014F-5670F7BF4888}"/>
              </a:ext>
            </a:extLst>
          </p:cNvPr>
          <p:cNvSpPr txBox="1"/>
          <p:nvPr/>
        </p:nvSpPr>
        <p:spPr>
          <a:xfrm>
            <a:off x="488257" y="246400"/>
            <a:ext cx="10432027" cy="523220"/>
          </a:xfrm>
          <a:prstGeom prst="rect">
            <a:avLst/>
          </a:prstGeom>
          <a:noFill/>
        </p:spPr>
        <p:txBody>
          <a:bodyPr wrap="square" rtlCol="0">
            <a:spAutoFit/>
          </a:bodyPr>
          <a:lstStyle/>
          <a:p>
            <a:r>
              <a:rPr lang="en-US" sz="2800" b="1" dirty="0">
                <a:solidFill>
                  <a:srgbClr val="00CC99"/>
                </a:solidFill>
              </a:rPr>
              <a:t>Outlier Detection (Continued)</a:t>
            </a:r>
            <a:endParaRPr lang="en-IN" sz="2800" b="1" dirty="0">
              <a:solidFill>
                <a:srgbClr val="00CC99"/>
              </a:solidFill>
            </a:endParaRPr>
          </a:p>
        </p:txBody>
      </p:sp>
      <p:pic>
        <p:nvPicPr>
          <p:cNvPr id="9" name="Picture 8" descr="A screenshot of a computer code">
            <a:extLst>
              <a:ext uri="{FF2B5EF4-FFF2-40B4-BE49-F238E27FC236}">
                <a16:creationId xmlns:a16="http://schemas.microsoft.com/office/drawing/2014/main" id="{C3F0CF92-99AC-6074-6787-0DE22FD6D7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366" y="769620"/>
            <a:ext cx="4141654" cy="1134484"/>
          </a:xfrm>
          <a:prstGeom prst="rect">
            <a:avLst/>
          </a:prstGeom>
        </p:spPr>
      </p:pic>
      <p:sp>
        <p:nvSpPr>
          <p:cNvPr id="11" name="TextBox 10">
            <a:extLst>
              <a:ext uri="{FF2B5EF4-FFF2-40B4-BE49-F238E27FC236}">
                <a16:creationId xmlns:a16="http://schemas.microsoft.com/office/drawing/2014/main" id="{9844A0B5-4B47-ED46-B9B2-75C31605F9A2}"/>
              </a:ext>
            </a:extLst>
          </p:cNvPr>
          <p:cNvSpPr txBox="1"/>
          <p:nvPr/>
        </p:nvSpPr>
        <p:spPr>
          <a:xfrm>
            <a:off x="668594" y="2035277"/>
            <a:ext cx="10363200" cy="1323439"/>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t>However, we are unable to find any </a:t>
            </a:r>
            <a:r>
              <a:rPr lang="en-US" sz="1600" dirty="0" err="1"/>
              <a:t>orderId</a:t>
            </a:r>
            <a:r>
              <a:rPr lang="en-US" sz="1600" dirty="0"/>
              <a:t> that has quantity, price and discount as outliers at the same time.</a:t>
            </a:r>
          </a:p>
          <a:p>
            <a:endParaRPr lang="en-US" sz="1600" dirty="0"/>
          </a:p>
          <a:p>
            <a:pPr marL="285750" indent="-285750">
              <a:buFont typeface="Arial" panose="020B0604020202020204" pitchFamily="34" charset="0"/>
              <a:buChar char="•"/>
            </a:pPr>
            <a:r>
              <a:rPr lang="en-US" sz="1600" b="1" dirty="0"/>
              <a:t>Recommendation</a:t>
            </a:r>
          </a:p>
          <a:p>
            <a:r>
              <a:rPr lang="en-US" sz="1600" b="1" dirty="0"/>
              <a:t>     </a:t>
            </a:r>
            <a:r>
              <a:rPr lang="en-US" sz="1600" dirty="0"/>
              <a:t>Since the outliers found are inconsequential with respect to size of our data (as it is less than 5%) so we can consider to remove the data while doing analysis because including them can give us biased analysis.</a:t>
            </a:r>
            <a:endParaRPr lang="en-US" sz="1600" b="1" dirty="0"/>
          </a:p>
        </p:txBody>
      </p:sp>
    </p:spTree>
    <p:extLst>
      <p:ext uri="{BB962C8B-B14F-4D97-AF65-F5344CB8AC3E}">
        <p14:creationId xmlns:p14="http://schemas.microsoft.com/office/powerpoint/2010/main" val="2705136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E312B6-1134-D4B0-F3BF-7378BF73D55B}"/>
              </a:ext>
            </a:extLst>
          </p:cNvPr>
          <p:cNvSpPr>
            <a:spLocks noGrp="1"/>
          </p:cNvSpPr>
          <p:nvPr>
            <p:ph type="body" idx="1"/>
          </p:nvPr>
        </p:nvSpPr>
        <p:spPr>
          <a:xfrm>
            <a:off x="403197" y="1612490"/>
            <a:ext cx="10950603" cy="2066626"/>
          </a:xfrm>
        </p:spPr>
        <p:txBody>
          <a:bodyPr>
            <a:normAutofit/>
          </a:bodyPr>
          <a:lstStyle/>
          <a:p>
            <a:r>
              <a:rPr lang="en-US" sz="1800" dirty="0"/>
              <a:t>The Bill Timestamp dates uses both formats </a:t>
            </a:r>
            <a:r>
              <a:rPr lang="en-US" sz="1800" dirty="0" err="1"/>
              <a:t>i.e</a:t>
            </a:r>
            <a:r>
              <a:rPr lang="en-US" sz="1800" dirty="0"/>
              <a:t> ‘DMY’ format as well as ‘MDY’ format. So, we need to universalize the format to ‘MDY’.</a:t>
            </a:r>
          </a:p>
          <a:p>
            <a:r>
              <a:rPr lang="en-US" dirty="0"/>
              <a:t>There are 623 #N/A entries in Category section. In order to get better analysis, we replace it with ‘Others’.</a:t>
            </a:r>
            <a:endParaRPr lang="en-US" sz="1800" dirty="0"/>
          </a:p>
          <a:p>
            <a:r>
              <a:rPr lang="en-US" sz="1800" dirty="0"/>
              <a:t>Observed 334 </a:t>
            </a:r>
            <a:r>
              <a:rPr lang="en-US" sz="1800" dirty="0" err="1"/>
              <a:t>OrderId’s</a:t>
            </a:r>
            <a:r>
              <a:rPr lang="en-US" sz="1800" dirty="0"/>
              <a:t> that have more than one Bill Timestamp corresponding to them. This shall not be the case because one order must be placed at single date/time only.</a:t>
            </a:r>
          </a:p>
          <a:p>
            <a:endParaRPr lang="en-US" sz="1800" dirty="0"/>
          </a:p>
          <a:p>
            <a:pPr marL="186262" indent="0">
              <a:buNone/>
            </a:pPr>
            <a:endParaRPr lang="en-US" sz="1800" dirty="0"/>
          </a:p>
        </p:txBody>
      </p:sp>
      <p:sp>
        <p:nvSpPr>
          <p:cNvPr id="3" name="Title 2">
            <a:extLst>
              <a:ext uri="{FF2B5EF4-FFF2-40B4-BE49-F238E27FC236}">
                <a16:creationId xmlns:a16="http://schemas.microsoft.com/office/drawing/2014/main" id="{5A7DBF8E-9B16-9A45-4477-7B2A6DD1AB19}"/>
              </a:ext>
            </a:extLst>
          </p:cNvPr>
          <p:cNvSpPr>
            <a:spLocks noGrp="1"/>
          </p:cNvSpPr>
          <p:nvPr>
            <p:ph type="title"/>
          </p:nvPr>
        </p:nvSpPr>
        <p:spPr>
          <a:xfrm>
            <a:off x="403197" y="412955"/>
            <a:ext cx="10675200" cy="786581"/>
          </a:xfrm>
        </p:spPr>
        <p:txBody>
          <a:bodyPr/>
          <a:lstStyle/>
          <a:p>
            <a:r>
              <a:rPr lang="en-US" sz="2800" dirty="0">
                <a:solidFill>
                  <a:srgbClr val="00CC99"/>
                </a:solidFill>
              </a:rPr>
              <a:t>Logical Fallacies </a:t>
            </a:r>
            <a:endParaRPr lang="en-IN" sz="2800" dirty="0">
              <a:solidFill>
                <a:srgbClr val="00CC99"/>
              </a:solidFill>
            </a:endParaRPr>
          </a:p>
        </p:txBody>
      </p:sp>
      <p:pic>
        <p:nvPicPr>
          <p:cNvPr id="5" name="Picture 4" descr="A screenshot of a computer&#10;&#10;AI-generated content may be incorrect.">
            <a:extLst>
              <a:ext uri="{FF2B5EF4-FFF2-40B4-BE49-F238E27FC236}">
                <a16:creationId xmlns:a16="http://schemas.microsoft.com/office/drawing/2014/main" id="{EFF84141-608E-FE4E-5DB4-18562D4BFC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480" y="3948056"/>
            <a:ext cx="4769317" cy="1630235"/>
          </a:xfrm>
          <a:prstGeom prst="rect">
            <a:avLst/>
          </a:prstGeom>
        </p:spPr>
      </p:pic>
    </p:spTree>
    <p:extLst>
      <p:ext uri="{BB962C8B-B14F-4D97-AF65-F5344CB8AC3E}">
        <p14:creationId xmlns:p14="http://schemas.microsoft.com/office/powerpoint/2010/main" val="3078594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21BC87-7CF6-AB17-E7F4-559FB9D4718F}"/>
              </a:ext>
            </a:extLst>
          </p:cNvPr>
          <p:cNvSpPr txBox="1"/>
          <p:nvPr/>
        </p:nvSpPr>
        <p:spPr>
          <a:xfrm>
            <a:off x="606056" y="435935"/>
            <a:ext cx="10749516"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t>Same </a:t>
            </a:r>
            <a:r>
              <a:rPr lang="en-US" sz="1600" dirty="0" err="1"/>
              <a:t>OrderId’s</a:t>
            </a:r>
            <a:r>
              <a:rPr lang="en-US" sz="1600" dirty="0"/>
              <a:t> has been linked to multiple customers in the Orders table. Specifically, there are 5 </a:t>
            </a:r>
            <a:r>
              <a:rPr lang="en-US" sz="1600" dirty="0" err="1"/>
              <a:t>Orderid’s</a:t>
            </a:r>
            <a:r>
              <a:rPr lang="en-US" sz="1600" dirty="0"/>
              <a:t> that show such discrepancy .</a:t>
            </a:r>
            <a:endParaRPr lang="en-IN" sz="1600" dirty="0"/>
          </a:p>
        </p:txBody>
      </p:sp>
      <p:pic>
        <p:nvPicPr>
          <p:cNvPr id="6" name="Picture 5" descr="A screenshot of a computer code">
            <a:extLst>
              <a:ext uri="{FF2B5EF4-FFF2-40B4-BE49-F238E27FC236}">
                <a16:creationId xmlns:a16="http://schemas.microsoft.com/office/drawing/2014/main" id="{38C27D59-EEF5-970F-2AE8-B680402636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871" y="1109296"/>
            <a:ext cx="4369891" cy="1088118"/>
          </a:xfrm>
          <a:prstGeom prst="rect">
            <a:avLst/>
          </a:prstGeom>
        </p:spPr>
      </p:pic>
      <p:sp>
        <p:nvSpPr>
          <p:cNvPr id="7" name="TextBox 6">
            <a:extLst>
              <a:ext uri="{FF2B5EF4-FFF2-40B4-BE49-F238E27FC236}">
                <a16:creationId xmlns:a16="http://schemas.microsoft.com/office/drawing/2014/main" id="{FFA46AC9-6782-FCC2-34DB-8BB186392DB1}"/>
              </a:ext>
            </a:extLst>
          </p:cNvPr>
          <p:cNvSpPr txBox="1"/>
          <p:nvPr/>
        </p:nvSpPr>
        <p:spPr>
          <a:xfrm>
            <a:off x="606056" y="2286000"/>
            <a:ext cx="10536865"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t>There are 17313 records in orders table with consecutive quantities and amounts. We should only retain columns with highest quantity and amounts. </a:t>
            </a:r>
            <a:endParaRPr lang="en-IN" sz="1600" dirty="0"/>
          </a:p>
        </p:txBody>
      </p:sp>
      <p:pic>
        <p:nvPicPr>
          <p:cNvPr id="9" name="Picture 8" descr="A group of numbers on a white background&#10;&#10;AI-generated content may be incorrect.">
            <a:extLst>
              <a:ext uri="{FF2B5EF4-FFF2-40B4-BE49-F238E27FC236}">
                <a16:creationId xmlns:a16="http://schemas.microsoft.com/office/drawing/2014/main" id="{497A2B84-41AC-5D67-5029-CFD17C54C1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2871" y="3047947"/>
            <a:ext cx="9576593" cy="857080"/>
          </a:xfrm>
          <a:prstGeom prst="rect">
            <a:avLst/>
          </a:prstGeom>
        </p:spPr>
      </p:pic>
      <p:sp>
        <p:nvSpPr>
          <p:cNvPr id="13" name="TextBox 12">
            <a:extLst>
              <a:ext uri="{FF2B5EF4-FFF2-40B4-BE49-F238E27FC236}">
                <a16:creationId xmlns:a16="http://schemas.microsoft.com/office/drawing/2014/main" id="{E221933A-90B6-0EA9-B1ED-BF070F8EA0FC}"/>
              </a:ext>
            </a:extLst>
          </p:cNvPr>
          <p:cNvSpPr txBox="1"/>
          <p:nvPr/>
        </p:nvSpPr>
        <p:spPr>
          <a:xfrm>
            <a:off x="606056" y="4029537"/>
            <a:ext cx="10536865"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t>Observed that there are 1007 </a:t>
            </a:r>
            <a:r>
              <a:rPr lang="en-US" sz="1600" dirty="0" err="1"/>
              <a:t>OrderId's</a:t>
            </a:r>
            <a:r>
              <a:rPr lang="en-US" sz="1600" dirty="0"/>
              <a:t> that have different </a:t>
            </a:r>
            <a:r>
              <a:rPr lang="en-US" sz="1600" dirty="0" err="1"/>
              <a:t>StoreId</a:t>
            </a:r>
            <a:r>
              <a:rPr lang="en-US" sz="1600" dirty="0"/>
              <a:t>. This shall not be the case because one order must be placed at single store only.</a:t>
            </a:r>
          </a:p>
        </p:txBody>
      </p:sp>
      <p:pic>
        <p:nvPicPr>
          <p:cNvPr id="17" name="Picture 16" descr="A screenshot of a computer code&#10;&#10;AI-generated content may be incorrect.">
            <a:extLst>
              <a:ext uri="{FF2B5EF4-FFF2-40B4-BE49-F238E27FC236}">
                <a16:creationId xmlns:a16="http://schemas.microsoft.com/office/drawing/2014/main" id="{CC479258-B5EA-DE65-8C37-75621492B4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2871" y="4683736"/>
            <a:ext cx="4455953" cy="1265290"/>
          </a:xfrm>
          <a:prstGeom prst="rect">
            <a:avLst/>
          </a:prstGeom>
        </p:spPr>
      </p:pic>
    </p:spTree>
    <p:extLst>
      <p:ext uri="{BB962C8B-B14F-4D97-AF65-F5344CB8AC3E}">
        <p14:creationId xmlns:p14="http://schemas.microsoft.com/office/powerpoint/2010/main" val="785619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DD0EFF-99A1-047F-D969-AB2163EA6CF4}"/>
              </a:ext>
            </a:extLst>
          </p:cNvPr>
          <p:cNvSpPr txBox="1"/>
          <p:nvPr/>
        </p:nvSpPr>
        <p:spPr>
          <a:xfrm>
            <a:off x="350874" y="701749"/>
            <a:ext cx="11419368" cy="2862322"/>
          </a:xfrm>
          <a:prstGeom prst="rect">
            <a:avLst/>
          </a:prstGeom>
          <a:noFill/>
        </p:spPr>
        <p:txBody>
          <a:bodyPr wrap="square" rtlCol="0">
            <a:spAutoFit/>
          </a:bodyPr>
          <a:lstStyle/>
          <a:p>
            <a:pPr marL="285750" indent="-285750">
              <a:buFont typeface="Arial" panose="020B0604020202020204" pitchFamily="34" charset="0"/>
              <a:buChar char="•"/>
            </a:pPr>
            <a:r>
              <a:rPr lang="en-IN" dirty="0"/>
              <a:t>There are 2961 </a:t>
            </a:r>
            <a:r>
              <a:rPr lang="en-IN" dirty="0" err="1"/>
              <a:t>OrderId’s</a:t>
            </a:r>
            <a:r>
              <a:rPr lang="en-IN" dirty="0"/>
              <a:t> for which payment by part has been done.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There are  </a:t>
            </a:r>
            <a:r>
              <a:rPr lang="en-IN" dirty="0" err="1"/>
              <a:t>OrderId’s</a:t>
            </a:r>
            <a:r>
              <a:rPr lang="en-IN" dirty="0"/>
              <a:t> where Total Amount and Payment Value does not match.</a:t>
            </a:r>
          </a:p>
        </p:txBody>
      </p:sp>
      <p:pic>
        <p:nvPicPr>
          <p:cNvPr id="5" name="Picture 4" descr="A screenshot of a computer code&#10;&#10;AI-generated content may be incorrect.">
            <a:extLst>
              <a:ext uri="{FF2B5EF4-FFF2-40B4-BE49-F238E27FC236}">
                <a16:creationId xmlns:a16="http://schemas.microsoft.com/office/drawing/2014/main" id="{C129292D-25CD-6313-93E9-1283FDCFD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579" y="1147302"/>
            <a:ext cx="5989800" cy="1434533"/>
          </a:xfrm>
          <a:prstGeom prst="rect">
            <a:avLst/>
          </a:prstGeom>
        </p:spPr>
      </p:pic>
      <p:pic>
        <p:nvPicPr>
          <p:cNvPr id="7" name="Picture 6" descr="A screenshot of a computer">
            <a:extLst>
              <a:ext uri="{FF2B5EF4-FFF2-40B4-BE49-F238E27FC236}">
                <a16:creationId xmlns:a16="http://schemas.microsoft.com/office/drawing/2014/main" id="{267BCE39-53BD-6F11-1FBF-5B226AE883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579" y="3679116"/>
            <a:ext cx="7248445" cy="1613646"/>
          </a:xfrm>
          <a:prstGeom prst="rect">
            <a:avLst/>
          </a:prstGeom>
        </p:spPr>
      </p:pic>
    </p:spTree>
    <p:extLst>
      <p:ext uri="{BB962C8B-B14F-4D97-AF65-F5344CB8AC3E}">
        <p14:creationId xmlns:p14="http://schemas.microsoft.com/office/powerpoint/2010/main" val="3488505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EC68F7-663F-76FA-210E-EE127B7185F3}"/>
              </a:ext>
            </a:extLst>
          </p:cNvPr>
          <p:cNvSpPr>
            <a:spLocks noGrp="1"/>
          </p:cNvSpPr>
          <p:nvPr>
            <p:ph type="body" idx="1"/>
          </p:nvPr>
        </p:nvSpPr>
        <p:spPr>
          <a:xfrm>
            <a:off x="562797" y="1144453"/>
            <a:ext cx="10515600" cy="4686191"/>
          </a:xfrm>
        </p:spPr>
        <p:txBody>
          <a:bodyPr>
            <a:normAutofit/>
          </a:bodyPr>
          <a:lstStyle/>
          <a:p>
            <a:r>
              <a:rPr lang="en-US" sz="1800" b="1" dirty="0"/>
              <a:t>Orders table</a:t>
            </a:r>
          </a:p>
          <a:p>
            <a:pPr>
              <a:buFont typeface="Wingdings" panose="05000000000000000000" pitchFamily="2" charset="2"/>
              <a:buChar char="Ø"/>
            </a:pPr>
            <a:r>
              <a:rPr lang="en-IN" sz="1800" b="1" dirty="0"/>
              <a:t>  </a:t>
            </a:r>
            <a:r>
              <a:rPr lang="en-IN" sz="1600" dirty="0"/>
              <a:t>Originally we have 1,12,650 rows in the Orders table. </a:t>
            </a:r>
          </a:p>
          <a:p>
            <a:pPr>
              <a:lnSpc>
                <a:spcPct val="50000"/>
              </a:lnSpc>
              <a:buFont typeface="Wingdings" panose="05000000000000000000" pitchFamily="2" charset="2"/>
              <a:buChar char="Ø"/>
            </a:pPr>
            <a:r>
              <a:rPr lang="en-IN" sz="1600" dirty="0"/>
              <a:t>Since, we have to perform analysis on only the data between time frame 1 September,2021 and 31 December, 2023.</a:t>
            </a:r>
          </a:p>
          <a:p>
            <a:pPr marL="186262" indent="0">
              <a:lnSpc>
                <a:spcPct val="50000"/>
              </a:lnSpc>
              <a:buNone/>
            </a:pPr>
            <a:r>
              <a:rPr lang="en-IN" sz="1600" dirty="0"/>
              <a:t>          So, we have to drop out 13 records. This leaves us with 1,12,637 records.</a:t>
            </a:r>
          </a:p>
          <a:p>
            <a:pPr>
              <a:lnSpc>
                <a:spcPct val="100000"/>
              </a:lnSpc>
              <a:buFont typeface="Wingdings" panose="05000000000000000000" pitchFamily="2" charset="2"/>
              <a:buChar char="Ø"/>
            </a:pPr>
            <a:r>
              <a:rPr lang="en-IN" sz="1600" dirty="0"/>
              <a:t>Now, having identified cumulative count problem in 17183 records. After removing the cumulative count error we are left with 102492 records. So, we have lost 10,145 records due to cumulative count problem.</a:t>
            </a:r>
          </a:p>
          <a:p>
            <a:pPr>
              <a:lnSpc>
                <a:spcPct val="100000"/>
              </a:lnSpc>
              <a:buFont typeface="Wingdings" panose="05000000000000000000" pitchFamily="2" charset="2"/>
              <a:buChar char="Ø"/>
            </a:pPr>
            <a:r>
              <a:rPr lang="en-IN" sz="1600" dirty="0"/>
              <a:t>Now since one Order was  linked to multiple stores, we have universalised with the Store from which maximum revenue for each order has been generated.</a:t>
            </a:r>
          </a:p>
          <a:p>
            <a:pPr>
              <a:lnSpc>
                <a:spcPct val="100000"/>
              </a:lnSpc>
              <a:buFont typeface="Wingdings" panose="05000000000000000000" pitchFamily="2" charset="2"/>
              <a:buChar char="Ø"/>
            </a:pPr>
            <a:r>
              <a:rPr lang="en-US" sz="1600" dirty="0"/>
              <a:t>Each Order shall be updated with </a:t>
            </a:r>
            <a:r>
              <a:rPr lang="en-US" sz="1600" dirty="0" err="1"/>
              <a:t>Billtimestamp</a:t>
            </a:r>
            <a:r>
              <a:rPr lang="en-US" sz="1600" dirty="0"/>
              <a:t> of earliest instance and 371 rows have been updated.</a:t>
            </a:r>
          </a:p>
          <a:p>
            <a:pPr>
              <a:lnSpc>
                <a:spcPct val="100000"/>
              </a:lnSpc>
              <a:buFont typeface="Wingdings" panose="05000000000000000000" pitchFamily="2" charset="2"/>
              <a:buChar char="Ø"/>
            </a:pPr>
            <a:r>
              <a:rPr lang="en-US" sz="1600" dirty="0"/>
              <a:t>Dropping Orders that do not have </a:t>
            </a:r>
            <a:r>
              <a:rPr lang="en-US" sz="1600" dirty="0" err="1"/>
              <a:t>OrderPayments</a:t>
            </a:r>
            <a:r>
              <a:rPr lang="en-US" sz="1600" dirty="0"/>
              <a:t> information. On this account 1 row has been deleted leaving us with 102491 records.</a:t>
            </a:r>
          </a:p>
          <a:p>
            <a:pPr>
              <a:lnSpc>
                <a:spcPct val="100000"/>
              </a:lnSpc>
              <a:buFont typeface="Wingdings" panose="05000000000000000000" pitchFamily="2" charset="2"/>
              <a:buChar char="Ø"/>
            </a:pPr>
            <a:r>
              <a:rPr lang="en-US" sz="1600" dirty="0"/>
              <a:t>We have found one Order which allocated to 2 Customers so now we have updated the record with highest amount Customer.</a:t>
            </a:r>
          </a:p>
          <a:p>
            <a:pPr marL="186262" indent="0">
              <a:lnSpc>
                <a:spcPct val="100000"/>
              </a:lnSpc>
              <a:buNone/>
            </a:pPr>
            <a:r>
              <a:rPr lang="en-US" sz="1600" dirty="0"/>
              <a:t> </a:t>
            </a:r>
          </a:p>
          <a:p>
            <a:pPr>
              <a:lnSpc>
                <a:spcPct val="100000"/>
              </a:lnSpc>
              <a:buFont typeface="Wingdings" panose="05000000000000000000" pitchFamily="2" charset="2"/>
              <a:buChar char="Ø"/>
            </a:pPr>
            <a:endParaRPr lang="en-IN" sz="1600" dirty="0"/>
          </a:p>
          <a:p>
            <a:pPr>
              <a:lnSpc>
                <a:spcPct val="100000"/>
              </a:lnSpc>
              <a:buFont typeface="Wingdings" panose="05000000000000000000" pitchFamily="2" charset="2"/>
              <a:buChar char="Ø"/>
            </a:pPr>
            <a:endParaRPr lang="en-IN" sz="1600" dirty="0"/>
          </a:p>
          <a:p>
            <a:pPr>
              <a:lnSpc>
                <a:spcPct val="100000"/>
              </a:lnSpc>
              <a:buFont typeface="Wingdings" panose="05000000000000000000" pitchFamily="2" charset="2"/>
              <a:buChar char="Ø"/>
            </a:pPr>
            <a:endParaRPr lang="en-IN" sz="1600" dirty="0"/>
          </a:p>
        </p:txBody>
      </p:sp>
      <p:sp>
        <p:nvSpPr>
          <p:cNvPr id="3" name="Title 2">
            <a:extLst>
              <a:ext uri="{FF2B5EF4-FFF2-40B4-BE49-F238E27FC236}">
                <a16:creationId xmlns:a16="http://schemas.microsoft.com/office/drawing/2014/main" id="{927E0EAF-232E-1756-AC86-F06B9CFE8C78}"/>
              </a:ext>
            </a:extLst>
          </p:cNvPr>
          <p:cNvSpPr>
            <a:spLocks noGrp="1"/>
          </p:cNvSpPr>
          <p:nvPr>
            <p:ph type="title"/>
          </p:nvPr>
        </p:nvSpPr>
        <p:spPr>
          <a:xfrm>
            <a:off x="403197" y="0"/>
            <a:ext cx="10675200" cy="878955"/>
          </a:xfrm>
        </p:spPr>
        <p:txBody>
          <a:bodyPr/>
          <a:lstStyle/>
          <a:p>
            <a:r>
              <a:rPr lang="en-US" dirty="0">
                <a:solidFill>
                  <a:srgbClr val="00CC99"/>
                </a:solidFill>
              </a:rPr>
              <a:t>Data Cleaning(1/2)</a:t>
            </a:r>
            <a:endParaRPr lang="en-IN" dirty="0">
              <a:solidFill>
                <a:srgbClr val="00CC99"/>
              </a:solidFill>
            </a:endParaRPr>
          </a:p>
        </p:txBody>
      </p:sp>
    </p:spTree>
    <p:extLst>
      <p:ext uri="{BB962C8B-B14F-4D97-AF65-F5344CB8AC3E}">
        <p14:creationId xmlns:p14="http://schemas.microsoft.com/office/powerpoint/2010/main" val="2346752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81831-3A1E-3FB9-CAAF-05CAFB7F925D}"/>
              </a:ext>
            </a:extLst>
          </p:cNvPr>
          <p:cNvSpPr>
            <a:spLocks noGrp="1"/>
          </p:cNvSpPr>
          <p:nvPr>
            <p:ph type="title"/>
          </p:nvPr>
        </p:nvSpPr>
        <p:spPr/>
        <p:txBody>
          <a:bodyPr/>
          <a:lstStyle/>
          <a:p>
            <a:r>
              <a:rPr lang="en-US" sz="2800" dirty="0">
                <a:solidFill>
                  <a:srgbClr val="00CC99"/>
                </a:solidFill>
              </a:rPr>
              <a:t>Data Cleaning (2/2 )</a:t>
            </a:r>
            <a:endParaRPr lang="en-IN" sz="2800" dirty="0">
              <a:solidFill>
                <a:srgbClr val="00CC99"/>
              </a:solidFill>
            </a:endParaRPr>
          </a:p>
        </p:txBody>
      </p:sp>
      <p:sp>
        <p:nvSpPr>
          <p:cNvPr id="3" name="TextBox 2">
            <a:extLst>
              <a:ext uri="{FF2B5EF4-FFF2-40B4-BE49-F238E27FC236}">
                <a16:creationId xmlns:a16="http://schemas.microsoft.com/office/drawing/2014/main" id="{1B823EB8-E9F1-F07F-79DF-A4C50A38B7C2}"/>
              </a:ext>
            </a:extLst>
          </p:cNvPr>
          <p:cNvSpPr txBox="1"/>
          <p:nvPr/>
        </p:nvSpPr>
        <p:spPr>
          <a:xfrm>
            <a:off x="403197" y="1137600"/>
            <a:ext cx="10675200" cy="6032421"/>
          </a:xfrm>
          <a:prstGeom prst="rect">
            <a:avLst/>
          </a:prstGeom>
          <a:noFill/>
        </p:spPr>
        <p:txBody>
          <a:bodyPr wrap="square" rtlCol="0">
            <a:spAutoFit/>
          </a:bodyPr>
          <a:lstStyle/>
          <a:p>
            <a:r>
              <a:rPr lang="en-US" sz="1600" b="1" dirty="0"/>
              <a:t>NOTE: Even after cleaning Orders table into </a:t>
            </a:r>
            <a:r>
              <a:rPr lang="en-US" sz="1600" b="1" dirty="0" err="1"/>
              <a:t>Orders_final</a:t>
            </a:r>
            <a:r>
              <a:rPr lang="en-US" sz="1600" b="1" dirty="0"/>
              <a:t> we have found that 3476 </a:t>
            </a:r>
            <a:r>
              <a:rPr lang="en-US" sz="1600" b="1" dirty="0" err="1"/>
              <a:t>order_id’s</a:t>
            </a:r>
            <a:r>
              <a:rPr lang="en-US" sz="1600" b="1" dirty="0"/>
              <a:t>, for which Aggregated Total Amount and Aggregated  Payment value does not match.</a:t>
            </a:r>
          </a:p>
          <a:p>
            <a:endParaRPr lang="en-US" sz="1600" b="1" dirty="0"/>
          </a:p>
          <a:p>
            <a:pPr marL="285750" indent="-285750">
              <a:buFont typeface="Arial" panose="020B0604020202020204" pitchFamily="34" charset="0"/>
              <a:buChar char="•"/>
            </a:pPr>
            <a:r>
              <a:rPr lang="en-US" sz="1600" b="1" dirty="0"/>
              <a:t>Store Table</a:t>
            </a:r>
          </a:p>
          <a:p>
            <a:r>
              <a:rPr lang="en-US" sz="1600" b="1" dirty="0"/>
              <a:t>     </a:t>
            </a:r>
          </a:p>
          <a:p>
            <a:r>
              <a:rPr lang="en-US" sz="1600" dirty="0"/>
              <a:t>There was 1 duplicated record, so we have to drop that record so this leaves us with 534 records in Store table.</a:t>
            </a:r>
          </a:p>
          <a:p>
            <a:endParaRPr lang="en-US" sz="1600" dirty="0"/>
          </a:p>
          <a:p>
            <a:endParaRPr lang="en-US" sz="1600" dirty="0"/>
          </a:p>
          <a:p>
            <a:pPr marL="285750" indent="-285750">
              <a:buFont typeface="Arial" panose="020B0604020202020204" pitchFamily="34" charset="0"/>
              <a:buChar char="•"/>
            </a:pPr>
            <a:r>
              <a:rPr lang="en-US" sz="1600" b="1" dirty="0"/>
              <a:t>Order Review Ratings Table</a:t>
            </a:r>
          </a:p>
          <a:p>
            <a:r>
              <a:rPr lang="en-US" sz="1600" b="1" dirty="0"/>
              <a:t>      </a:t>
            </a:r>
          </a:p>
          <a:p>
            <a:r>
              <a:rPr lang="en-US" sz="1600" dirty="0"/>
              <a:t>Since there are multiple reviews with respect to a single order, so we needed to aggregated the table at Order         level into </a:t>
            </a:r>
            <a:r>
              <a:rPr lang="en-US" sz="1600" dirty="0" err="1"/>
              <a:t>OrderReview_aggregated</a:t>
            </a:r>
            <a:r>
              <a:rPr lang="en-US" sz="1600" dirty="0"/>
              <a:t> table. This table reduces the no. of records to 99441.</a:t>
            </a:r>
          </a:p>
          <a:p>
            <a:endParaRPr lang="en-US" sz="1600" dirty="0"/>
          </a:p>
          <a:p>
            <a:pPr marL="285750" indent="-285750">
              <a:buFont typeface="Arial" panose="020B0604020202020204" pitchFamily="34" charset="0"/>
              <a:buChar char="•"/>
            </a:pPr>
            <a:r>
              <a:rPr lang="en-US" sz="1600" b="1" dirty="0"/>
              <a:t>Order Payments Info Table</a:t>
            </a:r>
          </a:p>
          <a:p>
            <a:r>
              <a:rPr lang="en-US" sz="1600" dirty="0"/>
              <a:t>  </a:t>
            </a:r>
          </a:p>
          <a:p>
            <a:r>
              <a:rPr lang="en-US" sz="1600" dirty="0"/>
              <a:t>The Payment table is to be aggregated at order level and this is done in </a:t>
            </a:r>
            <a:r>
              <a:rPr lang="en-US" sz="1600" dirty="0" err="1"/>
              <a:t>Payment_aggregated</a:t>
            </a:r>
            <a:r>
              <a:rPr lang="en-US" sz="1600" dirty="0"/>
              <a:t> table. This table has 99440 records.</a:t>
            </a:r>
          </a:p>
          <a:p>
            <a:endParaRPr lang="en-US" sz="1600" dirty="0"/>
          </a:p>
          <a:p>
            <a:endParaRPr lang="en-US" sz="1600" b="1" dirty="0"/>
          </a:p>
          <a:p>
            <a:br>
              <a:rPr lang="en-US" sz="1600" b="1" dirty="0"/>
            </a:br>
            <a:endParaRPr lang="en-US" sz="1600" b="1" dirty="0"/>
          </a:p>
          <a:p>
            <a:r>
              <a:rPr lang="en-US" sz="1600" b="1" dirty="0"/>
              <a:t>  </a:t>
            </a:r>
            <a:r>
              <a:rPr lang="en-US" sz="1600" dirty="0"/>
              <a:t>   </a:t>
            </a:r>
          </a:p>
          <a:p>
            <a:r>
              <a:rPr lang="en-US" sz="1600" b="1" dirty="0"/>
              <a:t>      </a:t>
            </a:r>
          </a:p>
          <a:p>
            <a:endParaRPr lang="en-IN" b="1" dirty="0"/>
          </a:p>
        </p:txBody>
      </p:sp>
    </p:spTree>
    <p:extLst>
      <p:ext uri="{BB962C8B-B14F-4D97-AF65-F5344CB8AC3E}">
        <p14:creationId xmlns:p14="http://schemas.microsoft.com/office/powerpoint/2010/main" val="4197764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33C31-CC8C-5B31-9CE2-F71D5ABCA097}"/>
              </a:ext>
            </a:extLst>
          </p:cNvPr>
          <p:cNvSpPr>
            <a:spLocks noGrp="1"/>
          </p:cNvSpPr>
          <p:nvPr>
            <p:ph type="title"/>
          </p:nvPr>
        </p:nvSpPr>
        <p:spPr>
          <a:xfrm>
            <a:off x="392686" y="105103"/>
            <a:ext cx="10675200" cy="1137600"/>
          </a:xfrm>
        </p:spPr>
        <p:txBody>
          <a:bodyPr/>
          <a:lstStyle/>
          <a:p>
            <a:r>
              <a:rPr lang="en-US" sz="2800" dirty="0">
                <a:solidFill>
                  <a:srgbClr val="00CC99"/>
                </a:solidFill>
              </a:rPr>
              <a:t>Sales Performance Dashboard</a:t>
            </a:r>
            <a:endParaRPr lang="en-IN" sz="2800" dirty="0">
              <a:solidFill>
                <a:srgbClr val="00CC99"/>
              </a:solidFill>
            </a:endParaRPr>
          </a:p>
        </p:txBody>
      </p:sp>
      <p:sp>
        <p:nvSpPr>
          <p:cNvPr id="3" name="TextBox 2">
            <a:extLst>
              <a:ext uri="{FF2B5EF4-FFF2-40B4-BE49-F238E27FC236}">
                <a16:creationId xmlns:a16="http://schemas.microsoft.com/office/drawing/2014/main" id="{D912DF4B-ADFC-0713-D91F-0C7D7A41700F}"/>
              </a:ext>
            </a:extLst>
          </p:cNvPr>
          <p:cNvSpPr txBox="1"/>
          <p:nvPr/>
        </p:nvSpPr>
        <p:spPr>
          <a:xfrm>
            <a:off x="262759" y="1736690"/>
            <a:ext cx="11330151" cy="5478423"/>
          </a:xfrm>
          <a:prstGeom prst="rect">
            <a:avLst/>
          </a:prstGeom>
          <a:noFill/>
        </p:spPr>
        <p:txBody>
          <a:bodyPr wrap="square" rtlCol="0">
            <a:spAutoFit/>
          </a:bodyPr>
          <a:lstStyle/>
          <a:p>
            <a:pPr marL="285750" indent="-285750">
              <a:buFont typeface="Arial" panose="020B0604020202020204" pitchFamily="34" charset="0"/>
              <a:buChar char="•"/>
            </a:pPr>
            <a:r>
              <a:rPr lang="en-US" b="1" dirty="0"/>
              <a:t>Objective: </a:t>
            </a:r>
            <a:r>
              <a:rPr lang="en-US" dirty="0"/>
              <a:t>Monitor overall revenue, discount utilization, and order trends for performance tracking.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Stakeholders: </a:t>
            </a:r>
            <a:r>
              <a:rPr lang="en-US" dirty="0"/>
              <a:t>Sales Team, Marketing, Leadership</a:t>
            </a:r>
          </a:p>
          <a:p>
            <a:endParaRPr lang="en-US" dirty="0"/>
          </a:p>
          <a:p>
            <a:pPr marL="285750" indent="-285750">
              <a:buFont typeface="Arial" panose="020B0604020202020204" pitchFamily="34" charset="0"/>
              <a:buChar char="•"/>
            </a:pPr>
            <a:r>
              <a:rPr lang="en-US" b="1" dirty="0"/>
              <a:t>Business Impact: </a:t>
            </a:r>
            <a:r>
              <a:rPr lang="en-US" dirty="0"/>
              <a:t>Identifies trends, top categories, and discount effectiveness for profit optimization.</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Key KPIs (with Calculation Logic):</a:t>
            </a:r>
          </a:p>
          <a:p>
            <a:pPr marL="285750" indent="-285750">
              <a:buFont typeface="Wingdings" panose="05000000000000000000" pitchFamily="2" charset="2"/>
              <a:buChar char="Ø"/>
            </a:pPr>
            <a:r>
              <a:rPr lang="en-US" dirty="0"/>
              <a:t>Total Revenue = SUM(</a:t>
            </a:r>
            <a:r>
              <a:rPr lang="en-US" dirty="0" err="1"/>
              <a:t>Total_Amount</a:t>
            </a:r>
            <a:r>
              <a:rPr lang="en-US" dirty="0"/>
              <a:t>)</a:t>
            </a:r>
          </a:p>
          <a:p>
            <a:pPr marL="285750" indent="-285750">
              <a:buFont typeface="Wingdings" panose="05000000000000000000" pitchFamily="2" charset="2"/>
              <a:buChar char="Ø"/>
            </a:pPr>
            <a:r>
              <a:rPr lang="en-US" dirty="0"/>
              <a:t>AOV = SUM(</a:t>
            </a:r>
            <a:r>
              <a:rPr lang="en-US" dirty="0" err="1"/>
              <a:t>Tota_Amount</a:t>
            </a:r>
            <a:r>
              <a:rPr lang="en-US" dirty="0"/>
              <a:t>)/Count(</a:t>
            </a:r>
            <a:r>
              <a:rPr lang="en-US" dirty="0" err="1"/>
              <a:t>Order_ID</a:t>
            </a:r>
            <a:r>
              <a:rPr lang="en-US" dirty="0"/>
              <a:t>)</a:t>
            </a:r>
          </a:p>
          <a:p>
            <a:pPr marL="285750" indent="-285750">
              <a:buFont typeface="Wingdings" panose="05000000000000000000" pitchFamily="2" charset="2"/>
              <a:buChar char="Ø"/>
            </a:pPr>
            <a:r>
              <a:rPr lang="en-US" dirty="0"/>
              <a:t>Discount Utilization % = SUM(Discount)/SUM(</a:t>
            </a:r>
            <a:r>
              <a:rPr lang="en-US" dirty="0" err="1"/>
              <a:t>Total_Amount</a:t>
            </a:r>
            <a:r>
              <a:rPr lang="en-US" dirty="0"/>
              <a:t>)*100</a:t>
            </a:r>
          </a:p>
          <a:p>
            <a:pPr marL="285750" indent="-285750">
              <a:buFont typeface="Wingdings" panose="05000000000000000000" pitchFamily="2" charset="2"/>
              <a:buChar char="Ø"/>
            </a:pPr>
            <a:r>
              <a:rPr lang="en-US" dirty="0"/>
              <a:t>Orders Count = COUNT(</a:t>
            </a:r>
            <a:r>
              <a:rPr lang="en-US" dirty="0" err="1"/>
              <a:t>Order_ID</a:t>
            </a:r>
            <a:r>
              <a:rPr lang="en-US" dirty="0"/>
              <a:t>)</a:t>
            </a:r>
          </a:p>
          <a:p>
            <a:pPr marL="285750" indent="-285750">
              <a:buFont typeface="Wingdings" panose="05000000000000000000" pitchFamily="2" charset="2"/>
              <a:buChar char="Ø"/>
            </a:pPr>
            <a:r>
              <a:rPr lang="en-US" dirty="0"/>
              <a:t>Revenue Growth % = ((Current - Previous)/Previous)*100</a:t>
            </a:r>
          </a:p>
          <a:p>
            <a:pPr marL="285750" indent="-285750">
              <a:buFont typeface="Arial" panose="020B0604020202020204" pitchFamily="34" charset="0"/>
              <a:buChar char="•"/>
            </a:pPr>
            <a:endParaRPr lang="en-US" dirty="0"/>
          </a:p>
          <a:p>
            <a:endParaRPr lang="en-US" sz="1400" dirty="0"/>
          </a:p>
          <a:p>
            <a:pPr marL="285750" indent="-285750">
              <a:buFont typeface="Wingdings" panose="05000000000000000000" pitchFamily="2" charset="2"/>
              <a:buChar char="Ø"/>
            </a:pPr>
            <a:endParaRPr lang="en-US" sz="1400" dirty="0"/>
          </a:p>
          <a:p>
            <a:endParaRPr lang="en-US" sz="1600"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609372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8320" y="274320"/>
            <a:ext cx="2011680" cy="54864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89761" y="320040"/>
            <a:ext cx="1749197" cy="369332"/>
          </a:xfrm>
          <a:prstGeom prst="rect">
            <a:avLst/>
          </a:prstGeom>
          <a:noFill/>
        </p:spPr>
        <p:txBody>
          <a:bodyPr wrap="none">
            <a:spAutoFit/>
          </a:bodyPr>
          <a:lstStyle/>
          <a:p>
            <a:r>
              <a:t>Company Logo</a:t>
            </a:r>
          </a:p>
        </p:txBody>
      </p:sp>
      <p:sp>
        <p:nvSpPr>
          <p:cNvPr id="4" name="Rectangle 3"/>
          <p:cNvSpPr/>
          <p:nvPr/>
        </p:nvSpPr>
        <p:spPr>
          <a:xfrm>
            <a:off x="3810000" y="274320"/>
            <a:ext cx="4572000" cy="54864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427875" y="354597"/>
            <a:ext cx="3595856" cy="369332"/>
          </a:xfrm>
          <a:prstGeom prst="rect">
            <a:avLst/>
          </a:prstGeom>
          <a:noFill/>
        </p:spPr>
        <p:txBody>
          <a:bodyPr wrap="none">
            <a:spAutoFit/>
          </a:bodyPr>
          <a:lstStyle/>
          <a:p>
            <a:pPr>
              <a:defRPr sz="1800" b="1"/>
            </a:pPr>
            <a:r>
              <a:rPr dirty="0"/>
              <a:t>Sales Performance</a:t>
            </a:r>
            <a:r>
              <a:rPr lang="en-US" dirty="0"/>
              <a:t> Dashboard</a:t>
            </a:r>
            <a:r>
              <a:rPr dirty="0"/>
              <a:t> </a:t>
            </a:r>
          </a:p>
        </p:txBody>
      </p:sp>
      <p:sp>
        <p:nvSpPr>
          <p:cNvPr id="6" name="Rectangle 5"/>
          <p:cNvSpPr/>
          <p:nvPr/>
        </p:nvSpPr>
        <p:spPr>
          <a:xfrm>
            <a:off x="8564880" y="274320"/>
            <a:ext cx="2743200" cy="54864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41606" y="225475"/>
            <a:ext cx="2194560" cy="646331"/>
          </a:xfrm>
          <a:prstGeom prst="rect">
            <a:avLst/>
          </a:prstGeom>
          <a:noFill/>
        </p:spPr>
        <p:txBody>
          <a:bodyPr wrap="square">
            <a:spAutoFit/>
          </a:bodyPr>
          <a:lstStyle/>
          <a:p>
            <a:r>
              <a:t>Navigation: Home | Next | Previous</a:t>
            </a:r>
          </a:p>
        </p:txBody>
      </p:sp>
      <p:sp>
        <p:nvSpPr>
          <p:cNvPr id="8" name="Rectangle 7"/>
          <p:cNvSpPr/>
          <p:nvPr/>
        </p:nvSpPr>
        <p:spPr>
          <a:xfrm>
            <a:off x="1798320" y="914400"/>
            <a:ext cx="9509760" cy="73152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889760" y="960120"/>
            <a:ext cx="9418320" cy="923330"/>
          </a:xfrm>
          <a:prstGeom prst="rect">
            <a:avLst/>
          </a:prstGeom>
          <a:noFill/>
        </p:spPr>
        <p:txBody>
          <a:bodyPr wrap="square">
            <a:spAutoFit/>
          </a:bodyPr>
          <a:lstStyle/>
          <a:p>
            <a:r>
              <a:rPr dirty="0"/>
              <a:t>KPI </a:t>
            </a:r>
            <a:r>
              <a:rPr lang="en-US" dirty="0"/>
              <a:t>‘s</a:t>
            </a:r>
            <a:r>
              <a:rPr dirty="0"/>
              <a:t> Total Revenue (₹ 5.2 Cr)</a:t>
            </a:r>
            <a:r>
              <a:rPr lang="en-US" dirty="0"/>
              <a:t>, AOV, Discount Utilization % ,Orders Count ,Revenue Growth %</a:t>
            </a:r>
          </a:p>
          <a:p>
            <a:endParaRPr dirty="0"/>
          </a:p>
        </p:txBody>
      </p:sp>
      <p:sp>
        <p:nvSpPr>
          <p:cNvPr id="10" name="Rectangle 9"/>
          <p:cNvSpPr/>
          <p:nvPr/>
        </p:nvSpPr>
        <p:spPr>
          <a:xfrm>
            <a:off x="1798320" y="1645920"/>
            <a:ext cx="2286000" cy="320040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89760" y="1737361"/>
            <a:ext cx="2194560" cy="2031325"/>
          </a:xfrm>
          <a:prstGeom prst="rect">
            <a:avLst/>
          </a:prstGeom>
          <a:noFill/>
        </p:spPr>
        <p:txBody>
          <a:bodyPr wrap="square">
            <a:spAutoFit/>
          </a:bodyPr>
          <a:lstStyle/>
          <a:p>
            <a:r>
              <a:rPr dirty="0"/>
              <a:t>Slicer Example:</a:t>
            </a:r>
          </a:p>
          <a:p>
            <a:r>
              <a:rPr dirty="0"/>
              <a:t>• Month / Quarter Filter</a:t>
            </a:r>
            <a:endParaRPr lang="en-US" dirty="0"/>
          </a:p>
          <a:p>
            <a:pPr marL="285750" indent="-285750">
              <a:buFont typeface="Arial" panose="020B0604020202020204" pitchFamily="34" charset="0"/>
              <a:buChar char="•"/>
            </a:pPr>
            <a:r>
              <a:rPr lang="en-IN" dirty="0"/>
              <a:t>Region</a:t>
            </a:r>
          </a:p>
          <a:p>
            <a:pPr marL="285750" indent="-285750">
              <a:buFont typeface="Arial" panose="020B0604020202020204" pitchFamily="34" charset="0"/>
              <a:buChar char="•"/>
            </a:pPr>
            <a:r>
              <a:rPr lang="en-IN" dirty="0"/>
              <a:t>Category</a:t>
            </a:r>
          </a:p>
          <a:p>
            <a:pPr marL="285750" indent="-285750">
              <a:buFont typeface="Arial" panose="020B0604020202020204" pitchFamily="34" charset="0"/>
              <a:buChar char="•"/>
            </a:pPr>
            <a:r>
              <a:rPr lang="en-IN" dirty="0" err="1"/>
              <a:t>Payment_Type</a:t>
            </a:r>
            <a:endParaRPr lang="en-IN" dirty="0"/>
          </a:p>
          <a:p>
            <a:pPr marL="285750" indent="-285750">
              <a:buFont typeface="Arial" panose="020B0604020202020204" pitchFamily="34" charset="0"/>
              <a:buChar char="•"/>
            </a:pPr>
            <a:endParaRPr dirty="0"/>
          </a:p>
        </p:txBody>
      </p:sp>
      <p:sp>
        <p:nvSpPr>
          <p:cNvPr id="12" name="Rectangle 11"/>
          <p:cNvSpPr/>
          <p:nvPr/>
        </p:nvSpPr>
        <p:spPr>
          <a:xfrm>
            <a:off x="4175760" y="1645920"/>
            <a:ext cx="7132320" cy="146304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67200" y="1737361"/>
            <a:ext cx="6926317" cy="1200329"/>
          </a:xfrm>
          <a:prstGeom prst="rect">
            <a:avLst/>
          </a:prstGeom>
          <a:noFill/>
        </p:spPr>
        <p:txBody>
          <a:bodyPr wrap="square">
            <a:spAutoFit/>
          </a:bodyPr>
          <a:lstStyle/>
          <a:p>
            <a:endParaRPr dirty="0"/>
          </a:p>
          <a:p>
            <a:r>
              <a:rPr dirty="0"/>
              <a:t>• Monthly Revenue Trend (</a:t>
            </a:r>
            <a:r>
              <a:rPr lang="en-US" dirty="0"/>
              <a:t>Area</a:t>
            </a:r>
            <a:r>
              <a:rPr dirty="0"/>
              <a:t> Chart)</a:t>
            </a:r>
            <a:r>
              <a:rPr lang="en-US" dirty="0"/>
              <a:t>, Category wise revenue, Region wise revenue share( Pie Chart)</a:t>
            </a:r>
          </a:p>
          <a:p>
            <a:r>
              <a:rPr lang="en-US" dirty="0"/>
              <a:t> </a:t>
            </a:r>
            <a:endParaRPr dirty="0"/>
          </a:p>
        </p:txBody>
      </p:sp>
      <p:sp>
        <p:nvSpPr>
          <p:cNvPr id="14" name="Rectangle 13"/>
          <p:cNvSpPr/>
          <p:nvPr/>
        </p:nvSpPr>
        <p:spPr>
          <a:xfrm>
            <a:off x="4175760" y="3200400"/>
            <a:ext cx="7132320" cy="164592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67201" y="3291841"/>
            <a:ext cx="4589718" cy="646331"/>
          </a:xfrm>
          <a:prstGeom prst="rect">
            <a:avLst/>
          </a:prstGeom>
          <a:noFill/>
        </p:spPr>
        <p:txBody>
          <a:bodyPr wrap="none">
            <a:spAutoFit/>
          </a:bodyPr>
          <a:lstStyle/>
          <a:p>
            <a:pPr marL="285750" indent="-285750">
              <a:buFont typeface="Arial" panose="020B0604020202020204" pitchFamily="34" charset="0"/>
              <a:buChar char="•"/>
            </a:pPr>
            <a:r>
              <a:rPr dirty="0"/>
              <a:t>Top 5 Product Categories (Bar Chart)</a:t>
            </a:r>
            <a:endParaRPr lang="en-US" dirty="0"/>
          </a:p>
          <a:p>
            <a:pPr marL="285750" indent="-285750">
              <a:buFont typeface="Arial" panose="020B0604020202020204" pitchFamily="34" charset="0"/>
              <a:buChar char="•"/>
            </a:pPr>
            <a:r>
              <a:rPr lang="en-IN" dirty="0"/>
              <a:t>Bottom 5 Product categories( Bar Chart)</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BFEC1-BA96-83F5-12F5-1C4FBCC002A8}"/>
              </a:ext>
            </a:extLst>
          </p:cNvPr>
          <p:cNvSpPr>
            <a:spLocks noGrp="1"/>
          </p:cNvSpPr>
          <p:nvPr>
            <p:ph type="title"/>
          </p:nvPr>
        </p:nvSpPr>
        <p:spPr>
          <a:xfrm>
            <a:off x="403197" y="399393"/>
            <a:ext cx="10675200" cy="872359"/>
          </a:xfrm>
        </p:spPr>
        <p:txBody>
          <a:bodyPr/>
          <a:lstStyle/>
          <a:p>
            <a:r>
              <a:rPr lang="en-US" sz="2800" dirty="0">
                <a:solidFill>
                  <a:srgbClr val="00CC99"/>
                </a:solidFill>
              </a:rPr>
              <a:t>Customer Level Dashboard</a:t>
            </a:r>
            <a:endParaRPr lang="en-IN" sz="2800" dirty="0">
              <a:solidFill>
                <a:srgbClr val="00CC99"/>
              </a:solidFill>
            </a:endParaRPr>
          </a:p>
        </p:txBody>
      </p:sp>
      <p:sp>
        <p:nvSpPr>
          <p:cNvPr id="3" name="TextBox 2">
            <a:extLst>
              <a:ext uri="{FF2B5EF4-FFF2-40B4-BE49-F238E27FC236}">
                <a16:creationId xmlns:a16="http://schemas.microsoft.com/office/drawing/2014/main" id="{37E79098-22C2-5ACB-8A96-F5B0F1820E76}"/>
              </a:ext>
            </a:extLst>
          </p:cNvPr>
          <p:cNvSpPr txBox="1"/>
          <p:nvPr/>
        </p:nvSpPr>
        <p:spPr>
          <a:xfrm>
            <a:off x="403197" y="1566041"/>
            <a:ext cx="11435255" cy="4185761"/>
          </a:xfrm>
          <a:prstGeom prst="rect">
            <a:avLst/>
          </a:prstGeom>
          <a:noFill/>
        </p:spPr>
        <p:txBody>
          <a:bodyPr wrap="square" rtlCol="0">
            <a:spAutoFit/>
          </a:bodyPr>
          <a:lstStyle/>
          <a:p>
            <a:pPr marL="285750" indent="-285750">
              <a:buFont typeface="Arial" panose="020B0604020202020204" pitchFamily="34" charset="0"/>
              <a:buChar char="•"/>
            </a:pPr>
            <a:r>
              <a:rPr lang="en-US" b="1" dirty="0"/>
              <a:t>Objective: </a:t>
            </a:r>
            <a:r>
              <a:rPr lang="en-US" dirty="0"/>
              <a:t>Analyze customer behavior, retention, and value.</a:t>
            </a:r>
          </a:p>
          <a:p>
            <a:endParaRPr lang="en-US" dirty="0"/>
          </a:p>
          <a:p>
            <a:pPr marL="285750" indent="-285750">
              <a:buFont typeface="Arial" panose="020B0604020202020204" pitchFamily="34" charset="0"/>
              <a:buChar char="•"/>
            </a:pPr>
            <a:r>
              <a:rPr lang="en-US" b="1" dirty="0"/>
              <a:t>Stakeholders: </a:t>
            </a:r>
            <a:r>
              <a:rPr lang="en-US" dirty="0"/>
              <a:t>Marketing Team, Leadership</a:t>
            </a:r>
          </a:p>
          <a:p>
            <a:endParaRPr lang="en-US" dirty="0"/>
          </a:p>
          <a:p>
            <a:pPr marL="285750" indent="-285750">
              <a:buFont typeface="Arial" panose="020B0604020202020204" pitchFamily="34" charset="0"/>
              <a:buChar char="•"/>
            </a:pPr>
            <a:r>
              <a:rPr lang="en-US" b="1" dirty="0"/>
              <a:t>Business Impact: </a:t>
            </a:r>
            <a:r>
              <a:rPr lang="en-US" dirty="0"/>
              <a:t>Improves retention campaigns, targets high-value customers, reduces churn.</a:t>
            </a:r>
          </a:p>
          <a:p>
            <a:endParaRPr lang="en-US" dirty="0"/>
          </a:p>
          <a:p>
            <a:pPr marL="285750" indent="-285750">
              <a:buFont typeface="Arial" panose="020B0604020202020204" pitchFamily="34" charset="0"/>
              <a:buChar char="•"/>
            </a:pPr>
            <a:r>
              <a:rPr lang="en-US" b="1" dirty="0"/>
              <a:t>Key KPIs (with Calculation Logic):</a:t>
            </a:r>
          </a:p>
          <a:p>
            <a:pPr marL="285750" indent="-285750">
              <a:buFont typeface="Wingdings" panose="05000000000000000000" pitchFamily="2" charset="2"/>
              <a:buChar char="Ø"/>
            </a:pPr>
            <a:r>
              <a:rPr lang="en-US" dirty="0"/>
              <a:t>• Total Customers = COUNT(DISTINCT </a:t>
            </a:r>
            <a:r>
              <a:rPr lang="en-US" dirty="0" err="1"/>
              <a:t>Customer_ID</a:t>
            </a:r>
            <a:r>
              <a:rPr lang="en-US" dirty="0"/>
              <a:t>)</a:t>
            </a:r>
          </a:p>
          <a:p>
            <a:pPr marL="285750" indent="-285750">
              <a:buFont typeface="Wingdings" panose="05000000000000000000" pitchFamily="2" charset="2"/>
              <a:buChar char="Ø"/>
            </a:pPr>
            <a:r>
              <a:rPr lang="en-US" dirty="0"/>
              <a:t>• Repeat Purchase Rate = &gt;1 / Total Customers</a:t>
            </a:r>
          </a:p>
          <a:p>
            <a:pPr marL="285750" indent="-285750">
              <a:buFont typeface="Wingdings" panose="05000000000000000000" pitchFamily="2" charset="2"/>
              <a:buChar char="Ø"/>
            </a:pPr>
            <a:r>
              <a:rPr lang="en-US" dirty="0"/>
              <a:t>• LTV = SUM(</a:t>
            </a:r>
            <a:r>
              <a:rPr lang="en-US" dirty="0" err="1"/>
              <a:t>Total_Amount</a:t>
            </a:r>
            <a:r>
              <a:rPr lang="en-US" dirty="0"/>
              <a:t>) per Customer</a:t>
            </a:r>
          </a:p>
          <a:p>
            <a:pPr marL="285750" indent="-285750">
              <a:buFont typeface="Wingdings" panose="05000000000000000000" pitchFamily="2" charset="2"/>
              <a:buChar char="Ø"/>
            </a:pPr>
            <a:r>
              <a:rPr lang="en-US" dirty="0"/>
              <a:t>• Churn Rate = Inactive(&gt;90 days)/Total Customers</a:t>
            </a:r>
          </a:p>
          <a:p>
            <a:br>
              <a:rPr lang="en-US" dirty="0"/>
            </a:br>
            <a:br>
              <a:rPr lang="en-US" dirty="0"/>
            </a:br>
            <a:endParaRPr lang="en-US" sz="3200" dirty="0"/>
          </a:p>
        </p:txBody>
      </p:sp>
    </p:spTree>
    <p:extLst>
      <p:ext uri="{BB962C8B-B14F-4D97-AF65-F5344CB8AC3E}">
        <p14:creationId xmlns:p14="http://schemas.microsoft.com/office/powerpoint/2010/main" val="3940657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8320" y="274320"/>
            <a:ext cx="2011680" cy="54864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89761" y="320040"/>
            <a:ext cx="1749197" cy="369332"/>
          </a:xfrm>
          <a:prstGeom prst="rect">
            <a:avLst/>
          </a:prstGeom>
          <a:noFill/>
        </p:spPr>
        <p:txBody>
          <a:bodyPr wrap="none">
            <a:spAutoFit/>
          </a:bodyPr>
          <a:lstStyle/>
          <a:p>
            <a:r>
              <a:t>Company Logo</a:t>
            </a:r>
          </a:p>
        </p:txBody>
      </p:sp>
      <p:sp>
        <p:nvSpPr>
          <p:cNvPr id="4" name="Rectangle 3"/>
          <p:cNvSpPr/>
          <p:nvPr/>
        </p:nvSpPr>
        <p:spPr>
          <a:xfrm>
            <a:off x="3810000" y="274320"/>
            <a:ext cx="4572000" cy="54864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492940" y="346725"/>
            <a:ext cx="3480440" cy="369332"/>
          </a:xfrm>
          <a:prstGeom prst="rect">
            <a:avLst/>
          </a:prstGeom>
          <a:noFill/>
        </p:spPr>
        <p:txBody>
          <a:bodyPr wrap="none">
            <a:spAutoFit/>
          </a:bodyPr>
          <a:lstStyle/>
          <a:p>
            <a:pPr>
              <a:defRPr sz="1800" b="1"/>
            </a:pPr>
            <a:r>
              <a:rPr dirty="0"/>
              <a:t>Customer Insights</a:t>
            </a:r>
            <a:r>
              <a:rPr lang="en-US" dirty="0"/>
              <a:t> Dashboard</a:t>
            </a:r>
            <a:endParaRPr dirty="0"/>
          </a:p>
        </p:txBody>
      </p:sp>
      <p:sp>
        <p:nvSpPr>
          <p:cNvPr id="6" name="Rectangle 5"/>
          <p:cNvSpPr/>
          <p:nvPr/>
        </p:nvSpPr>
        <p:spPr>
          <a:xfrm>
            <a:off x="8564880" y="274320"/>
            <a:ext cx="2743200" cy="54864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56320" y="240715"/>
            <a:ext cx="2651760" cy="646331"/>
          </a:xfrm>
          <a:prstGeom prst="rect">
            <a:avLst/>
          </a:prstGeom>
          <a:noFill/>
        </p:spPr>
        <p:txBody>
          <a:bodyPr wrap="square">
            <a:spAutoFit/>
          </a:bodyPr>
          <a:lstStyle/>
          <a:p>
            <a:r>
              <a:rPr dirty="0"/>
              <a:t>Navigation: Home | Next | Previous</a:t>
            </a:r>
          </a:p>
        </p:txBody>
      </p:sp>
      <p:sp>
        <p:nvSpPr>
          <p:cNvPr id="8" name="Rectangle 7"/>
          <p:cNvSpPr/>
          <p:nvPr/>
        </p:nvSpPr>
        <p:spPr>
          <a:xfrm>
            <a:off x="1798320" y="914400"/>
            <a:ext cx="9509760" cy="73152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889760" y="960120"/>
            <a:ext cx="4660250" cy="369332"/>
          </a:xfrm>
          <a:prstGeom prst="rect">
            <a:avLst/>
          </a:prstGeom>
          <a:noFill/>
        </p:spPr>
        <p:txBody>
          <a:bodyPr wrap="none">
            <a:spAutoFit/>
          </a:bodyPr>
          <a:lstStyle/>
          <a:p>
            <a:r>
              <a:t>KPI Example: Repeat Purchase Rate (35%)</a:t>
            </a:r>
          </a:p>
        </p:txBody>
      </p:sp>
      <p:sp>
        <p:nvSpPr>
          <p:cNvPr id="10" name="Rectangle 9"/>
          <p:cNvSpPr/>
          <p:nvPr/>
        </p:nvSpPr>
        <p:spPr>
          <a:xfrm>
            <a:off x="1798320" y="1645920"/>
            <a:ext cx="2286000" cy="320040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89762" y="1737361"/>
            <a:ext cx="2051618" cy="1754326"/>
          </a:xfrm>
          <a:prstGeom prst="rect">
            <a:avLst/>
          </a:prstGeom>
          <a:noFill/>
        </p:spPr>
        <p:txBody>
          <a:bodyPr wrap="square">
            <a:spAutoFit/>
          </a:bodyPr>
          <a:lstStyle/>
          <a:p>
            <a:r>
              <a:rPr dirty="0"/>
              <a:t>Slicer Example:</a:t>
            </a:r>
          </a:p>
          <a:p>
            <a:r>
              <a:rPr dirty="0"/>
              <a:t>• Customer Segment (RFM)</a:t>
            </a:r>
            <a:endParaRPr lang="en-US" dirty="0"/>
          </a:p>
          <a:p>
            <a:pPr marL="285750" indent="-285750">
              <a:buFont typeface="Arial" panose="020B0604020202020204" pitchFamily="34" charset="0"/>
              <a:buChar char="•"/>
            </a:pPr>
            <a:r>
              <a:rPr lang="en-IN" dirty="0"/>
              <a:t>Region</a:t>
            </a:r>
          </a:p>
          <a:p>
            <a:pPr marL="285750" indent="-285750">
              <a:buFont typeface="Arial" panose="020B0604020202020204" pitchFamily="34" charset="0"/>
              <a:buChar char="•"/>
            </a:pPr>
            <a:r>
              <a:rPr lang="en-IN" dirty="0"/>
              <a:t>Months</a:t>
            </a:r>
            <a:endParaRPr lang="en-US" dirty="0"/>
          </a:p>
          <a:p>
            <a:pPr marL="285750" indent="-285750">
              <a:buFont typeface="Arial" panose="020B0604020202020204" pitchFamily="34" charset="0"/>
              <a:buChar char="•"/>
            </a:pPr>
            <a:endParaRPr dirty="0"/>
          </a:p>
        </p:txBody>
      </p:sp>
      <p:sp>
        <p:nvSpPr>
          <p:cNvPr id="12" name="Rectangle 11"/>
          <p:cNvSpPr/>
          <p:nvPr/>
        </p:nvSpPr>
        <p:spPr>
          <a:xfrm>
            <a:off x="4175760" y="1645920"/>
            <a:ext cx="7132320" cy="146304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67200" y="1737361"/>
            <a:ext cx="4535216" cy="1477328"/>
          </a:xfrm>
          <a:prstGeom prst="rect">
            <a:avLst/>
          </a:prstGeom>
          <a:noFill/>
        </p:spPr>
        <p:txBody>
          <a:bodyPr wrap="none">
            <a:spAutoFit/>
          </a:bodyPr>
          <a:lstStyle/>
          <a:p>
            <a:endParaRPr dirty="0"/>
          </a:p>
          <a:p>
            <a:r>
              <a:rPr dirty="0"/>
              <a:t>• New vs Repeat Customers (Donut Chart)</a:t>
            </a:r>
            <a:endParaRPr lang="en-US" dirty="0"/>
          </a:p>
          <a:p>
            <a:endParaRPr lang="en-US" dirty="0"/>
          </a:p>
          <a:p>
            <a:endParaRPr lang="en-US" dirty="0"/>
          </a:p>
          <a:p>
            <a:endParaRPr dirty="0"/>
          </a:p>
        </p:txBody>
      </p:sp>
      <p:sp>
        <p:nvSpPr>
          <p:cNvPr id="14" name="Rectangle 13"/>
          <p:cNvSpPr/>
          <p:nvPr/>
        </p:nvSpPr>
        <p:spPr>
          <a:xfrm>
            <a:off x="4175760" y="3200400"/>
            <a:ext cx="7132320" cy="164592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67200" y="3291841"/>
            <a:ext cx="4300088" cy="646331"/>
          </a:xfrm>
          <a:prstGeom prst="rect">
            <a:avLst/>
          </a:prstGeom>
          <a:noFill/>
        </p:spPr>
        <p:txBody>
          <a:bodyPr wrap="none">
            <a:spAutoFit/>
          </a:bodyPr>
          <a:lstStyle/>
          <a:p>
            <a:endParaRPr dirty="0"/>
          </a:p>
          <a:p>
            <a:r>
              <a:rPr dirty="0"/>
              <a:t>• Customer LTV by Segment (Bar Chart)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634EC-54DF-B6A3-8A56-1E910C171D21}"/>
              </a:ext>
            </a:extLst>
          </p:cNvPr>
          <p:cNvSpPr>
            <a:spLocks noGrp="1"/>
          </p:cNvSpPr>
          <p:nvPr>
            <p:ph type="title"/>
          </p:nvPr>
        </p:nvSpPr>
        <p:spPr>
          <a:xfrm>
            <a:off x="493987" y="399393"/>
            <a:ext cx="10675200" cy="1137600"/>
          </a:xfrm>
        </p:spPr>
        <p:txBody>
          <a:bodyPr/>
          <a:lstStyle/>
          <a:p>
            <a:r>
              <a:rPr lang="en-US" sz="2800" dirty="0">
                <a:solidFill>
                  <a:srgbClr val="00CC99"/>
                </a:solidFill>
              </a:rPr>
              <a:t>Store Level Dashboard</a:t>
            </a:r>
            <a:endParaRPr lang="en-IN" sz="2800" dirty="0">
              <a:solidFill>
                <a:srgbClr val="00CC99"/>
              </a:solidFill>
            </a:endParaRPr>
          </a:p>
        </p:txBody>
      </p:sp>
      <p:sp>
        <p:nvSpPr>
          <p:cNvPr id="3" name="TextBox 2">
            <a:extLst>
              <a:ext uri="{FF2B5EF4-FFF2-40B4-BE49-F238E27FC236}">
                <a16:creationId xmlns:a16="http://schemas.microsoft.com/office/drawing/2014/main" id="{80DA7965-2E1A-5239-253C-C5ED6374078D}"/>
              </a:ext>
            </a:extLst>
          </p:cNvPr>
          <p:cNvSpPr txBox="1"/>
          <p:nvPr/>
        </p:nvSpPr>
        <p:spPr>
          <a:xfrm>
            <a:off x="493987" y="1905506"/>
            <a:ext cx="10962289" cy="3139321"/>
          </a:xfrm>
          <a:prstGeom prst="rect">
            <a:avLst/>
          </a:prstGeom>
          <a:noFill/>
        </p:spPr>
        <p:txBody>
          <a:bodyPr wrap="square" rtlCol="0">
            <a:spAutoFit/>
          </a:bodyPr>
          <a:lstStyle/>
          <a:p>
            <a:pPr marL="285750" indent="-285750">
              <a:buFont typeface="Arial" panose="020B0604020202020204" pitchFamily="34" charset="0"/>
              <a:buChar char="•"/>
            </a:pPr>
            <a:r>
              <a:rPr lang="en-US" b="1" dirty="0"/>
              <a:t>Objective: </a:t>
            </a:r>
            <a:r>
              <a:rPr lang="en-US" dirty="0"/>
              <a:t>Compare store performance on revenue, efficiency, and ratings.</a:t>
            </a:r>
          </a:p>
          <a:p>
            <a:endParaRPr lang="en-US" dirty="0"/>
          </a:p>
          <a:p>
            <a:pPr marL="285750" indent="-285750">
              <a:buFont typeface="Arial" panose="020B0604020202020204" pitchFamily="34" charset="0"/>
              <a:buChar char="•"/>
            </a:pPr>
            <a:r>
              <a:rPr lang="en-US" b="1" dirty="0"/>
              <a:t>Stakeholders: </a:t>
            </a:r>
            <a:r>
              <a:rPr lang="en-US" dirty="0"/>
              <a:t>Operations Team, Store Managers, Leadership</a:t>
            </a:r>
          </a:p>
          <a:p>
            <a:endParaRPr lang="en-US" dirty="0"/>
          </a:p>
          <a:p>
            <a:pPr marL="285750" indent="-285750">
              <a:buFont typeface="Arial" panose="020B0604020202020204" pitchFamily="34" charset="0"/>
              <a:buChar char="•"/>
            </a:pPr>
            <a:r>
              <a:rPr lang="en-US" b="1" dirty="0"/>
              <a:t>Business Impact: </a:t>
            </a:r>
            <a:r>
              <a:rPr lang="en-US" dirty="0"/>
              <a:t>Identifies high-performing stores and areas for improvement.</a:t>
            </a:r>
          </a:p>
          <a:p>
            <a:endParaRPr lang="en-US" dirty="0"/>
          </a:p>
          <a:p>
            <a:pPr marL="285750" indent="-285750">
              <a:buFont typeface="Arial" panose="020B0604020202020204" pitchFamily="34" charset="0"/>
              <a:buChar char="•"/>
            </a:pPr>
            <a:r>
              <a:rPr lang="en-US" b="1" dirty="0"/>
              <a:t>Key KPIs (with Calculation Logic):</a:t>
            </a:r>
          </a:p>
          <a:p>
            <a:pPr marL="285750" indent="-285750">
              <a:buFont typeface="Wingdings" panose="05000000000000000000" pitchFamily="2" charset="2"/>
              <a:buChar char="Ø"/>
            </a:pPr>
            <a:r>
              <a:rPr lang="en-US" dirty="0"/>
              <a:t>Revenue per Store = SUM(</a:t>
            </a:r>
            <a:r>
              <a:rPr lang="en-US" dirty="0" err="1"/>
              <a:t>Total_amount</a:t>
            </a:r>
            <a:r>
              <a:rPr lang="en-US" dirty="0"/>
              <a:t>) by </a:t>
            </a:r>
            <a:r>
              <a:rPr lang="en-US" dirty="0" err="1"/>
              <a:t>Store_ID</a:t>
            </a:r>
            <a:endParaRPr lang="en-US" dirty="0"/>
          </a:p>
          <a:p>
            <a:pPr marL="285750" indent="-285750">
              <a:buFont typeface="Wingdings" panose="05000000000000000000" pitchFamily="2" charset="2"/>
              <a:buChar char="Ø"/>
            </a:pPr>
            <a:r>
              <a:rPr lang="en-US" dirty="0"/>
              <a:t>AOV = SUM(</a:t>
            </a:r>
            <a:r>
              <a:rPr lang="en-US" dirty="0" err="1"/>
              <a:t>Total_amount</a:t>
            </a:r>
            <a:r>
              <a:rPr lang="en-US" dirty="0"/>
              <a:t>)/COUNT(</a:t>
            </a:r>
            <a:r>
              <a:rPr lang="en-US" dirty="0" err="1"/>
              <a:t>Order_ID</a:t>
            </a:r>
            <a:r>
              <a:rPr lang="en-US" dirty="0"/>
              <a:t>) per store</a:t>
            </a:r>
          </a:p>
          <a:p>
            <a:pPr marL="285750" indent="-285750">
              <a:buFont typeface="Wingdings" panose="05000000000000000000" pitchFamily="2" charset="2"/>
              <a:buChar char="Ø"/>
            </a:pPr>
            <a:r>
              <a:rPr lang="en-US" dirty="0"/>
              <a:t> Store Rating = AVG(Customer </a:t>
            </a:r>
            <a:r>
              <a:rPr lang="en-US" dirty="0" err="1"/>
              <a:t>Satisafaction</a:t>
            </a:r>
            <a:r>
              <a:rPr lang="en-US" dirty="0"/>
              <a:t> review Rating) per Store</a:t>
            </a:r>
          </a:p>
          <a:p>
            <a:endParaRPr lang="en-IN" dirty="0"/>
          </a:p>
        </p:txBody>
      </p:sp>
    </p:spTree>
    <p:extLst>
      <p:ext uri="{BB962C8B-B14F-4D97-AF65-F5344CB8AC3E}">
        <p14:creationId xmlns:p14="http://schemas.microsoft.com/office/powerpoint/2010/main" val="3069352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8320" y="274320"/>
            <a:ext cx="2011680" cy="54864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89761" y="320040"/>
            <a:ext cx="1749197" cy="369332"/>
          </a:xfrm>
          <a:prstGeom prst="rect">
            <a:avLst/>
          </a:prstGeom>
          <a:noFill/>
        </p:spPr>
        <p:txBody>
          <a:bodyPr wrap="none">
            <a:spAutoFit/>
          </a:bodyPr>
          <a:lstStyle/>
          <a:p>
            <a:r>
              <a:t>Company Logo</a:t>
            </a:r>
          </a:p>
        </p:txBody>
      </p:sp>
      <p:sp>
        <p:nvSpPr>
          <p:cNvPr id="4" name="Rectangle 3"/>
          <p:cNvSpPr/>
          <p:nvPr/>
        </p:nvSpPr>
        <p:spPr>
          <a:xfrm>
            <a:off x="3810000" y="274320"/>
            <a:ext cx="4572000" cy="54864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03259" y="369491"/>
            <a:ext cx="2313454" cy="369332"/>
          </a:xfrm>
          <a:prstGeom prst="rect">
            <a:avLst/>
          </a:prstGeom>
          <a:noFill/>
        </p:spPr>
        <p:txBody>
          <a:bodyPr wrap="none">
            <a:spAutoFit/>
          </a:bodyPr>
          <a:lstStyle/>
          <a:p>
            <a:pPr>
              <a:defRPr sz="1800" b="1"/>
            </a:pPr>
            <a:r>
              <a:rPr dirty="0"/>
              <a:t>Store Performance</a:t>
            </a:r>
          </a:p>
        </p:txBody>
      </p:sp>
      <p:sp>
        <p:nvSpPr>
          <p:cNvPr id="6" name="Rectangle 5"/>
          <p:cNvSpPr/>
          <p:nvPr/>
        </p:nvSpPr>
        <p:spPr>
          <a:xfrm>
            <a:off x="8564880" y="274320"/>
            <a:ext cx="2743200" cy="54864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56320" y="320040"/>
            <a:ext cx="3765774" cy="369332"/>
          </a:xfrm>
          <a:prstGeom prst="rect">
            <a:avLst/>
          </a:prstGeom>
          <a:noFill/>
        </p:spPr>
        <p:txBody>
          <a:bodyPr wrap="none">
            <a:spAutoFit/>
          </a:bodyPr>
          <a:lstStyle/>
          <a:p>
            <a:r>
              <a:t>Navigation: Home | Next | Previous</a:t>
            </a:r>
          </a:p>
        </p:txBody>
      </p:sp>
      <p:sp>
        <p:nvSpPr>
          <p:cNvPr id="8" name="Rectangle 7"/>
          <p:cNvSpPr/>
          <p:nvPr/>
        </p:nvSpPr>
        <p:spPr>
          <a:xfrm>
            <a:off x="1798320" y="914400"/>
            <a:ext cx="9509760" cy="73152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889760" y="960120"/>
            <a:ext cx="9418320" cy="369332"/>
          </a:xfrm>
          <a:prstGeom prst="rect">
            <a:avLst/>
          </a:prstGeom>
          <a:noFill/>
        </p:spPr>
        <p:txBody>
          <a:bodyPr wrap="square">
            <a:spAutoFit/>
          </a:bodyPr>
          <a:lstStyle/>
          <a:p>
            <a:r>
              <a:rPr dirty="0"/>
              <a:t>KPI </a:t>
            </a:r>
            <a:r>
              <a:rPr lang="en-US" dirty="0"/>
              <a:t>Card</a:t>
            </a:r>
            <a:r>
              <a:rPr dirty="0"/>
              <a:t>: Total Revenue per Store (₹)</a:t>
            </a:r>
            <a:r>
              <a:rPr lang="en-US" dirty="0"/>
              <a:t>, Avg Order Value, Store Ratings</a:t>
            </a:r>
            <a:endParaRPr dirty="0"/>
          </a:p>
        </p:txBody>
      </p:sp>
      <p:sp>
        <p:nvSpPr>
          <p:cNvPr id="10" name="Rectangle 9"/>
          <p:cNvSpPr/>
          <p:nvPr/>
        </p:nvSpPr>
        <p:spPr>
          <a:xfrm>
            <a:off x="1798320" y="1645920"/>
            <a:ext cx="2286000" cy="320040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89760" y="1737361"/>
            <a:ext cx="1787669" cy="1200329"/>
          </a:xfrm>
          <a:prstGeom prst="rect">
            <a:avLst/>
          </a:prstGeom>
          <a:noFill/>
        </p:spPr>
        <p:txBody>
          <a:bodyPr wrap="none">
            <a:spAutoFit/>
          </a:bodyPr>
          <a:lstStyle/>
          <a:p>
            <a:r>
              <a:rPr dirty="0"/>
              <a:t>Slicer Example:</a:t>
            </a:r>
          </a:p>
          <a:p>
            <a:r>
              <a:rPr dirty="0"/>
              <a:t>• </a:t>
            </a:r>
            <a:r>
              <a:rPr lang="en-US" dirty="0"/>
              <a:t>   </a:t>
            </a:r>
            <a:r>
              <a:rPr dirty="0"/>
              <a:t>Region </a:t>
            </a:r>
            <a:endParaRPr lang="en-US" dirty="0"/>
          </a:p>
          <a:p>
            <a:pPr marL="285750" indent="-285750">
              <a:buFont typeface="Arial" panose="020B0604020202020204" pitchFamily="34" charset="0"/>
              <a:buChar char="•"/>
            </a:pPr>
            <a:r>
              <a:rPr dirty="0"/>
              <a:t>City Filter</a:t>
            </a:r>
            <a:endParaRPr lang="en-US" dirty="0"/>
          </a:p>
          <a:p>
            <a:pPr marL="285750" indent="-285750">
              <a:buFont typeface="Arial" panose="020B0604020202020204" pitchFamily="34" charset="0"/>
              <a:buChar char="•"/>
            </a:pPr>
            <a:r>
              <a:rPr lang="en-IN" dirty="0"/>
              <a:t>Months</a:t>
            </a:r>
            <a:endParaRPr dirty="0"/>
          </a:p>
        </p:txBody>
      </p:sp>
      <p:sp>
        <p:nvSpPr>
          <p:cNvPr id="12" name="Rectangle 11"/>
          <p:cNvSpPr/>
          <p:nvPr/>
        </p:nvSpPr>
        <p:spPr>
          <a:xfrm>
            <a:off x="4175760" y="1645920"/>
            <a:ext cx="7132320" cy="146304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67201" y="1737361"/>
            <a:ext cx="3817071" cy="369332"/>
          </a:xfrm>
          <a:prstGeom prst="rect">
            <a:avLst/>
          </a:prstGeom>
          <a:noFill/>
        </p:spPr>
        <p:txBody>
          <a:bodyPr wrap="none">
            <a:spAutoFit/>
          </a:bodyPr>
          <a:lstStyle/>
          <a:p>
            <a:r>
              <a:rPr dirty="0"/>
              <a:t>• Revenue by Store (Column Chart)</a:t>
            </a:r>
          </a:p>
        </p:txBody>
      </p:sp>
      <p:sp>
        <p:nvSpPr>
          <p:cNvPr id="14" name="Rectangle 13"/>
          <p:cNvSpPr/>
          <p:nvPr/>
        </p:nvSpPr>
        <p:spPr>
          <a:xfrm>
            <a:off x="4175760" y="3200400"/>
            <a:ext cx="7132320" cy="164592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67200" y="3291841"/>
            <a:ext cx="2778325" cy="369332"/>
          </a:xfrm>
          <a:prstGeom prst="rect">
            <a:avLst/>
          </a:prstGeom>
          <a:noFill/>
        </p:spPr>
        <p:txBody>
          <a:bodyPr wrap="none">
            <a:spAutoFit/>
          </a:bodyPr>
          <a:lstStyle/>
          <a:p>
            <a:r>
              <a:rPr dirty="0"/>
              <a:t>• Store </a:t>
            </a:r>
            <a:r>
              <a:rPr lang="en-US" dirty="0"/>
              <a:t>profits</a:t>
            </a:r>
            <a:r>
              <a:rPr dirty="0"/>
              <a:t> (Bar Chart)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94B4-2FE4-ADA8-BD07-B1BEEE543CFE}"/>
              </a:ext>
            </a:extLst>
          </p:cNvPr>
          <p:cNvSpPr>
            <a:spLocks noGrp="1"/>
          </p:cNvSpPr>
          <p:nvPr>
            <p:ph type="title"/>
          </p:nvPr>
        </p:nvSpPr>
        <p:spPr>
          <a:xfrm>
            <a:off x="403197" y="273268"/>
            <a:ext cx="10675200" cy="1064028"/>
          </a:xfrm>
        </p:spPr>
        <p:txBody>
          <a:bodyPr/>
          <a:lstStyle/>
          <a:p>
            <a:r>
              <a:rPr lang="en-IN" dirty="0">
                <a:solidFill>
                  <a:srgbClr val="00CC99"/>
                </a:solidFill>
              </a:rPr>
              <a:t>Product &amp; Review Analytics Dashboard</a:t>
            </a:r>
          </a:p>
        </p:txBody>
      </p:sp>
      <p:sp>
        <p:nvSpPr>
          <p:cNvPr id="3" name="TextBox 2">
            <a:extLst>
              <a:ext uri="{FF2B5EF4-FFF2-40B4-BE49-F238E27FC236}">
                <a16:creationId xmlns:a16="http://schemas.microsoft.com/office/drawing/2014/main" id="{E065291A-C1E2-1941-FC9E-4571100EAB72}"/>
              </a:ext>
            </a:extLst>
          </p:cNvPr>
          <p:cNvSpPr txBox="1"/>
          <p:nvPr/>
        </p:nvSpPr>
        <p:spPr>
          <a:xfrm>
            <a:off x="578069" y="1337296"/>
            <a:ext cx="11035862" cy="3416320"/>
          </a:xfrm>
          <a:prstGeom prst="rect">
            <a:avLst/>
          </a:prstGeom>
          <a:noFill/>
        </p:spPr>
        <p:txBody>
          <a:bodyPr wrap="square" rtlCol="0">
            <a:spAutoFit/>
          </a:bodyPr>
          <a:lstStyle/>
          <a:p>
            <a:pPr marL="285750" indent="-285750">
              <a:buFont typeface="Arial" panose="020B0604020202020204" pitchFamily="34" charset="0"/>
              <a:buChar char="•"/>
            </a:pPr>
            <a:r>
              <a:rPr lang="en-US" b="1" dirty="0"/>
              <a:t>Objective: </a:t>
            </a:r>
            <a:r>
              <a:rPr lang="en-US" dirty="0"/>
              <a:t>Evaluate product performance, category contribution, and satisfaction.</a:t>
            </a:r>
          </a:p>
          <a:p>
            <a:endParaRPr lang="en-US" dirty="0"/>
          </a:p>
          <a:p>
            <a:pPr marL="285750" indent="-285750">
              <a:buFont typeface="Arial" panose="020B0604020202020204" pitchFamily="34" charset="0"/>
              <a:buChar char="•"/>
            </a:pPr>
            <a:r>
              <a:rPr lang="en-US" b="1" dirty="0"/>
              <a:t>Stakeholders: </a:t>
            </a:r>
            <a:r>
              <a:rPr lang="en-US" dirty="0"/>
              <a:t>Product Managers, Marketing, Data Analysts</a:t>
            </a:r>
          </a:p>
          <a:p>
            <a:endParaRPr lang="en-US" dirty="0"/>
          </a:p>
          <a:p>
            <a:pPr marL="285750" indent="-285750">
              <a:buFont typeface="Arial" panose="020B0604020202020204" pitchFamily="34" charset="0"/>
              <a:buChar char="•"/>
            </a:pPr>
            <a:r>
              <a:rPr lang="en-US" b="1" dirty="0"/>
              <a:t>Business Impact: </a:t>
            </a:r>
            <a:r>
              <a:rPr lang="en-US" dirty="0"/>
              <a:t>Identifies top products, low-rated items, and supports inventory strategy.</a:t>
            </a:r>
          </a:p>
          <a:p>
            <a:endParaRPr lang="en-US" dirty="0"/>
          </a:p>
          <a:p>
            <a:pPr marL="285750" indent="-285750">
              <a:buFont typeface="Arial" panose="020B0604020202020204" pitchFamily="34" charset="0"/>
              <a:buChar char="•"/>
            </a:pPr>
            <a:r>
              <a:rPr lang="en-US" b="1" dirty="0"/>
              <a:t>Key KPIs (with Calculation Logic):</a:t>
            </a:r>
          </a:p>
          <a:p>
            <a:pPr marL="285750" indent="-285750">
              <a:buFont typeface="Wingdings" panose="05000000000000000000" pitchFamily="2" charset="2"/>
              <a:buChar char="Ø"/>
            </a:pPr>
            <a:r>
              <a:rPr lang="en-US" dirty="0"/>
              <a:t>Top Selling Products = SUM(Quantity) per </a:t>
            </a:r>
            <a:r>
              <a:rPr lang="en-US" dirty="0" err="1"/>
              <a:t>Product_ID</a:t>
            </a:r>
            <a:endParaRPr lang="en-US" dirty="0"/>
          </a:p>
          <a:p>
            <a:pPr marL="285750" indent="-285750">
              <a:buFont typeface="Wingdings" panose="05000000000000000000" pitchFamily="2" charset="2"/>
              <a:buChar char="Ø"/>
            </a:pPr>
            <a:r>
              <a:rPr lang="en-US" dirty="0"/>
              <a:t>Revenue Share % = Product Revenue / Total Revenue * 100</a:t>
            </a:r>
          </a:p>
          <a:p>
            <a:pPr marL="285750" indent="-285750">
              <a:buFont typeface="Wingdings" panose="05000000000000000000" pitchFamily="2" charset="2"/>
              <a:buChar char="Ø"/>
            </a:pPr>
            <a:r>
              <a:rPr lang="en-US" dirty="0"/>
              <a:t>Average Rating = AVG(Rating)</a:t>
            </a:r>
          </a:p>
          <a:p>
            <a:pPr marL="285750" indent="-285750">
              <a:buFont typeface="Wingdings" panose="05000000000000000000" pitchFamily="2" charset="2"/>
              <a:buChar char="Ø"/>
            </a:pPr>
            <a:r>
              <a:rPr lang="en-US" dirty="0"/>
              <a:t>Low Rated % = COUNT(Rating&lt;3)/COUNT(Reviews)*100</a:t>
            </a:r>
          </a:p>
          <a:p>
            <a:endParaRPr lang="en-IN" dirty="0"/>
          </a:p>
        </p:txBody>
      </p:sp>
    </p:spTree>
    <p:extLst>
      <p:ext uri="{BB962C8B-B14F-4D97-AF65-F5344CB8AC3E}">
        <p14:creationId xmlns:p14="http://schemas.microsoft.com/office/powerpoint/2010/main" val="1281424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8320" y="274320"/>
            <a:ext cx="2011680" cy="54864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89761" y="320040"/>
            <a:ext cx="1749197" cy="369332"/>
          </a:xfrm>
          <a:prstGeom prst="rect">
            <a:avLst/>
          </a:prstGeom>
          <a:noFill/>
        </p:spPr>
        <p:txBody>
          <a:bodyPr wrap="none">
            <a:spAutoFit/>
          </a:bodyPr>
          <a:lstStyle/>
          <a:p>
            <a:r>
              <a:t>Company Logo</a:t>
            </a:r>
          </a:p>
        </p:txBody>
      </p:sp>
      <p:sp>
        <p:nvSpPr>
          <p:cNvPr id="4" name="Rectangle 3"/>
          <p:cNvSpPr/>
          <p:nvPr/>
        </p:nvSpPr>
        <p:spPr>
          <a:xfrm>
            <a:off x="3810000" y="274320"/>
            <a:ext cx="4572000" cy="54864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437760" y="352782"/>
            <a:ext cx="3292312" cy="369332"/>
          </a:xfrm>
          <a:prstGeom prst="rect">
            <a:avLst/>
          </a:prstGeom>
          <a:noFill/>
        </p:spPr>
        <p:txBody>
          <a:bodyPr wrap="none">
            <a:spAutoFit/>
          </a:bodyPr>
          <a:lstStyle/>
          <a:p>
            <a:pPr>
              <a:defRPr sz="1800" b="1"/>
            </a:pPr>
            <a:r>
              <a:rPr dirty="0"/>
              <a:t>Product &amp; Review Analytics </a:t>
            </a:r>
          </a:p>
        </p:txBody>
      </p:sp>
      <p:sp>
        <p:nvSpPr>
          <p:cNvPr id="6" name="Rectangle 5"/>
          <p:cNvSpPr/>
          <p:nvPr/>
        </p:nvSpPr>
        <p:spPr>
          <a:xfrm>
            <a:off x="8564880" y="274320"/>
            <a:ext cx="2743200" cy="54864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64880" y="230205"/>
            <a:ext cx="2755037" cy="646331"/>
          </a:xfrm>
          <a:prstGeom prst="rect">
            <a:avLst/>
          </a:prstGeom>
          <a:noFill/>
        </p:spPr>
        <p:txBody>
          <a:bodyPr wrap="square">
            <a:spAutoFit/>
          </a:bodyPr>
          <a:lstStyle/>
          <a:p>
            <a:r>
              <a:rPr dirty="0"/>
              <a:t>Navigation: Home | Next | Previous</a:t>
            </a:r>
          </a:p>
        </p:txBody>
      </p:sp>
      <p:sp>
        <p:nvSpPr>
          <p:cNvPr id="8" name="Rectangle 7"/>
          <p:cNvSpPr/>
          <p:nvPr/>
        </p:nvSpPr>
        <p:spPr>
          <a:xfrm>
            <a:off x="1798320" y="914400"/>
            <a:ext cx="9509760" cy="73152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889760" y="960120"/>
            <a:ext cx="9418319" cy="923330"/>
          </a:xfrm>
          <a:prstGeom prst="rect">
            <a:avLst/>
          </a:prstGeom>
          <a:noFill/>
        </p:spPr>
        <p:txBody>
          <a:bodyPr wrap="square">
            <a:spAutoFit/>
          </a:bodyPr>
          <a:lstStyle/>
          <a:p>
            <a:r>
              <a:rPr dirty="0"/>
              <a:t>KPI</a:t>
            </a:r>
            <a:r>
              <a:rPr lang="en-US" dirty="0"/>
              <a:t>’s</a:t>
            </a:r>
            <a:r>
              <a:rPr dirty="0"/>
              <a:t>: Average Product Rating (4.2★)</a:t>
            </a:r>
            <a:r>
              <a:rPr lang="en-US" dirty="0"/>
              <a:t>, Top Selling Product, Profit Contribution by category</a:t>
            </a:r>
          </a:p>
          <a:p>
            <a:endParaRPr lang="en-US" dirty="0"/>
          </a:p>
          <a:p>
            <a:endParaRPr dirty="0"/>
          </a:p>
        </p:txBody>
      </p:sp>
      <p:sp>
        <p:nvSpPr>
          <p:cNvPr id="10" name="Rectangle 9"/>
          <p:cNvSpPr/>
          <p:nvPr/>
        </p:nvSpPr>
        <p:spPr>
          <a:xfrm>
            <a:off x="1798320" y="1645920"/>
            <a:ext cx="2286000" cy="320040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89761" y="1737361"/>
            <a:ext cx="2188420" cy="1477328"/>
          </a:xfrm>
          <a:prstGeom prst="rect">
            <a:avLst/>
          </a:prstGeom>
          <a:noFill/>
        </p:spPr>
        <p:txBody>
          <a:bodyPr wrap="none">
            <a:spAutoFit/>
          </a:bodyPr>
          <a:lstStyle/>
          <a:p>
            <a:r>
              <a:rPr dirty="0"/>
              <a:t>Slicer Example:</a:t>
            </a:r>
          </a:p>
          <a:p>
            <a:r>
              <a:rPr dirty="0"/>
              <a:t>• Product Category </a:t>
            </a:r>
            <a:endParaRPr lang="en-US" dirty="0"/>
          </a:p>
          <a:p>
            <a:pPr marL="285750" indent="-285750">
              <a:buFont typeface="Arial" panose="020B0604020202020204" pitchFamily="34" charset="0"/>
              <a:buChar char="•"/>
            </a:pPr>
            <a:r>
              <a:rPr lang="en-US" dirty="0"/>
              <a:t>Rating Range</a:t>
            </a:r>
          </a:p>
          <a:p>
            <a:pPr marL="285750" indent="-285750">
              <a:buFont typeface="Arial" panose="020B0604020202020204" pitchFamily="34" charset="0"/>
              <a:buChar char="•"/>
            </a:pPr>
            <a:endParaRPr lang="en-US" dirty="0"/>
          </a:p>
          <a:p>
            <a:endParaRPr dirty="0"/>
          </a:p>
        </p:txBody>
      </p:sp>
      <p:sp>
        <p:nvSpPr>
          <p:cNvPr id="12" name="Rectangle 11"/>
          <p:cNvSpPr/>
          <p:nvPr/>
        </p:nvSpPr>
        <p:spPr>
          <a:xfrm>
            <a:off x="4175760" y="1645920"/>
            <a:ext cx="7132320" cy="146304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67201" y="1737361"/>
            <a:ext cx="3954031" cy="923330"/>
          </a:xfrm>
          <a:prstGeom prst="rect">
            <a:avLst/>
          </a:prstGeom>
          <a:noFill/>
        </p:spPr>
        <p:txBody>
          <a:bodyPr wrap="none">
            <a:spAutoFit/>
          </a:bodyPr>
          <a:lstStyle/>
          <a:p>
            <a:r>
              <a:rPr dirty="0"/>
              <a:t>Top Chart Example:</a:t>
            </a:r>
          </a:p>
          <a:p>
            <a:r>
              <a:rPr dirty="0"/>
              <a:t>• Top </a:t>
            </a:r>
            <a:r>
              <a:rPr lang="en-US" dirty="0"/>
              <a:t>10 </a:t>
            </a:r>
            <a:r>
              <a:rPr dirty="0"/>
              <a:t>Selling Products (Bar Chart)</a:t>
            </a:r>
            <a:endParaRPr lang="en-US" dirty="0"/>
          </a:p>
          <a:p>
            <a:endParaRPr dirty="0"/>
          </a:p>
        </p:txBody>
      </p:sp>
      <p:sp>
        <p:nvSpPr>
          <p:cNvPr id="14" name="Rectangle 13"/>
          <p:cNvSpPr/>
          <p:nvPr/>
        </p:nvSpPr>
        <p:spPr>
          <a:xfrm>
            <a:off x="4175760" y="3200400"/>
            <a:ext cx="7132320" cy="1645920"/>
          </a:xfrm>
          <a:prstGeom prst="rect">
            <a:avLst/>
          </a:prstGeom>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67200" y="3291841"/>
            <a:ext cx="4471160" cy="646331"/>
          </a:xfrm>
          <a:prstGeom prst="rect">
            <a:avLst/>
          </a:prstGeom>
          <a:noFill/>
        </p:spPr>
        <p:txBody>
          <a:bodyPr wrap="none">
            <a:spAutoFit/>
          </a:bodyPr>
          <a:lstStyle/>
          <a:p>
            <a:r>
              <a:t>Bottom Chart Example:</a:t>
            </a:r>
          </a:p>
          <a:p>
            <a:r>
              <a:t>• Category-wise Rating Trend (Line Chart)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444FE9-CFD2-604A-0E58-CDAB26765E0E}"/>
              </a:ext>
            </a:extLst>
          </p:cNvPr>
          <p:cNvSpPr txBox="1"/>
          <p:nvPr/>
        </p:nvSpPr>
        <p:spPr>
          <a:xfrm>
            <a:off x="599440" y="243840"/>
            <a:ext cx="9296400" cy="523220"/>
          </a:xfrm>
          <a:prstGeom prst="rect">
            <a:avLst/>
          </a:prstGeom>
          <a:noFill/>
        </p:spPr>
        <p:txBody>
          <a:bodyPr wrap="square" rtlCol="0">
            <a:spAutoFit/>
          </a:bodyPr>
          <a:lstStyle/>
          <a:p>
            <a:r>
              <a:rPr lang="en-US" sz="2800" dirty="0">
                <a:solidFill>
                  <a:srgbClr val="00CC99"/>
                </a:solidFill>
              </a:rPr>
              <a:t>Exploratory Data Analysis (1/4)</a:t>
            </a:r>
            <a:endParaRPr lang="en-IN" sz="2800" dirty="0">
              <a:solidFill>
                <a:srgbClr val="00CC99"/>
              </a:solidFill>
            </a:endParaRPr>
          </a:p>
        </p:txBody>
      </p:sp>
      <p:graphicFrame>
        <p:nvGraphicFramePr>
          <p:cNvPr id="6" name="Table 5">
            <a:extLst>
              <a:ext uri="{FF2B5EF4-FFF2-40B4-BE49-F238E27FC236}">
                <a16:creationId xmlns:a16="http://schemas.microsoft.com/office/drawing/2014/main" id="{19051F7E-F37D-C0B7-5DC8-24D60E7223C7}"/>
              </a:ext>
            </a:extLst>
          </p:cNvPr>
          <p:cNvGraphicFramePr>
            <a:graphicFrameLocks noGrp="1"/>
          </p:cNvGraphicFramePr>
          <p:nvPr>
            <p:extLst>
              <p:ext uri="{D42A27DB-BD31-4B8C-83A1-F6EECF244321}">
                <p14:modId xmlns:p14="http://schemas.microsoft.com/office/powerpoint/2010/main" val="921544276"/>
              </p:ext>
            </p:extLst>
          </p:nvPr>
        </p:nvGraphicFramePr>
        <p:xfrm>
          <a:off x="1788160" y="1496968"/>
          <a:ext cx="8107680" cy="4347480"/>
        </p:xfrm>
        <a:graphic>
          <a:graphicData uri="http://schemas.openxmlformats.org/drawingml/2006/table">
            <a:tbl>
              <a:tblPr firstRow="1" bandRow="1">
                <a:tableStyleId>{5C22544A-7EE6-4342-B048-85BDC9FD1C3A}</a:tableStyleId>
              </a:tblPr>
              <a:tblGrid>
                <a:gridCol w="4043680">
                  <a:extLst>
                    <a:ext uri="{9D8B030D-6E8A-4147-A177-3AD203B41FA5}">
                      <a16:colId xmlns:a16="http://schemas.microsoft.com/office/drawing/2014/main" val="99123033"/>
                    </a:ext>
                  </a:extLst>
                </a:gridCol>
                <a:gridCol w="4064000">
                  <a:extLst>
                    <a:ext uri="{9D8B030D-6E8A-4147-A177-3AD203B41FA5}">
                      <a16:colId xmlns:a16="http://schemas.microsoft.com/office/drawing/2014/main" val="2331539556"/>
                    </a:ext>
                  </a:extLst>
                </a:gridCol>
              </a:tblGrid>
              <a:tr h="434748">
                <a:tc>
                  <a:txBody>
                    <a:bodyPr/>
                    <a:lstStyle/>
                    <a:p>
                      <a:pPr algn="ctr"/>
                      <a:r>
                        <a:rPr lang="en-US" dirty="0"/>
                        <a:t> </a:t>
                      </a:r>
                      <a:r>
                        <a:rPr lang="en-US" dirty="0">
                          <a:solidFill>
                            <a:schemeClr val="tx1"/>
                          </a:solidFill>
                        </a:rPr>
                        <a:t>Metric</a:t>
                      </a:r>
                      <a:endParaRPr lang="en-IN" dirty="0">
                        <a:solidFill>
                          <a:schemeClr val="tx1"/>
                        </a:solidFill>
                      </a:endParaRPr>
                    </a:p>
                  </a:txBody>
                  <a:tcPr/>
                </a:tc>
                <a:tc>
                  <a:txBody>
                    <a:bodyPr/>
                    <a:lstStyle/>
                    <a:p>
                      <a:pPr algn="ctr"/>
                      <a:r>
                        <a:rPr lang="en-US" dirty="0">
                          <a:solidFill>
                            <a:schemeClr val="tx1"/>
                          </a:solidFill>
                        </a:rPr>
                        <a:t>Value</a:t>
                      </a:r>
                      <a:endParaRPr lang="en-IN" dirty="0">
                        <a:solidFill>
                          <a:schemeClr val="tx1"/>
                        </a:solidFill>
                      </a:endParaRPr>
                    </a:p>
                  </a:txBody>
                  <a:tcPr/>
                </a:tc>
                <a:extLst>
                  <a:ext uri="{0D108BD9-81ED-4DB2-BD59-A6C34878D82A}">
                    <a16:rowId xmlns:a16="http://schemas.microsoft.com/office/drawing/2014/main" val="3401018236"/>
                  </a:ext>
                </a:extLst>
              </a:tr>
              <a:tr h="434748">
                <a:tc>
                  <a:txBody>
                    <a:bodyPr/>
                    <a:lstStyle/>
                    <a:p>
                      <a:pPr algn="ctr"/>
                      <a:r>
                        <a:rPr lang="en-US" dirty="0"/>
                        <a:t>Total Orders</a:t>
                      </a:r>
                      <a:endParaRPr lang="en-IN" dirty="0"/>
                    </a:p>
                  </a:txBody>
                  <a:tcPr/>
                </a:tc>
                <a:tc>
                  <a:txBody>
                    <a:bodyPr/>
                    <a:lstStyle/>
                    <a:p>
                      <a:pPr algn="ctr"/>
                      <a:r>
                        <a:rPr lang="en-US" dirty="0"/>
                        <a:t>98,654</a:t>
                      </a:r>
                      <a:endParaRPr lang="en-IN" dirty="0"/>
                    </a:p>
                  </a:txBody>
                  <a:tcPr/>
                </a:tc>
                <a:extLst>
                  <a:ext uri="{0D108BD9-81ED-4DB2-BD59-A6C34878D82A}">
                    <a16:rowId xmlns:a16="http://schemas.microsoft.com/office/drawing/2014/main" val="3716347007"/>
                  </a:ext>
                </a:extLst>
              </a:tr>
              <a:tr h="434748">
                <a:tc>
                  <a:txBody>
                    <a:bodyPr/>
                    <a:lstStyle/>
                    <a:p>
                      <a:pPr algn="ctr"/>
                      <a:r>
                        <a:rPr lang="en-US" dirty="0"/>
                        <a:t>Average Revenue per order(AOV)</a:t>
                      </a:r>
                      <a:endParaRPr lang="en-IN" dirty="0"/>
                    </a:p>
                  </a:txBody>
                  <a:tcPr/>
                </a:tc>
                <a:tc>
                  <a:txBody>
                    <a:bodyPr/>
                    <a:lstStyle/>
                    <a:p>
                      <a:pPr algn="ctr"/>
                      <a:r>
                        <a:rPr lang="en-US" dirty="0"/>
                        <a:t>165.86</a:t>
                      </a:r>
                      <a:endParaRPr lang="en-IN" dirty="0"/>
                    </a:p>
                  </a:txBody>
                  <a:tcPr/>
                </a:tc>
                <a:extLst>
                  <a:ext uri="{0D108BD9-81ED-4DB2-BD59-A6C34878D82A}">
                    <a16:rowId xmlns:a16="http://schemas.microsoft.com/office/drawing/2014/main" val="4038069529"/>
                  </a:ext>
                </a:extLst>
              </a:tr>
              <a:tr h="434748">
                <a:tc>
                  <a:txBody>
                    <a:bodyPr/>
                    <a:lstStyle/>
                    <a:p>
                      <a:pPr algn="ctr"/>
                      <a:r>
                        <a:rPr lang="en-US" dirty="0"/>
                        <a:t>Average Discount per order</a:t>
                      </a:r>
                      <a:endParaRPr lang="en-IN" dirty="0"/>
                    </a:p>
                  </a:txBody>
                  <a:tcPr/>
                </a:tc>
                <a:tc>
                  <a:txBody>
                    <a:bodyPr/>
                    <a:lstStyle/>
                    <a:p>
                      <a:pPr algn="ctr"/>
                      <a:r>
                        <a:rPr lang="en-US" dirty="0"/>
                        <a:t>5.16</a:t>
                      </a:r>
                      <a:endParaRPr lang="en-IN" dirty="0"/>
                    </a:p>
                  </a:txBody>
                  <a:tcPr/>
                </a:tc>
                <a:extLst>
                  <a:ext uri="{0D108BD9-81ED-4DB2-BD59-A6C34878D82A}">
                    <a16:rowId xmlns:a16="http://schemas.microsoft.com/office/drawing/2014/main" val="3521451237"/>
                  </a:ext>
                </a:extLst>
              </a:tr>
              <a:tr h="434748">
                <a:tc>
                  <a:txBody>
                    <a:bodyPr/>
                    <a:lstStyle/>
                    <a:p>
                      <a:pPr algn="ctr"/>
                      <a:r>
                        <a:rPr lang="en-US" dirty="0"/>
                        <a:t>Average Profit per order</a:t>
                      </a:r>
                      <a:endParaRPr lang="en-IN" dirty="0"/>
                    </a:p>
                  </a:txBody>
                  <a:tcPr/>
                </a:tc>
                <a:tc>
                  <a:txBody>
                    <a:bodyPr/>
                    <a:lstStyle/>
                    <a:p>
                      <a:pPr algn="ctr"/>
                      <a:r>
                        <a:rPr lang="en-IN" dirty="0"/>
                        <a:t>36.64</a:t>
                      </a:r>
                    </a:p>
                  </a:txBody>
                  <a:tcPr/>
                </a:tc>
                <a:extLst>
                  <a:ext uri="{0D108BD9-81ED-4DB2-BD59-A6C34878D82A}">
                    <a16:rowId xmlns:a16="http://schemas.microsoft.com/office/drawing/2014/main" val="2212059589"/>
                  </a:ext>
                </a:extLst>
              </a:tr>
              <a:tr h="434748">
                <a:tc>
                  <a:txBody>
                    <a:bodyPr/>
                    <a:lstStyle/>
                    <a:p>
                      <a:pPr algn="ctr"/>
                      <a:r>
                        <a:rPr lang="en-US" dirty="0"/>
                        <a:t>Revenue Std Dev order wise</a:t>
                      </a:r>
                      <a:endParaRPr lang="en-IN" dirty="0"/>
                    </a:p>
                  </a:txBody>
                  <a:tcPr/>
                </a:tc>
                <a:tc>
                  <a:txBody>
                    <a:bodyPr/>
                    <a:lstStyle/>
                    <a:p>
                      <a:pPr algn="ctr"/>
                      <a:r>
                        <a:rPr lang="en-US" dirty="0"/>
                        <a:t>235.08</a:t>
                      </a:r>
                      <a:endParaRPr lang="en-IN" dirty="0"/>
                    </a:p>
                  </a:txBody>
                  <a:tcPr/>
                </a:tc>
                <a:extLst>
                  <a:ext uri="{0D108BD9-81ED-4DB2-BD59-A6C34878D82A}">
                    <a16:rowId xmlns:a16="http://schemas.microsoft.com/office/drawing/2014/main" val="3720917416"/>
                  </a:ext>
                </a:extLst>
              </a:tr>
              <a:tr h="434748">
                <a:tc>
                  <a:txBody>
                    <a:bodyPr/>
                    <a:lstStyle/>
                    <a:p>
                      <a:pPr algn="ctr"/>
                      <a:r>
                        <a:rPr lang="en-US" dirty="0"/>
                        <a:t>Average Quantity per order</a:t>
                      </a:r>
                      <a:endParaRPr lang="en-IN" dirty="0"/>
                    </a:p>
                  </a:txBody>
                  <a:tcPr/>
                </a:tc>
                <a:tc>
                  <a:txBody>
                    <a:bodyPr/>
                    <a:lstStyle/>
                    <a:p>
                      <a:pPr algn="ctr"/>
                      <a:r>
                        <a:rPr lang="en-US" dirty="0"/>
                        <a:t>1.20</a:t>
                      </a:r>
                      <a:endParaRPr lang="en-IN" dirty="0"/>
                    </a:p>
                  </a:txBody>
                  <a:tcPr/>
                </a:tc>
                <a:extLst>
                  <a:ext uri="{0D108BD9-81ED-4DB2-BD59-A6C34878D82A}">
                    <a16:rowId xmlns:a16="http://schemas.microsoft.com/office/drawing/2014/main" val="1490880826"/>
                  </a:ext>
                </a:extLst>
              </a:tr>
              <a:tr h="434748">
                <a:tc>
                  <a:txBody>
                    <a:bodyPr/>
                    <a:lstStyle/>
                    <a:p>
                      <a:pPr algn="ctr"/>
                      <a:r>
                        <a:rPr lang="en-US" dirty="0"/>
                        <a:t>Average Categories per order</a:t>
                      </a:r>
                      <a:endParaRPr lang="en-IN" dirty="0"/>
                    </a:p>
                  </a:txBody>
                  <a:tcPr/>
                </a:tc>
                <a:tc>
                  <a:txBody>
                    <a:bodyPr/>
                    <a:lstStyle/>
                    <a:p>
                      <a:pPr algn="ctr"/>
                      <a:r>
                        <a:rPr lang="en-IN" dirty="0"/>
                        <a:t>1.007379</a:t>
                      </a:r>
                    </a:p>
                  </a:txBody>
                  <a:tcPr/>
                </a:tc>
                <a:extLst>
                  <a:ext uri="{0D108BD9-81ED-4DB2-BD59-A6C34878D82A}">
                    <a16:rowId xmlns:a16="http://schemas.microsoft.com/office/drawing/2014/main" val="2718223404"/>
                  </a:ext>
                </a:extLst>
              </a:tr>
              <a:tr h="434748">
                <a:tc>
                  <a:txBody>
                    <a:bodyPr/>
                    <a:lstStyle/>
                    <a:p>
                      <a:pPr algn="ctr"/>
                      <a:r>
                        <a:rPr lang="en-US" dirty="0"/>
                        <a:t>Order Channels</a:t>
                      </a:r>
                      <a:endParaRPr lang="en-IN" dirty="0"/>
                    </a:p>
                  </a:txBody>
                  <a:tcPr/>
                </a:tc>
                <a:tc>
                  <a:txBody>
                    <a:bodyPr/>
                    <a:lstStyle/>
                    <a:p>
                      <a:pPr algn="ctr"/>
                      <a:r>
                        <a:rPr lang="en-US" dirty="0"/>
                        <a:t>3</a:t>
                      </a:r>
                      <a:endParaRPr lang="en-IN" dirty="0"/>
                    </a:p>
                  </a:txBody>
                  <a:tcPr/>
                </a:tc>
                <a:extLst>
                  <a:ext uri="{0D108BD9-81ED-4DB2-BD59-A6C34878D82A}">
                    <a16:rowId xmlns:a16="http://schemas.microsoft.com/office/drawing/2014/main" val="1640382885"/>
                  </a:ext>
                </a:extLst>
              </a:tr>
              <a:tr h="434748">
                <a:tc>
                  <a:txBody>
                    <a:bodyPr/>
                    <a:lstStyle/>
                    <a:p>
                      <a:pPr algn="ctr"/>
                      <a:r>
                        <a:rPr lang="en-US" dirty="0"/>
                        <a:t>Median Order Revenue</a:t>
                      </a:r>
                      <a:endParaRPr lang="en-IN" dirty="0"/>
                    </a:p>
                  </a:txBody>
                  <a:tcPr/>
                </a:tc>
                <a:tc>
                  <a:txBody>
                    <a:bodyPr/>
                    <a:lstStyle/>
                    <a:p>
                      <a:pPr algn="ctr"/>
                      <a:r>
                        <a:rPr lang="en-US" dirty="0"/>
                        <a:t>106.16</a:t>
                      </a:r>
                      <a:endParaRPr lang="en-IN" dirty="0"/>
                    </a:p>
                  </a:txBody>
                  <a:tcPr/>
                </a:tc>
                <a:extLst>
                  <a:ext uri="{0D108BD9-81ED-4DB2-BD59-A6C34878D82A}">
                    <a16:rowId xmlns:a16="http://schemas.microsoft.com/office/drawing/2014/main" val="1167027918"/>
                  </a:ext>
                </a:extLst>
              </a:tr>
            </a:tbl>
          </a:graphicData>
        </a:graphic>
      </p:graphicFrame>
      <p:sp>
        <p:nvSpPr>
          <p:cNvPr id="7" name="TextBox 6">
            <a:extLst>
              <a:ext uri="{FF2B5EF4-FFF2-40B4-BE49-F238E27FC236}">
                <a16:creationId xmlns:a16="http://schemas.microsoft.com/office/drawing/2014/main" id="{93140AFA-99AC-F83B-9538-766356848B59}"/>
              </a:ext>
            </a:extLst>
          </p:cNvPr>
          <p:cNvSpPr txBox="1"/>
          <p:nvPr/>
        </p:nvSpPr>
        <p:spPr>
          <a:xfrm>
            <a:off x="1198880" y="995680"/>
            <a:ext cx="8595360"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Order Level Metrics</a:t>
            </a:r>
            <a:endParaRPr lang="en-IN" b="1" dirty="0"/>
          </a:p>
        </p:txBody>
      </p:sp>
    </p:spTree>
    <p:extLst>
      <p:ext uri="{BB962C8B-B14F-4D97-AF65-F5344CB8AC3E}">
        <p14:creationId xmlns:p14="http://schemas.microsoft.com/office/powerpoint/2010/main" val="62976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A6ED7C8-0514-2A59-D5E8-00136E971665}"/>
              </a:ext>
            </a:extLst>
          </p:cNvPr>
          <p:cNvSpPr txBox="1"/>
          <p:nvPr/>
        </p:nvSpPr>
        <p:spPr>
          <a:xfrm>
            <a:off x="386080" y="294640"/>
            <a:ext cx="9743440" cy="800219"/>
          </a:xfrm>
          <a:prstGeom prst="rect">
            <a:avLst/>
          </a:prstGeom>
          <a:noFill/>
        </p:spPr>
        <p:txBody>
          <a:bodyPr wrap="square" rtlCol="0">
            <a:spAutoFit/>
          </a:bodyPr>
          <a:lstStyle/>
          <a:p>
            <a:r>
              <a:rPr lang="en-US" sz="2800" dirty="0">
                <a:solidFill>
                  <a:srgbClr val="00CC99"/>
                </a:solidFill>
              </a:rPr>
              <a:t>Exploratory Data Analysis (2/4)</a:t>
            </a:r>
            <a:endParaRPr lang="en-IN" sz="2800" dirty="0">
              <a:solidFill>
                <a:srgbClr val="00CC99"/>
              </a:solidFill>
            </a:endParaRPr>
          </a:p>
          <a:p>
            <a:endParaRPr lang="en-IN" dirty="0"/>
          </a:p>
        </p:txBody>
      </p:sp>
      <p:graphicFrame>
        <p:nvGraphicFramePr>
          <p:cNvPr id="6" name="Table 5">
            <a:extLst>
              <a:ext uri="{FF2B5EF4-FFF2-40B4-BE49-F238E27FC236}">
                <a16:creationId xmlns:a16="http://schemas.microsoft.com/office/drawing/2014/main" id="{4C902975-A3FC-04E6-4EF4-9480CD2E8376}"/>
              </a:ext>
            </a:extLst>
          </p:cNvPr>
          <p:cNvGraphicFramePr>
            <a:graphicFrameLocks noGrp="1"/>
          </p:cNvGraphicFramePr>
          <p:nvPr>
            <p:extLst>
              <p:ext uri="{D42A27DB-BD31-4B8C-83A1-F6EECF244321}">
                <p14:modId xmlns:p14="http://schemas.microsoft.com/office/powerpoint/2010/main" val="2522723166"/>
              </p:ext>
            </p:extLst>
          </p:nvPr>
        </p:nvGraphicFramePr>
        <p:xfrm>
          <a:off x="1584960" y="1464191"/>
          <a:ext cx="8818880" cy="4511808"/>
        </p:xfrm>
        <a:graphic>
          <a:graphicData uri="http://schemas.openxmlformats.org/drawingml/2006/table">
            <a:tbl>
              <a:tblPr firstRow="1" bandRow="1">
                <a:tableStyleId>{5C22544A-7EE6-4342-B048-85BDC9FD1C3A}</a:tableStyleId>
              </a:tblPr>
              <a:tblGrid>
                <a:gridCol w="4332275">
                  <a:extLst>
                    <a:ext uri="{9D8B030D-6E8A-4147-A177-3AD203B41FA5}">
                      <a16:colId xmlns:a16="http://schemas.microsoft.com/office/drawing/2014/main" val="413222589"/>
                    </a:ext>
                  </a:extLst>
                </a:gridCol>
                <a:gridCol w="4486605">
                  <a:extLst>
                    <a:ext uri="{9D8B030D-6E8A-4147-A177-3AD203B41FA5}">
                      <a16:colId xmlns:a16="http://schemas.microsoft.com/office/drawing/2014/main" val="900491089"/>
                    </a:ext>
                  </a:extLst>
                </a:gridCol>
              </a:tblGrid>
              <a:tr h="310781">
                <a:tc>
                  <a:txBody>
                    <a:bodyPr/>
                    <a:lstStyle/>
                    <a:p>
                      <a:pPr algn="ctr"/>
                      <a:r>
                        <a:rPr lang="en-US" dirty="0">
                          <a:solidFill>
                            <a:schemeClr val="tx1"/>
                          </a:solidFill>
                        </a:rPr>
                        <a:t>Metrics</a:t>
                      </a:r>
                      <a:endParaRPr lang="en-IN" dirty="0">
                        <a:solidFill>
                          <a:schemeClr val="tx1"/>
                        </a:solidFill>
                      </a:endParaRPr>
                    </a:p>
                  </a:txBody>
                  <a:tcPr/>
                </a:tc>
                <a:tc>
                  <a:txBody>
                    <a:bodyPr/>
                    <a:lstStyle/>
                    <a:p>
                      <a:pPr algn="ctr"/>
                      <a:r>
                        <a:rPr lang="en-US" dirty="0">
                          <a:solidFill>
                            <a:schemeClr val="tx1"/>
                          </a:solidFill>
                        </a:rPr>
                        <a:t>Value</a:t>
                      </a:r>
                      <a:endParaRPr lang="en-IN" dirty="0">
                        <a:solidFill>
                          <a:schemeClr val="tx1"/>
                        </a:solidFill>
                      </a:endParaRPr>
                    </a:p>
                  </a:txBody>
                  <a:tcPr/>
                </a:tc>
                <a:extLst>
                  <a:ext uri="{0D108BD9-81ED-4DB2-BD59-A6C34878D82A}">
                    <a16:rowId xmlns:a16="http://schemas.microsoft.com/office/drawing/2014/main" val="3483532538"/>
                  </a:ext>
                </a:extLst>
              </a:tr>
              <a:tr h="310781">
                <a:tc>
                  <a:txBody>
                    <a:bodyPr/>
                    <a:lstStyle/>
                    <a:p>
                      <a:pPr algn="ctr"/>
                      <a:r>
                        <a:rPr lang="en-US" dirty="0">
                          <a:solidFill>
                            <a:schemeClr val="tx1"/>
                          </a:solidFill>
                        </a:rPr>
                        <a:t>No. of Customers</a:t>
                      </a:r>
                      <a:endParaRPr lang="en-IN" dirty="0">
                        <a:solidFill>
                          <a:schemeClr val="tx1"/>
                        </a:solidFill>
                      </a:endParaRPr>
                    </a:p>
                  </a:txBody>
                  <a:tcPr/>
                </a:tc>
                <a:tc>
                  <a:txBody>
                    <a:bodyPr/>
                    <a:lstStyle/>
                    <a:p>
                      <a:pPr algn="ctr"/>
                      <a:r>
                        <a:rPr lang="en-US" dirty="0">
                          <a:solidFill>
                            <a:schemeClr val="tx1"/>
                          </a:solidFill>
                        </a:rPr>
                        <a:t>98563</a:t>
                      </a:r>
                      <a:endParaRPr lang="en-IN" dirty="0">
                        <a:solidFill>
                          <a:schemeClr val="tx1"/>
                        </a:solidFill>
                      </a:endParaRPr>
                    </a:p>
                  </a:txBody>
                  <a:tcPr/>
                </a:tc>
                <a:extLst>
                  <a:ext uri="{0D108BD9-81ED-4DB2-BD59-A6C34878D82A}">
                    <a16:rowId xmlns:a16="http://schemas.microsoft.com/office/drawing/2014/main" val="1318707428"/>
                  </a:ext>
                </a:extLst>
              </a:tr>
              <a:tr h="310781">
                <a:tc>
                  <a:txBody>
                    <a:bodyPr/>
                    <a:lstStyle/>
                    <a:p>
                      <a:pPr algn="ctr"/>
                      <a:r>
                        <a:rPr lang="en-US" dirty="0">
                          <a:solidFill>
                            <a:schemeClr val="tx1"/>
                          </a:solidFill>
                        </a:rPr>
                        <a:t>Average Revenue per Customer(AOV) </a:t>
                      </a:r>
                      <a:endParaRPr lang="en-IN" dirty="0">
                        <a:solidFill>
                          <a:schemeClr val="tx1"/>
                        </a:solidFill>
                      </a:endParaRPr>
                    </a:p>
                  </a:txBody>
                  <a:tcPr/>
                </a:tc>
                <a:tc>
                  <a:txBody>
                    <a:bodyPr/>
                    <a:lstStyle/>
                    <a:p>
                      <a:pPr algn="ctr"/>
                      <a:r>
                        <a:rPr lang="en-US" dirty="0">
                          <a:solidFill>
                            <a:schemeClr val="tx1"/>
                          </a:solidFill>
                        </a:rPr>
                        <a:t>166.01</a:t>
                      </a:r>
                      <a:endParaRPr lang="en-IN" dirty="0">
                        <a:solidFill>
                          <a:schemeClr val="tx1"/>
                        </a:solidFill>
                      </a:endParaRPr>
                    </a:p>
                  </a:txBody>
                  <a:tcPr/>
                </a:tc>
                <a:extLst>
                  <a:ext uri="{0D108BD9-81ED-4DB2-BD59-A6C34878D82A}">
                    <a16:rowId xmlns:a16="http://schemas.microsoft.com/office/drawing/2014/main" val="1416917310"/>
                  </a:ext>
                </a:extLst>
              </a:tr>
              <a:tr h="310781">
                <a:tc>
                  <a:txBody>
                    <a:bodyPr/>
                    <a:lstStyle/>
                    <a:p>
                      <a:pPr algn="ctr"/>
                      <a:r>
                        <a:rPr lang="en-US" dirty="0">
                          <a:solidFill>
                            <a:schemeClr val="tx1"/>
                          </a:solidFill>
                        </a:rPr>
                        <a:t>Average Quantity per Customer</a:t>
                      </a:r>
                      <a:endParaRPr lang="en-IN" dirty="0">
                        <a:solidFill>
                          <a:schemeClr val="tx1"/>
                        </a:solidFill>
                      </a:endParaRPr>
                    </a:p>
                  </a:txBody>
                  <a:tcPr/>
                </a:tc>
                <a:tc>
                  <a:txBody>
                    <a:bodyPr/>
                    <a:lstStyle/>
                    <a:p>
                      <a:pPr algn="ctr"/>
                      <a:r>
                        <a:rPr lang="en-US" dirty="0">
                          <a:solidFill>
                            <a:schemeClr val="tx1"/>
                          </a:solidFill>
                        </a:rPr>
                        <a:t>1.20</a:t>
                      </a:r>
                      <a:endParaRPr lang="en-IN" dirty="0">
                        <a:solidFill>
                          <a:schemeClr val="tx1"/>
                        </a:solidFill>
                      </a:endParaRPr>
                    </a:p>
                  </a:txBody>
                  <a:tcPr/>
                </a:tc>
                <a:extLst>
                  <a:ext uri="{0D108BD9-81ED-4DB2-BD59-A6C34878D82A}">
                    <a16:rowId xmlns:a16="http://schemas.microsoft.com/office/drawing/2014/main" val="2946913217"/>
                  </a:ext>
                </a:extLst>
              </a:tr>
              <a:tr h="310781">
                <a:tc>
                  <a:txBody>
                    <a:bodyPr/>
                    <a:lstStyle/>
                    <a:p>
                      <a:pPr algn="ctr"/>
                      <a:r>
                        <a:rPr lang="en-US" dirty="0">
                          <a:solidFill>
                            <a:schemeClr val="tx1"/>
                          </a:solidFill>
                        </a:rPr>
                        <a:t>Average Orders per Customer </a:t>
                      </a:r>
                      <a:endParaRPr lang="en-IN" dirty="0">
                        <a:solidFill>
                          <a:schemeClr val="tx1"/>
                        </a:solidFill>
                      </a:endParaRPr>
                    </a:p>
                  </a:txBody>
                  <a:tcPr/>
                </a:tc>
                <a:tc>
                  <a:txBody>
                    <a:bodyPr/>
                    <a:lstStyle/>
                    <a:p>
                      <a:pPr algn="ctr"/>
                      <a:r>
                        <a:rPr lang="en-IN" dirty="0">
                          <a:solidFill>
                            <a:schemeClr val="tx1"/>
                          </a:solidFill>
                        </a:rPr>
                        <a:t>1.04</a:t>
                      </a:r>
                    </a:p>
                  </a:txBody>
                  <a:tcPr/>
                </a:tc>
                <a:extLst>
                  <a:ext uri="{0D108BD9-81ED-4DB2-BD59-A6C34878D82A}">
                    <a16:rowId xmlns:a16="http://schemas.microsoft.com/office/drawing/2014/main" val="3787063415"/>
                  </a:ext>
                </a:extLst>
              </a:tr>
              <a:tr h="310781">
                <a:tc>
                  <a:txBody>
                    <a:bodyPr/>
                    <a:lstStyle/>
                    <a:p>
                      <a:pPr algn="ctr"/>
                      <a:r>
                        <a:rPr lang="en-US" dirty="0">
                          <a:solidFill>
                            <a:schemeClr val="tx1"/>
                          </a:solidFill>
                        </a:rPr>
                        <a:t>Average Profit per Customer</a:t>
                      </a:r>
                      <a:endParaRPr lang="en-IN"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1"/>
                          </a:solidFill>
                        </a:rPr>
                        <a:t>36.68</a:t>
                      </a:r>
                    </a:p>
                  </a:txBody>
                  <a:tcPr/>
                </a:tc>
                <a:extLst>
                  <a:ext uri="{0D108BD9-81ED-4DB2-BD59-A6C34878D82A}">
                    <a16:rowId xmlns:a16="http://schemas.microsoft.com/office/drawing/2014/main" val="4156632498"/>
                  </a:ext>
                </a:extLst>
              </a:tr>
              <a:tr h="310781">
                <a:tc>
                  <a:txBody>
                    <a:bodyPr/>
                    <a:lstStyle/>
                    <a:p>
                      <a:pPr algn="ctr"/>
                      <a:r>
                        <a:rPr lang="en-US" dirty="0">
                          <a:solidFill>
                            <a:schemeClr val="tx1"/>
                          </a:solidFill>
                        </a:rPr>
                        <a:t>Average Discount per Customer</a:t>
                      </a:r>
                      <a:endParaRPr lang="en-IN" dirty="0">
                        <a:solidFill>
                          <a:schemeClr val="tx1"/>
                        </a:solidFill>
                      </a:endParaRPr>
                    </a:p>
                  </a:txBody>
                  <a:tcPr/>
                </a:tc>
                <a:tc>
                  <a:txBody>
                    <a:bodyPr/>
                    <a:lstStyle/>
                    <a:p>
                      <a:pPr algn="ctr"/>
                      <a:r>
                        <a:rPr lang="en-US" dirty="0">
                          <a:solidFill>
                            <a:schemeClr val="tx1"/>
                          </a:solidFill>
                        </a:rPr>
                        <a:t>5.17</a:t>
                      </a:r>
                      <a:endParaRPr lang="en-IN" dirty="0">
                        <a:solidFill>
                          <a:schemeClr val="tx1"/>
                        </a:solidFill>
                      </a:endParaRPr>
                    </a:p>
                  </a:txBody>
                  <a:tcPr/>
                </a:tc>
                <a:extLst>
                  <a:ext uri="{0D108BD9-81ED-4DB2-BD59-A6C34878D82A}">
                    <a16:rowId xmlns:a16="http://schemas.microsoft.com/office/drawing/2014/main" val="1578319248"/>
                  </a:ext>
                </a:extLst>
              </a:tr>
              <a:tr h="310781">
                <a:tc>
                  <a:txBody>
                    <a:bodyPr/>
                    <a:lstStyle/>
                    <a:p>
                      <a:pPr algn="ctr"/>
                      <a:r>
                        <a:rPr lang="en-US" dirty="0">
                          <a:solidFill>
                            <a:schemeClr val="tx1"/>
                          </a:solidFill>
                        </a:rPr>
                        <a:t>Customer Genders</a:t>
                      </a:r>
                      <a:endParaRPr lang="en-IN" dirty="0">
                        <a:solidFill>
                          <a:schemeClr val="tx1"/>
                        </a:solidFill>
                      </a:endParaRPr>
                    </a:p>
                  </a:txBody>
                  <a:tcPr/>
                </a:tc>
                <a:tc>
                  <a:txBody>
                    <a:bodyPr/>
                    <a:lstStyle/>
                    <a:p>
                      <a:pPr algn="ctr"/>
                      <a:r>
                        <a:rPr lang="en-US" dirty="0">
                          <a:solidFill>
                            <a:schemeClr val="tx1"/>
                          </a:solidFill>
                        </a:rPr>
                        <a:t>2</a:t>
                      </a:r>
                      <a:endParaRPr lang="en-IN" dirty="0">
                        <a:solidFill>
                          <a:schemeClr val="tx1"/>
                        </a:solidFill>
                      </a:endParaRPr>
                    </a:p>
                  </a:txBody>
                  <a:tcPr/>
                </a:tc>
                <a:extLst>
                  <a:ext uri="{0D108BD9-81ED-4DB2-BD59-A6C34878D82A}">
                    <a16:rowId xmlns:a16="http://schemas.microsoft.com/office/drawing/2014/main" val="3421363212"/>
                  </a:ext>
                </a:extLst>
              </a:tr>
              <a:tr h="310781">
                <a:tc>
                  <a:txBody>
                    <a:bodyPr/>
                    <a:lstStyle/>
                    <a:p>
                      <a:pPr algn="ctr"/>
                      <a:r>
                        <a:rPr lang="en-US" dirty="0">
                          <a:solidFill>
                            <a:schemeClr val="tx1"/>
                          </a:solidFill>
                        </a:rPr>
                        <a:t>Customer State</a:t>
                      </a:r>
                      <a:endParaRPr lang="en-IN" dirty="0">
                        <a:solidFill>
                          <a:schemeClr val="tx1"/>
                        </a:solidFill>
                      </a:endParaRPr>
                    </a:p>
                  </a:txBody>
                  <a:tcPr/>
                </a:tc>
                <a:tc>
                  <a:txBody>
                    <a:bodyPr/>
                    <a:lstStyle/>
                    <a:p>
                      <a:pPr algn="ctr"/>
                      <a:r>
                        <a:rPr lang="en-US" dirty="0">
                          <a:solidFill>
                            <a:schemeClr val="tx1"/>
                          </a:solidFill>
                        </a:rPr>
                        <a:t>20</a:t>
                      </a:r>
                      <a:endParaRPr lang="en-IN" dirty="0">
                        <a:solidFill>
                          <a:schemeClr val="tx1"/>
                        </a:solidFill>
                      </a:endParaRPr>
                    </a:p>
                  </a:txBody>
                  <a:tcPr/>
                </a:tc>
                <a:extLst>
                  <a:ext uri="{0D108BD9-81ED-4DB2-BD59-A6C34878D82A}">
                    <a16:rowId xmlns:a16="http://schemas.microsoft.com/office/drawing/2014/main" val="2382206757"/>
                  </a:ext>
                </a:extLst>
              </a:tr>
              <a:tr h="310781">
                <a:tc>
                  <a:txBody>
                    <a:bodyPr/>
                    <a:lstStyle/>
                    <a:p>
                      <a:pPr algn="ctr"/>
                      <a:r>
                        <a:rPr lang="en-US" dirty="0">
                          <a:solidFill>
                            <a:schemeClr val="tx1"/>
                          </a:solidFill>
                        </a:rPr>
                        <a:t>Customer City</a:t>
                      </a:r>
                      <a:endParaRPr lang="en-IN" dirty="0">
                        <a:solidFill>
                          <a:schemeClr val="tx1"/>
                        </a:solidFill>
                      </a:endParaRPr>
                    </a:p>
                  </a:txBody>
                  <a:tcPr/>
                </a:tc>
                <a:tc>
                  <a:txBody>
                    <a:bodyPr/>
                    <a:lstStyle/>
                    <a:p>
                      <a:pPr algn="ctr"/>
                      <a:r>
                        <a:rPr lang="en-US" dirty="0">
                          <a:solidFill>
                            <a:schemeClr val="tx1"/>
                          </a:solidFill>
                        </a:rPr>
                        <a:t>4110</a:t>
                      </a:r>
                      <a:endParaRPr lang="en-IN" dirty="0">
                        <a:solidFill>
                          <a:schemeClr val="tx1"/>
                        </a:solidFill>
                      </a:endParaRPr>
                    </a:p>
                  </a:txBody>
                  <a:tcPr/>
                </a:tc>
                <a:extLst>
                  <a:ext uri="{0D108BD9-81ED-4DB2-BD59-A6C34878D82A}">
                    <a16:rowId xmlns:a16="http://schemas.microsoft.com/office/drawing/2014/main" val="3040432431"/>
                  </a:ext>
                </a:extLst>
              </a:tr>
              <a:tr h="310781">
                <a:tc>
                  <a:txBody>
                    <a:bodyPr/>
                    <a:lstStyle/>
                    <a:p>
                      <a:pPr algn="ctr"/>
                      <a:r>
                        <a:rPr lang="en-US" dirty="0">
                          <a:solidFill>
                            <a:schemeClr val="tx1"/>
                          </a:solidFill>
                        </a:rPr>
                        <a:t>Repeat Orders Customers</a:t>
                      </a:r>
                      <a:endParaRPr lang="en-IN" dirty="0">
                        <a:solidFill>
                          <a:schemeClr val="tx1"/>
                        </a:solidFill>
                      </a:endParaRPr>
                    </a:p>
                  </a:txBody>
                  <a:tcPr/>
                </a:tc>
                <a:tc>
                  <a:txBody>
                    <a:bodyPr/>
                    <a:lstStyle/>
                    <a:p>
                      <a:pPr algn="ctr"/>
                      <a:r>
                        <a:rPr lang="en-US" dirty="0">
                          <a:solidFill>
                            <a:schemeClr val="tx1"/>
                          </a:solidFill>
                        </a:rPr>
                        <a:t>35 only (0.0355%)</a:t>
                      </a:r>
                      <a:endParaRPr lang="en-IN" dirty="0">
                        <a:solidFill>
                          <a:schemeClr val="tx1"/>
                        </a:solidFill>
                      </a:endParaRPr>
                    </a:p>
                  </a:txBody>
                  <a:tcPr/>
                </a:tc>
                <a:extLst>
                  <a:ext uri="{0D108BD9-81ED-4DB2-BD59-A6C34878D82A}">
                    <a16:rowId xmlns:a16="http://schemas.microsoft.com/office/drawing/2014/main" val="3692822794"/>
                  </a:ext>
                </a:extLst>
              </a:tr>
              <a:tr h="310781">
                <a:tc>
                  <a:txBody>
                    <a:bodyPr/>
                    <a:lstStyle/>
                    <a:p>
                      <a:pPr algn="ctr"/>
                      <a:r>
                        <a:rPr lang="en-US" dirty="0">
                          <a:solidFill>
                            <a:schemeClr val="tx1"/>
                          </a:solidFill>
                        </a:rPr>
                        <a:t>Average tenure between Orders</a:t>
                      </a:r>
                      <a:endParaRPr lang="en-IN" dirty="0">
                        <a:solidFill>
                          <a:schemeClr val="tx1"/>
                        </a:solidFill>
                      </a:endParaRPr>
                    </a:p>
                  </a:txBody>
                  <a:tcPr/>
                </a:tc>
                <a:tc>
                  <a:txBody>
                    <a:bodyPr/>
                    <a:lstStyle/>
                    <a:p>
                      <a:pPr algn="ctr"/>
                      <a:r>
                        <a:rPr lang="en-IN" dirty="0">
                          <a:solidFill>
                            <a:schemeClr val="tx1"/>
                          </a:solidFill>
                        </a:rPr>
                        <a:t>75 days</a:t>
                      </a:r>
                    </a:p>
                  </a:txBody>
                  <a:tcPr/>
                </a:tc>
                <a:extLst>
                  <a:ext uri="{0D108BD9-81ED-4DB2-BD59-A6C34878D82A}">
                    <a16:rowId xmlns:a16="http://schemas.microsoft.com/office/drawing/2014/main" val="2331817961"/>
                  </a:ext>
                </a:extLst>
              </a:tr>
            </a:tbl>
          </a:graphicData>
        </a:graphic>
      </p:graphicFrame>
      <p:sp>
        <p:nvSpPr>
          <p:cNvPr id="7" name="TextBox 6">
            <a:extLst>
              <a:ext uri="{FF2B5EF4-FFF2-40B4-BE49-F238E27FC236}">
                <a16:creationId xmlns:a16="http://schemas.microsoft.com/office/drawing/2014/main" id="{059E36DA-5178-F4FA-9883-0B4FDEA13A10}"/>
              </a:ext>
            </a:extLst>
          </p:cNvPr>
          <p:cNvSpPr txBox="1"/>
          <p:nvPr/>
        </p:nvSpPr>
        <p:spPr>
          <a:xfrm>
            <a:off x="1391920" y="910193"/>
            <a:ext cx="6360160" cy="369332"/>
          </a:xfrm>
          <a:prstGeom prst="rect">
            <a:avLst/>
          </a:prstGeom>
          <a:noFill/>
        </p:spPr>
        <p:txBody>
          <a:bodyPr wrap="square" rtlCol="0">
            <a:spAutoFit/>
          </a:bodyPr>
          <a:lstStyle/>
          <a:p>
            <a:pPr marL="285750" indent="-285750">
              <a:buFont typeface="Arial" panose="020B0604020202020204" pitchFamily="34" charset="0"/>
              <a:buChar char="•"/>
            </a:pPr>
            <a:r>
              <a:rPr lang="en-US" dirty="0"/>
              <a:t>Customer Level Metrics</a:t>
            </a:r>
            <a:endParaRPr lang="en-IN" dirty="0"/>
          </a:p>
        </p:txBody>
      </p:sp>
    </p:spTree>
    <p:extLst>
      <p:ext uri="{BB962C8B-B14F-4D97-AF65-F5344CB8AC3E}">
        <p14:creationId xmlns:p14="http://schemas.microsoft.com/office/powerpoint/2010/main" val="282566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20510D-F444-8AE6-541D-F40CF39DC7DC}"/>
              </a:ext>
            </a:extLst>
          </p:cNvPr>
          <p:cNvSpPr txBox="1"/>
          <p:nvPr/>
        </p:nvSpPr>
        <p:spPr>
          <a:xfrm>
            <a:off x="1524000" y="1166614"/>
            <a:ext cx="6766560" cy="369332"/>
          </a:xfrm>
          <a:prstGeom prst="rect">
            <a:avLst/>
          </a:prstGeom>
          <a:noFill/>
        </p:spPr>
        <p:txBody>
          <a:bodyPr wrap="square" rtlCol="0">
            <a:spAutoFit/>
          </a:bodyPr>
          <a:lstStyle/>
          <a:p>
            <a:pPr marL="285750" indent="-285750">
              <a:buFont typeface="Arial" panose="020B0604020202020204" pitchFamily="34" charset="0"/>
              <a:buChar char="•"/>
            </a:pPr>
            <a:r>
              <a:rPr lang="en-US" dirty="0"/>
              <a:t>Product metrics</a:t>
            </a:r>
            <a:endParaRPr lang="en-IN" dirty="0"/>
          </a:p>
        </p:txBody>
      </p:sp>
      <p:graphicFrame>
        <p:nvGraphicFramePr>
          <p:cNvPr id="4" name="Table 3">
            <a:extLst>
              <a:ext uri="{FF2B5EF4-FFF2-40B4-BE49-F238E27FC236}">
                <a16:creationId xmlns:a16="http://schemas.microsoft.com/office/drawing/2014/main" id="{32861237-B4D3-323D-D7D6-13055C4FDC4E}"/>
              </a:ext>
            </a:extLst>
          </p:cNvPr>
          <p:cNvGraphicFramePr>
            <a:graphicFrameLocks noGrp="1"/>
          </p:cNvGraphicFramePr>
          <p:nvPr>
            <p:extLst>
              <p:ext uri="{D42A27DB-BD31-4B8C-83A1-F6EECF244321}">
                <p14:modId xmlns:p14="http://schemas.microsoft.com/office/powerpoint/2010/main" val="3721135084"/>
              </p:ext>
            </p:extLst>
          </p:nvPr>
        </p:nvGraphicFramePr>
        <p:xfrm>
          <a:off x="1808480" y="1827106"/>
          <a:ext cx="8128000" cy="112795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612393355"/>
                    </a:ext>
                  </a:extLst>
                </a:gridCol>
                <a:gridCol w="4064000">
                  <a:extLst>
                    <a:ext uri="{9D8B030D-6E8A-4147-A177-3AD203B41FA5}">
                      <a16:colId xmlns:a16="http://schemas.microsoft.com/office/drawing/2014/main" val="3715756209"/>
                    </a:ext>
                  </a:extLst>
                </a:gridCol>
              </a:tblGrid>
              <a:tr h="333164">
                <a:tc>
                  <a:txBody>
                    <a:bodyPr/>
                    <a:lstStyle/>
                    <a:p>
                      <a:pPr algn="ctr"/>
                      <a:r>
                        <a:rPr lang="en-US" dirty="0">
                          <a:solidFill>
                            <a:schemeClr val="tx1"/>
                          </a:solidFill>
                        </a:rPr>
                        <a:t>Metric</a:t>
                      </a:r>
                      <a:endParaRPr lang="en-IN" dirty="0">
                        <a:solidFill>
                          <a:schemeClr val="tx1"/>
                        </a:solidFill>
                      </a:endParaRPr>
                    </a:p>
                  </a:txBody>
                  <a:tcPr/>
                </a:tc>
                <a:tc>
                  <a:txBody>
                    <a:bodyPr/>
                    <a:lstStyle/>
                    <a:p>
                      <a:pPr algn="ctr"/>
                      <a:r>
                        <a:rPr lang="en-US" dirty="0">
                          <a:solidFill>
                            <a:schemeClr val="tx1"/>
                          </a:solidFill>
                        </a:rPr>
                        <a:t>Value</a:t>
                      </a:r>
                      <a:endParaRPr lang="en-IN" dirty="0">
                        <a:solidFill>
                          <a:schemeClr val="tx1"/>
                        </a:solidFill>
                      </a:endParaRPr>
                    </a:p>
                  </a:txBody>
                  <a:tcPr/>
                </a:tc>
                <a:extLst>
                  <a:ext uri="{0D108BD9-81ED-4DB2-BD59-A6C34878D82A}">
                    <a16:rowId xmlns:a16="http://schemas.microsoft.com/office/drawing/2014/main" val="2407678704"/>
                  </a:ext>
                </a:extLst>
              </a:tr>
              <a:tr h="333164">
                <a:tc>
                  <a:txBody>
                    <a:bodyPr/>
                    <a:lstStyle/>
                    <a:p>
                      <a:pPr algn="ctr"/>
                      <a:r>
                        <a:rPr lang="en-US" dirty="0">
                          <a:solidFill>
                            <a:schemeClr val="tx1"/>
                          </a:solidFill>
                        </a:rPr>
                        <a:t>Total Products</a:t>
                      </a:r>
                      <a:endParaRPr lang="en-IN" dirty="0">
                        <a:solidFill>
                          <a:schemeClr val="tx1"/>
                        </a:solidFill>
                      </a:endParaRPr>
                    </a:p>
                  </a:txBody>
                  <a:tcPr/>
                </a:tc>
                <a:tc>
                  <a:txBody>
                    <a:bodyPr/>
                    <a:lstStyle/>
                    <a:p>
                      <a:pPr algn="ctr"/>
                      <a:r>
                        <a:rPr lang="en-US" dirty="0">
                          <a:solidFill>
                            <a:schemeClr val="tx1"/>
                          </a:solidFill>
                        </a:rPr>
                        <a:t>32946</a:t>
                      </a:r>
                    </a:p>
                  </a:txBody>
                  <a:tcPr/>
                </a:tc>
                <a:extLst>
                  <a:ext uri="{0D108BD9-81ED-4DB2-BD59-A6C34878D82A}">
                    <a16:rowId xmlns:a16="http://schemas.microsoft.com/office/drawing/2014/main" val="2112994176"/>
                  </a:ext>
                </a:extLst>
              </a:tr>
              <a:tr h="333164">
                <a:tc>
                  <a:txBody>
                    <a:bodyPr/>
                    <a:lstStyle/>
                    <a:p>
                      <a:pPr algn="ctr"/>
                      <a:r>
                        <a:rPr lang="en-US" dirty="0">
                          <a:solidFill>
                            <a:schemeClr val="tx1"/>
                          </a:solidFill>
                        </a:rPr>
                        <a:t>Categories</a:t>
                      </a:r>
                      <a:endParaRPr lang="en-IN" dirty="0">
                        <a:solidFill>
                          <a:schemeClr val="tx1"/>
                        </a:solidFill>
                      </a:endParaRPr>
                    </a:p>
                  </a:txBody>
                  <a:tcPr/>
                </a:tc>
                <a:tc>
                  <a:txBody>
                    <a:bodyPr/>
                    <a:lstStyle/>
                    <a:p>
                      <a:pPr algn="ctr"/>
                      <a:r>
                        <a:rPr lang="en-US" dirty="0">
                          <a:solidFill>
                            <a:schemeClr val="tx1"/>
                          </a:solidFill>
                        </a:rPr>
                        <a:t>14</a:t>
                      </a:r>
                      <a:endParaRPr lang="en-IN" dirty="0">
                        <a:solidFill>
                          <a:schemeClr val="tx1"/>
                        </a:solidFill>
                      </a:endParaRPr>
                    </a:p>
                  </a:txBody>
                  <a:tcPr/>
                </a:tc>
                <a:extLst>
                  <a:ext uri="{0D108BD9-81ED-4DB2-BD59-A6C34878D82A}">
                    <a16:rowId xmlns:a16="http://schemas.microsoft.com/office/drawing/2014/main" val="632681681"/>
                  </a:ext>
                </a:extLst>
              </a:tr>
            </a:tbl>
          </a:graphicData>
        </a:graphic>
      </p:graphicFrame>
      <p:sp>
        <p:nvSpPr>
          <p:cNvPr id="5" name="TextBox 4">
            <a:extLst>
              <a:ext uri="{FF2B5EF4-FFF2-40B4-BE49-F238E27FC236}">
                <a16:creationId xmlns:a16="http://schemas.microsoft.com/office/drawing/2014/main" id="{46FC3F74-5DCA-9CEA-B3D9-DFCBD18D76A6}"/>
              </a:ext>
            </a:extLst>
          </p:cNvPr>
          <p:cNvSpPr txBox="1"/>
          <p:nvPr/>
        </p:nvSpPr>
        <p:spPr>
          <a:xfrm>
            <a:off x="1524000" y="3429000"/>
            <a:ext cx="9503597" cy="369332"/>
          </a:xfrm>
          <a:prstGeom prst="rect">
            <a:avLst/>
          </a:prstGeom>
          <a:noFill/>
        </p:spPr>
        <p:txBody>
          <a:bodyPr wrap="square" rtlCol="0">
            <a:spAutoFit/>
          </a:bodyPr>
          <a:lstStyle/>
          <a:p>
            <a:pPr marL="285750" indent="-285750">
              <a:buFont typeface="Arial" panose="020B0604020202020204" pitchFamily="34" charset="0"/>
              <a:buChar char="•"/>
            </a:pPr>
            <a:r>
              <a:rPr lang="en-US" dirty="0"/>
              <a:t>Store metrics</a:t>
            </a:r>
          </a:p>
        </p:txBody>
      </p:sp>
      <p:graphicFrame>
        <p:nvGraphicFramePr>
          <p:cNvPr id="6" name="Table 5">
            <a:extLst>
              <a:ext uri="{FF2B5EF4-FFF2-40B4-BE49-F238E27FC236}">
                <a16:creationId xmlns:a16="http://schemas.microsoft.com/office/drawing/2014/main" id="{93575029-3E12-6D64-6CEB-FBB921B035D3}"/>
              </a:ext>
            </a:extLst>
          </p:cNvPr>
          <p:cNvGraphicFramePr>
            <a:graphicFrameLocks noGrp="1"/>
          </p:cNvGraphicFramePr>
          <p:nvPr>
            <p:extLst>
              <p:ext uri="{D42A27DB-BD31-4B8C-83A1-F6EECF244321}">
                <p14:modId xmlns:p14="http://schemas.microsoft.com/office/powerpoint/2010/main" val="1175000424"/>
              </p:ext>
            </p:extLst>
          </p:nvPr>
        </p:nvGraphicFramePr>
        <p:xfrm>
          <a:off x="1808480" y="4011506"/>
          <a:ext cx="8128000" cy="1503936"/>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2000332"/>
                    </a:ext>
                  </a:extLst>
                </a:gridCol>
                <a:gridCol w="4064000">
                  <a:extLst>
                    <a:ext uri="{9D8B030D-6E8A-4147-A177-3AD203B41FA5}">
                      <a16:colId xmlns:a16="http://schemas.microsoft.com/office/drawing/2014/main" val="129751812"/>
                    </a:ext>
                  </a:extLst>
                </a:gridCol>
              </a:tblGrid>
              <a:tr h="370840">
                <a:tc>
                  <a:txBody>
                    <a:bodyPr/>
                    <a:lstStyle/>
                    <a:p>
                      <a:pPr algn="ctr"/>
                      <a:r>
                        <a:rPr lang="en-US" dirty="0">
                          <a:solidFill>
                            <a:schemeClr val="tx1"/>
                          </a:solidFill>
                        </a:rPr>
                        <a:t>Metric</a:t>
                      </a:r>
                      <a:endParaRPr lang="en-IN" dirty="0">
                        <a:solidFill>
                          <a:schemeClr val="tx1"/>
                        </a:solidFill>
                      </a:endParaRPr>
                    </a:p>
                  </a:txBody>
                  <a:tcPr/>
                </a:tc>
                <a:tc>
                  <a:txBody>
                    <a:bodyPr/>
                    <a:lstStyle/>
                    <a:p>
                      <a:pPr algn="ctr"/>
                      <a:r>
                        <a:rPr lang="en-US" dirty="0">
                          <a:solidFill>
                            <a:schemeClr val="tx1"/>
                          </a:solidFill>
                        </a:rPr>
                        <a:t>Value</a:t>
                      </a:r>
                      <a:endParaRPr lang="en-IN" dirty="0">
                        <a:solidFill>
                          <a:schemeClr val="tx1"/>
                        </a:solidFill>
                      </a:endParaRPr>
                    </a:p>
                  </a:txBody>
                  <a:tcPr/>
                </a:tc>
                <a:extLst>
                  <a:ext uri="{0D108BD9-81ED-4DB2-BD59-A6C34878D82A}">
                    <a16:rowId xmlns:a16="http://schemas.microsoft.com/office/drawing/2014/main" val="2323079456"/>
                  </a:ext>
                </a:extLst>
              </a:tr>
              <a:tr h="370840">
                <a:tc>
                  <a:txBody>
                    <a:bodyPr/>
                    <a:lstStyle/>
                    <a:p>
                      <a:pPr algn="ctr"/>
                      <a:r>
                        <a:rPr lang="en-US" dirty="0">
                          <a:solidFill>
                            <a:schemeClr val="tx1"/>
                          </a:solidFill>
                        </a:rPr>
                        <a:t>No. of Stores</a:t>
                      </a:r>
                      <a:endParaRPr lang="en-IN" dirty="0">
                        <a:solidFill>
                          <a:schemeClr val="tx1"/>
                        </a:solidFill>
                      </a:endParaRPr>
                    </a:p>
                  </a:txBody>
                  <a:tcPr/>
                </a:tc>
                <a:tc>
                  <a:txBody>
                    <a:bodyPr/>
                    <a:lstStyle/>
                    <a:p>
                      <a:pPr algn="ctr"/>
                      <a:r>
                        <a:rPr lang="en-US" dirty="0">
                          <a:solidFill>
                            <a:schemeClr val="tx1"/>
                          </a:solidFill>
                        </a:rPr>
                        <a:t>37</a:t>
                      </a:r>
                      <a:endParaRPr lang="en-IN" dirty="0">
                        <a:solidFill>
                          <a:schemeClr val="tx1"/>
                        </a:solidFill>
                      </a:endParaRPr>
                    </a:p>
                  </a:txBody>
                  <a:tcPr/>
                </a:tc>
                <a:extLst>
                  <a:ext uri="{0D108BD9-81ED-4DB2-BD59-A6C34878D82A}">
                    <a16:rowId xmlns:a16="http://schemas.microsoft.com/office/drawing/2014/main" val="783674822"/>
                  </a:ext>
                </a:extLst>
              </a:tr>
              <a:tr h="370840">
                <a:tc>
                  <a:txBody>
                    <a:bodyPr/>
                    <a:lstStyle/>
                    <a:p>
                      <a:pPr algn="ctr"/>
                      <a:r>
                        <a:rPr lang="en-US" dirty="0">
                          <a:solidFill>
                            <a:schemeClr val="tx1"/>
                          </a:solidFill>
                        </a:rPr>
                        <a:t>Store States</a:t>
                      </a:r>
                      <a:endParaRPr lang="en-IN" dirty="0">
                        <a:solidFill>
                          <a:schemeClr val="tx1"/>
                        </a:solidFill>
                      </a:endParaRPr>
                    </a:p>
                  </a:txBody>
                  <a:tcPr/>
                </a:tc>
                <a:tc>
                  <a:txBody>
                    <a:bodyPr/>
                    <a:lstStyle/>
                    <a:p>
                      <a:pPr algn="ctr"/>
                      <a:r>
                        <a:rPr lang="en-US" dirty="0">
                          <a:solidFill>
                            <a:schemeClr val="tx1"/>
                          </a:solidFill>
                        </a:rPr>
                        <a:t>7</a:t>
                      </a:r>
                      <a:endParaRPr lang="en-IN" dirty="0">
                        <a:solidFill>
                          <a:schemeClr val="tx1"/>
                        </a:solidFill>
                      </a:endParaRPr>
                    </a:p>
                  </a:txBody>
                  <a:tcPr/>
                </a:tc>
                <a:extLst>
                  <a:ext uri="{0D108BD9-81ED-4DB2-BD59-A6C34878D82A}">
                    <a16:rowId xmlns:a16="http://schemas.microsoft.com/office/drawing/2014/main" val="4038409830"/>
                  </a:ext>
                </a:extLst>
              </a:tr>
              <a:tr h="370840">
                <a:tc>
                  <a:txBody>
                    <a:bodyPr/>
                    <a:lstStyle/>
                    <a:p>
                      <a:pPr algn="ctr"/>
                      <a:r>
                        <a:rPr lang="en-US" dirty="0">
                          <a:solidFill>
                            <a:schemeClr val="tx1"/>
                          </a:solidFill>
                        </a:rPr>
                        <a:t>Number of cities </a:t>
                      </a:r>
                      <a:endParaRPr lang="en-IN" dirty="0">
                        <a:solidFill>
                          <a:schemeClr val="tx1"/>
                        </a:solidFill>
                      </a:endParaRPr>
                    </a:p>
                  </a:txBody>
                  <a:tcPr/>
                </a:tc>
                <a:tc>
                  <a:txBody>
                    <a:bodyPr/>
                    <a:lstStyle/>
                    <a:p>
                      <a:pPr algn="ctr"/>
                      <a:r>
                        <a:rPr lang="en-US" dirty="0">
                          <a:solidFill>
                            <a:schemeClr val="tx1"/>
                          </a:solidFill>
                        </a:rPr>
                        <a:t>37</a:t>
                      </a:r>
                      <a:endParaRPr lang="en-IN" dirty="0">
                        <a:solidFill>
                          <a:schemeClr val="tx1"/>
                        </a:solidFill>
                      </a:endParaRPr>
                    </a:p>
                  </a:txBody>
                  <a:tcPr/>
                </a:tc>
                <a:extLst>
                  <a:ext uri="{0D108BD9-81ED-4DB2-BD59-A6C34878D82A}">
                    <a16:rowId xmlns:a16="http://schemas.microsoft.com/office/drawing/2014/main" val="3939893538"/>
                  </a:ext>
                </a:extLst>
              </a:tr>
            </a:tbl>
          </a:graphicData>
        </a:graphic>
      </p:graphicFrame>
      <p:sp>
        <p:nvSpPr>
          <p:cNvPr id="9" name="TextBox 8">
            <a:extLst>
              <a:ext uri="{FF2B5EF4-FFF2-40B4-BE49-F238E27FC236}">
                <a16:creationId xmlns:a16="http://schemas.microsoft.com/office/drawing/2014/main" id="{3A44168D-D7A7-CE24-53AE-30EE3AF8FC3B}"/>
              </a:ext>
            </a:extLst>
          </p:cNvPr>
          <p:cNvSpPr txBox="1"/>
          <p:nvPr/>
        </p:nvSpPr>
        <p:spPr>
          <a:xfrm>
            <a:off x="640080" y="275197"/>
            <a:ext cx="9503597" cy="523220"/>
          </a:xfrm>
          <a:prstGeom prst="rect">
            <a:avLst/>
          </a:prstGeom>
          <a:noFill/>
        </p:spPr>
        <p:txBody>
          <a:bodyPr wrap="square" rtlCol="0">
            <a:spAutoFit/>
          </a:bodyPr>
          <a:lstStyle/>
          <a:p>
            <a:r>
              <a:rPr lang="en-US" sz="2800" dirty="0">
                <a:solidFill>
                  <a:srgbClr val="00CC99"/>
                </a:solidFill>
              </a:rPr>
              <a:t>Exploratory Data Analysis(3/4)</a:t>
            </a:r>
            <a:endParaRPr lang="en-IN" sz="2800" dirty="0">
              <a:solidFill>
                <a:srgbClr val="00CC99"/>
              </a:solidFill>
            </a:endParaRPr>
          </a:p>
        </p:txBody>
      </p:sp>
    </p:spTree>
    <p:extLst>
      <p:ext uri="{BB962C8B-B14F-4D97-AF65-F5344CB8AC3E}">
        <p14:creationId xmlns:p14="http://schemas.microsoft.com/office/powerpoint/2010/main" val="3956058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4337A4-166E-D991-A4BE-126DBE43680F}"/>
              </a:ext>
            </a:extLst>
          </p:cNvPr>
          <p:cNvSpPr txBox="1"/>
          <p:nvPr/>
        </p:nvSpPr>
        <p:spPr>
          <a:xfrm>
            <a:off x="609600" y="264160"/>
            <a:ext cx="9966960" cy="523220"/>
          </a:xfrm>
          <a:prstGeom prst="rect">
            <a:avLst/>
          </a:prstGeom>
          <a:noFill/>
        </p:spPr>
        <p:txBody>
          <a:bodyPr wrap="square" rtlCol="0">
            <a:spAutoFit/>
          </a:bodyPr>
          <a:lstStyle/>
          <a:p>
            <a:r>
              <a:rPr lang="en-US" sz="2800" dirty="0">
                <a:solidFill>
                  <a:srgbClr val="00CC99"/>
                </a:solidFill>
              </a:rPr>
              <a:t>Exploratory Data Analysis (4/ 4) </a:t>
            </a:r>
            <a:endParaRPr lang="en-IN" sz="2800" dirty="0">
              <a:solidFill>
                <a:srgbClr val="00CC99"/>
              </a:solidFill>
            </a:endParaRPr>
          </a:p>
        </p:txBody>
      </p:sp>
      <p:sp>
        <p:nvSpPr>
          <p:cNvPr id="3" name="TextBox 2">
            <a:extLst>
              <a:ext uri="{FF2B5EF4-FFF2-40B4-BE49-F238E27FC236}">
                <a16:creationId xmlns:a16="http://schemas.microsoft.com/office/drawing/2014/main" id="{AECBFBB3-F1A8-5783-5C13-716F9A831B95}"/>
              </a:ext>
            </a:extLst>
          </p:cNvPr>
          <p:cNvSpPr txBox="1"/>
          <p:nvPr/>
        </p:nvSpPr>
        <p:spPr>
          <a:xfrm>
            <a:off x="1127760" y="1087120"/>
            <a:ext cx="9194800" cy="369332"/>
          </a:xfrm>
          <a:prstGeom prst="rect">
            <a:avLst/>
          </a:prstGeom>
          <a:noFill/>
        </p:spPr>
        <p:txBody>
          <a:bodyPr wrap="square" rtlCol="0">
            <a:spAutoFit/>
          </a:bodyPr>
          <a:lstStyle/>
          <a:p>
            <a:pPr marL="285750" indent="-285750">
              <a:buFont typeface="Arial" panose="020B0604020202020204" pitchFamily="34" charset="0"/>
              <a:buChar char="•"/>
            </a:pPr>
            <a:r>
              <a:rPr lang="en-US" dirty="0"/>
              <a:t>Financial Totals</a:t>
            </a:r>
            <a:endParaRPr lang="en-IN" dirty="0"/>
          </a:p>
        </p:txBody>
      </p:sp>
      <p:graphicFrame>
        <p:nvGraphicFramePr>
          <p:cNvPr id="4" name="Table 3">
            <a:extLst>
              <a:ext uri="{FF2B5EF4-FFF2-40B4-BE49-F238E27FC236}">
                <a16:creationId xmlns:a16="http://schemas.microsoft.com/office/drawing/2014/main" id="{FFB39EE3-0804-3C47-488B-D14A750E8D15}"/>
              </a:ext>
            </a:extLst>
          </p:cNvPr>
          <p:cNvGraphicFramePr>
            <a:graphicFrameLocks noGrp="1"/>
          </p:cNvGraphicFramePr>
          <p:nvPr>
            <p:extLst>
              <p:ext uri="{D42A27DB-BD31-4B8C-83A1-F6EECF244321}">
                <p14:modId xmlns:p14="http://schemas.microsoft.com/office/powerpoint/2010/main" val="3813150091"/>
              </p:ext>
            </p:extLst>
          </p:nvPr>
        </p:nvGraphicFramePr>
        <p:xfrm>
          <a:off x="1615440" y="1754498"/>
          <a:ext cx="8128000" cy="301019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351181073"/>
                    </a:ext>
                  </a:extLst>
                </a:gridCol>
                <a:gridCol w="4064000">
                  <a:extLst>
                    <a:ext uri="{9D8B030D-6E8A-4147-A177-3AD203B41FA5}">
                      <a16:colId xmlns:a16="http://schemas.microsoft.com/office/drawing/2014/main" val="513234217"/>
                    </a:ext>
                  </a:extLst>
                </a:gridCol>
              </a:tblGrid>
              <a:tr h="376274">
                <a:tc>
                  <a:txBody>
                    <a:bodyPr/>
                    <a:lstStyle/>
                    <a:p>
                      <a:pPr algn="ctr"/>
                      <a:r>
                        <a:rPr lang="en-US" dirty="0">
                          <a:solidFill>
                            <a:schemeClr val="tx1"/>
                          </a:solidFill>
                        </a:rPr>
                        <a:t>Metric</a:t>
                      </a:r>
                      <a:endParaRPr lang="en-IN" dirty="0">
                        <a:solidFill>
                          <a:schemeClr val="tx1"/>
                        </a:solidFill>
                      </a:endParaRPr>
                    </a:p>
                  </a:txBody>
                  <a:tcPr/>
                </a:tc>
                <a:tc>
                  <a:txBody>
                    <a:bodyPr/>
                    <a:lstStyle/>
                    <a:p>
                      <a:pPr algn="ctr"/>
                      <a:r>
                        <a:rPr lang="en-US" dirty="0">
                          <a:solidFill>
                            <a:schemeClr val="tx1"/>
                          </a:solidFill>
                        </a:rPr>
                        <a:t>Value</a:t>
                      </a:r>
                      <a:endParaRPr lang="en-IN" dirty="0">
                        <a:solidFill>
                          <a:schemeClr val="tx1"/>
                        </a:solidFill>
                      </a:endParaRPr>
                    </a:p>
                  </a:txBody>
                  <a:tcPr/>
                </a:tc>
                <a:extLst>
                  <a:ext uri="{0D108BD9-81ED-4DB2-BD59-A6C34878D82A}">
                    <a16:rowId xmlns:a16="http://schemas.microsoft.com/office/drawing/2014/main" val="3175643745"/>
                  </a:ext>
                </a:extLst>
              </a:tr>
              <a:tr h="376274">
                <a:tc>
                  <a:txBody>
                    <a:bodyPr/>
                    <a:lstStyle/>
                    <a:p>
                      <a:pPr algn="ctr"/>
                      <a:r>
                        <a:rPr lang="en-US" dirty="0"/>
                        <a:t>Total Revenue</a:t>
                      </a:r>
                      <a:endParaRPr lang="en-IN" dirty="0"/>
                    </a:p>
                  </a:txBody>
                  <a:tcPr/>
                </a:tc>
                <a:tc>
                  <a:txBody>
                    <a:bodyPr/>
                    <a:lstStyle/>
                    <a:p>
                      <a:pPr algn="ctr"/>
                      <a:r>
                        <a:rPr lang="en-IN" dirty="0"/>
                        <a:t>1,63,62,897</a:t>
                      </a:r>
                    </a:p>
                  </a:txBody>
                  <a:tcPr/>
                </a:tc>
                <a:extLst>
                  <a:ext uri="{0D108BD9-81ED-4DB2-BD59-A6C34878D82A}">
                    <a16:rowId xmlns:a16="http://schemas.microsoft.com/office/drawing/2014/main" val="1956563933"/>
                  </a:ext>
                </a:extLst>
              </a:tr>
              <a:tr h="376274">
                <a:tc>
                  <a:txBody>
                    <a:bodyPr/>
                    <a:lstStyle/>
                    <a:p>
                      <a:pPr algn="ctr"/>
                      <a:r>
                        <a:rPr lang="en-US" dirty="0"/>
                        <a:t>Total Cost</a:t>
                      </a:r>
                      <a:endParaRPr lang="en-IN" dirty="0"/>
                    </a:p>
                  </a:txBody>
                  <a:tcPr/>
                </a:tc>
                <a:tc>
                  <a:txBody>
                    <a:bodyPr/>
                    <a:lstStyle/>
                    <a:p>
                      <a:pPr algn="ctr"/>
                      <a:r>
                        <a:rPr lang="en-IN" dirty="0"/>
                        <a:t>1,27,48,010</a:t>
                      </a:r>
                    </a:p>
                  </a:txBody>
                  <a:tcPr/>
                </a:tc>
                <a:extLst>
                  <a:ext uri="{0D108BD9-81ED-4DB2-BD59-A6C34878D82A}">
                    <a16:rowId xmlns:a16="http://schemas.microsoft.com/office/drawing/2014/main" val="203854691"/>
                  </a:ext>
                </a:extLst>
              </a:tr>
              <a:tr h="376274">
                <a:tc>
                  <a:txBody>
                    <a:bodyPr/>
                    <a:lstStyle/>
                    <a:p>
                      <a:pPr algn="ctr"/>
                      <a:r>
                        <a:rPr lang="en-US" dirty="0"/>
                        <a:t>Total Discount</a:t>
                      </a:r>
                      <a:endParaRPr lang="en-IN" dirty="0"/>
                    </a:p>
                  </a:txBody>
                  <a:tcPr/>
                </a:tc>
                <a:tc>
                  <a:txBody>
                    <a:bodyPr/>
                    <a:lstStyle/>
                    <a:p>
                      <a:pPr algn="ctr"/>
                      <a:r>
                        <a:rPr lang="en-IN" dirty="0"/>
                        <a:t>5,09,155</a:t>
                      </a:r>
                    </a:p>
                  </a:txBody>
                  <a:tcPr/>
                </a:tc>
                <a:extLst>
                  <a:ext uri="{0D108BD9-81ED-4DB2-BD59-A6C34878D82A}">
                    <a16:rowId xmlns:a16="http://schemas.microsoft.com/office/drawing/2014/main" val="3509951230"/>
                  </a:ext>
                </a:extLst>
              </a:tr>
              <a:tr h="376274">
                <a:tc>
                  <a:txBody>
                    <a:bodyPr/>
                    <a:lstStyle/>
                    <a:p>
                      <a:pPr algn="ctr"/>
                      <a:r>
                        <a:rPr lang="en-US" dirty="0"/>
                        <a:t>Total Profit</a:t>
                      </a:r>
                      <a:endParaRPr lang="en-IN" dirty="0"/>
                    </a:p>
                  </a:txBody>
                  <a:tcPr/>
                </a:tc>
                <a:tc>
                  <a:txBody>
                    <a:bodyPr/>
                    <a:lstStyle/>
                    <a:p>
                      <a:pPr algn="ctr"/>
                      <a:r>
                        <a:rPr lang="en-IN" dirty="0"/>
                        <a:t>36,14,887</a:t>
                      </a:r>
                    </a:p>
                  </a:txBody>
                  <a:tcPr/>
                </a:tc>
                <a:extLst>
                  <a:ext uri="{0D108BD9-81ED-4DB2-BD59-A6C34878D82A}">
                    <a16:rowId xmlns:a16="http://schemas.microsoft.com/office/drawing/2014/main" val="126585202"/>
                  </a:ext>
                </a:extLst>
              </a:tr>
              <a:tr h="376274">
                <a:tc>
                  <a:txBody>
                    <a:bodyPr/>
                    <a:lstStyle/>
                    <a:p>
                      <a:pPr algn="ctr"/>
                      <a:r>
                        <a:rPr lang="en-US" dirty="0"/>
                        <a:t>Total Quantity Sold</a:t>
                      </a:r>
                      <a:endParaRPr lang="en-IN" dirty="0"/>
                    </a:p>
                  </a:txBody>
                  <a:tcPr/>
                </a:tc>
                <a:tc>
                  <a:txBody>
                    <a:bodyPr/>
                    <a:lstStyle/>
                    <a:p>
                      <a:pPr algn="ctr"/>
                      <a:r>
                        <a:rPr lang="en-US" dirty="0"/>
                        <a:t>117943</a:t>
                      </a:r>
                      <a:endParaRPr lang="en-IN" dirty="0"/>
                    </a:p>
                  </a:txBody>
                  <a:tcPr/>
                </a:tc>
                <a:extLst>
                  <a:ext uri="{0D108BD9-81ED-4DB2-BD59-A6C34878D82A}">
                    <a16:rowId xmlns:a16="http://schemas.microsoft.com/office/drawing/2014/main" val="3925117272"/>
                  </a:ext>
                </a:extLst>
              </a:tr>
              <a:tr h="376274">
                <a:tc>
                  <a:txBody>
                    <a:bodyPr/>
                    <a:lstStyle/>
                    <a:p>
                      <a:pPr algn="ctr"/>
                      <a:r>
                        <a:rPr lang="en-US" dirty="0"/>
                        <a:t>Profit percentage</a:t>
                      </a:r>
                      <a:endParaRPr lang="en-IN" dirty="0"/>
                    </a:p>
                  </a:txBody>
                  <a:tcPr/>
                </a:tc>
                <a:tc>
                  <a:txBody>
                    <a:bodyPr/>
                    <a:lstStyle/>
                    <a:p>
                      <a:pPr algn="ctr"/>
                      <a:r>
                        <a:rPr lang="en-US" dirty="0"/>
                        <a:t>22.10%</a:t>
                      </a:r>
                      <a:endParaRPr lang="en-IN" dirty="0"/>
                    </a:p>
                  </a:txBody>
                  <a:tcPr/>
                </a:tc>
                <a:extLst>
                  <a:ext uri="{0D108BD9-81ED-4DB2-BD59-A6C34878D82A}">
                    <a16:rowId xmlns:a16="http://schemas.microsoft.com/office/drawing/2014/main" val="256661169"/>
                  </a:ext>
                </a:extLst>
              </a:tr>
              <a:tr h="376274">
                <a:tc>
                  <a:txBody>
                    <a:bodyPr/>
                    <a:lstStyle/>
                    <a:p>
                      <a:pPr algn="ctr"/>
                      <a:r>
                        <a:rPr lang="en-US" dirty="0"/>
                        <a:t>Discount Percentage</a:t>
                      </a:r>
                      <a:endParaRPr lang="en-IN" dirty="0"/>
                    </a:p>
                  </a:txBody>
                  <a:tcPr/>
                </a:tc>
                <a:tc>
                  <a:txBody>
                    <a:bodyPr/>
                    <a:lstStyle/>
                    <a:p>
                      <a:pPr algn="ctr"/>
                      <a:r>
                        <a:rPr lang="en-US" dirty="0"/>
                        <a:t>3.11%</a:t>
                      </a:r>
                    </a:p>
                  </a:txBody>
                  <a:tcPr/>
                </a:tc>
                <a:extLst>
                  <a:ext uri="{0D108BD9-81ED-4DB2-BD59-A6C34878D82A}">
                    <a16:rowId xmlns:a16="http://schemas.microsoft.com/office/drawing/2014/main" val="3568098777"/>
                  </a:ext>
                </a:extLst>
              </a:tr>
            </a:tbl>
          </a:graphicData>
        </a:graphic>
      </p:graphicFrame>
    </p:spTree>
    <p:extLst>
      <p:ext uri="{BB962C8B-B14F-4D97-AF65-F5344CB8AC3E}">
        <p14:creationId xmlns:p14="http://schemas.microsoft.com/office/powerpoint/2010/main" val="3338142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903BF1-5152-0F0F-BC7F-27DA89C33A92}"/>
              </a:ext>
            </a:extLst>
          </p:cNvPr>
          <p:cNvSpPr txBox="1"/>
          <p:nvPr/>
        </p:nvSpPr>
        <p:spPr>
          <a:xfrm>
            <a:off x="680720" y="325120"/>
            <a:ext cx="9916160" cy="523220"/>
          </a:xfrm>
          <a:prstGeom prst="rect">
            <a:avLst/>
          </a:prstGeom>
          <a:noFill/>
        </p:spPr>
        <p:txBody>
          <a:bodyPr wrap="square" rtlCol="0">
            <a:spAutoFit/>
          </a:bodyPr>
          <a:lstStyle/>
          <a:p>
            <a:r>
              <a:rPr lang="en-US" sz="2800" dirty="0">
                <a:solidFill>
                  <a:srgbClr val="00CC99"/>
                </a:solidFill>
              </a:rPr>
              <a:t>Customer Level Analysis</a:t>
            </a:r>
            <a:endParaRPr lang="en-IN" sz="2800" dirty="0">
              <a:solidFill>
                <a:srgbClr val="00CC99"/>
              </a:solidFill>
            </a:endParaRPr>
          </a:p>
        </p:txBody>
      </p:sp>
      <p:pic>
        <p:nvPicPr>
          <p:cNvPr id="4" name="Picture 3">
            <a:extLst>
              <a:ext uri="{FF2B5EF4-FFF2-40B4-BE49-F238E27FC236}">
                <a16:creationId xmlns:a16="http://schemas.microsoft.com/office/drawing/2014/main" id="{C78FD921-EA5A-D7B3-E707-D7C50EC4F396}"/>
              </a:ext>
            </a:extLst>
          </p:cNvPr>
          <p:cNvPicPr>
            <a:picLocks noChangeAspect="1"/>
          </p:cNvPicPr>
          <p:nvPr/>
        </p:nvPicPr>
        <p:blipFill>
          <a:blip r:embed="rId2"/>
          <a:stretch>
            <a:fillRect/>
          </a:stretch>
        </p:blipFill>
        <p:spPr>
          <a:xfrm>
            <a:off x="916163" y="1686560"/>
            <a:ext cx="5758957" cy="3901439"/>
          </a:xfrm>
          <a:prstGeom prst="rect">
            <a:avLst/>
          </a:prstGeom>
        </p:spPr>
      </p:pic>
      <p:sp>
        <p:nvSpPr>
          <p:cNvPr id="5" name="TextBox 4">
            <a:extLst>
              <a:ext uri="{FF2B5EF4-FFF2-40B4-BE49-F238E27FC236}">
                <a16:creationId xmlns:a16="http://schemas.microsoft.com/office/drawing/2014/main" id="{10E56715-B02A-698A-F947-9E69E0D17B34}"/>
              </a:ext>
            </a:extLst>
          </p:cNvPr>
          <p:cNvSpPr txBox="1"/>
          <p:nvPr/>
        </p:nvSpPr>
        <p:spPr>
          <a:xfrm>
            <a:off x="6705600" y="1849120"/>
            <a:ext cx="4805680" cy="1200329"/>
          </a:xfrm>
          <a:prstGeom prst="rect">
            <a:avLst/>
          </a:prstGeom>
          <a:noFill/>
        </p:spPr>
        <p:txBody>
          <a:bodyPr wrap="square" rtlCol="0">
            <a:spAutoFit/>
          </a:bodyPr>
          <a:lstStyle/>
          <a:p>
            <a:pPr marL="285750" indent="-285750">
              <a:buFont typeface="Wingdings" panose="05000000000000000000" pitchFamily="2" charset="2"/>
              <a:buChar char="Ø"/>
            </a:pPr>
            <a:r>
              <a:rPr lang="en-US" dirty="0"/>
              <a:t>We can infer from the graph that the Customer base has seen an upward rising trend that is a good indicator of an expanding business.</a:t>
            </a:r>
            <a:endParaRPr lang="en-IN" dirty="0"/>
          </a:p>
        </p:txBody>
      </p:sp>
      <p:sp>
        <p:nvSpPr>
          <p:cNvPr id="6" name="TextBox 5">
            <a:extLst>
              <a:ext uri="{FF2B5EF4-FFF2-40B4-BE49-F238E27FC236}">
                <a16:creationId xmlns:a16="http://schemas.microsoft.com/office/drawing/2014/main" id="{3BCDF4A2-8AE7-BF9D-3E99-C4D907EE8BEA}"/>
              </a:ext>
            </a:extLst>
          </p:cNvPr>
          <p:cNvSpPr txBox="1"/>
          <p:nvPr/>
        </p:nvSpPr>
        <p:spPr>
          <a:xfrm>
            <a:off x="1300480" y="1026160"/>
            <a:ext cx="9499600"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Customer growth Trend</a:t>
            </a:r>
            <a:endParaRPr lang="en-IN" b="1" dirty="0"/>
          </a:p>
        </p:txBody>
      </p:sp>
    </p:spTree>
    <p:extLst>
      <p:ext uri="{BB962C8B-B14F-4D97-AF65-F5344CB8AC3E}">
        <p14:creationId xmlns:p14="http://schemas.microsoft.com/office/powerpoint/2010/main" val="1454850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CD6C85-2B11-AE89-9A80-C7696F4D5DE7}"/>
              </a:ext>
            </a:extLst>
          </p:cNvPr>
          <p:cNvSpPr txBox="1"/>
          <p:nvPr/>
        </p:nvSpPr>
        <p:spPr>
          <a:xfrm>
            <a:off x="680720" y="325120"/>
            <a:ext cx="9916160" cy="523220"/>
          </a:xfrm>
          <a:prstGeom prst="rect">
            <a:avLst/>
          </a:prstGeom>
          <a:noFill/>
        </p:spPr>
        <p:txBody>
          <a:bodyPr wrap="square" rtlCol="0">
            <a:spAutoFit/>
          </a:bodyPr>
          <a:lstStyle/>
          <a:p>
            <a:r>
              <a:rPr lang="en-US" sz="2800" dirty="0">
                <a:solidFill>
                  <a:srgbClr val="00CC99"/>
                </a:solidFill>
              </a:rPr>
              <a:t>Customer Level Analysis</a:t>
            </a:r>
            <a:endParaRPr lang="en-IN" sz="2800" dirty="0">
              <a:solidFill>
                <a:srgbClr val="00CC99"/>
              </a:solidFill>
            </a:endParaRPr>
          </a:p>
        </p:txBody>
      </p:sp>
      <p:sp>
        <p:nvSpPr>
          <p:cNvPr id="8" name="TextBox 7">
            <a:extLst>
              <a:ext uri="{FF2B5EF4-FFF2-40B4-BE49-F238E27FC236}">
                <a16:creationId xmlns:a16="http://schemas.microsoft.com/office/drawing/2014/main" id="{F12DB6BC-3639-423E-2FEB-347EF7E64A6F}"/>
              </a:ext>
            </a:extLst>
          </p:cNvPr>
          <p:cNvSpPr txBox="1"/>
          <p:nvPr/>
        </p:nvSpPr>
        <p:spPr>
          <a:xfrm>
            <a:off x="1249680" y="1148080"/>
            <a:ext cx="9418320"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New Customers by Month</a:t>
            </a:r>
            <a:endParaRPr lang="en-IN" b="1" dirty="0"/>
          </a:p>
        </p:txBody>
      </p:sp>
      <p:sp>
        <p:nvSpPr>
          <p:cNvPr id="9" name="TextBox 8">
            <a:extLst>
              <a:ext uri="{FF2B5EF4-FFF2-40B4-BE49-F238E27FC236}">
                <a16:creationId xmlns:a16="http://schemas.microsoft.com/office/drawing/2014/main" id="{E7F7FD68-1217-3AFF-4A71-F141B9E3F3C3}"/>
              </a:ext>
            </a:extLst>
          </p:cNvPr>
          <p:cNvSpPr txBox="1"/>
          <p:nvPr/>
        </p:nvSpPr>
        <p:spPr>
          <a:xfrm>
            <a:off x="6858000" y="1828800"/>
            <a:ext cx="4307840" cy="2585323"/>
          </a:xfrm>
          <a:prstGeom prst="rect">
            <a:avLst/>
          </a:prstGeom>
          <a:noFill/>
        </p:spPr>
        <p:txBody>
          <a:bodyPr wrap="square" rtlCol="0">
            <a:spAutoFit/>
          </a:bodyPr>
          <a:lstStyle/>
          <a:p>
            <a:pPr marL="285750" indent="-285750">
              <a:buFont typeface="Wingdings" panose="05000000000000000000" pitchFamily="2" charset="2"/>
              <a:buChar char="Ø"/>
            </a:pPr>
            <a:r>
              <a:rPr lang="en-US" dirty="0"/>
              <a:t>We see that most New Customers are onboarded in the months of May, June, July, August.</a:t>
            </a:r>
          </a:p>
          <a:p>
            <a:pPr marL="285750" indent="-285750">
              <a:buFont typeface="Wingdings" panose="05000000000000000000" pitchFamily="2" charset="2"/>
              <a:buChar char="Ø"/>
            </a:pPr>
            <a:r>
              <a:rPr lang="en-US" dirty="0"/>
              <a:t>The trendline suggests that new customers are forthcoming in the initial months of the year. This gives us an opening to look out for onboarding new customers in the latter part of the year.  </a:t>
            </a:r>
            <a:endParaRPr lang="en-IN" dirty="0"/>
          </a:p>
        </p:txBody>
      </p:sp>
      <p:pic>
        <p:nvPicPr>
          <p:cNvPr id="10" name="Picture 9">
            <a:extLst>
              <a:ext uri="{FF2B5EF4-FFF2-40B4-BE49-F238E27FC236}">
                <a16:creationId xmlns:a16="http://schemas.microsoft.com/office/drawing/2014/main" id="{2399260C-AD7D-582F-2C92-4CC8BB326190}"/>
              </a:ext>
            </a:extLst>
          </p:cNvPr>
          <p:cNvPicPr>
            <a:picLocks noChangeAspect="1"/>
          </p:cNvPicPr>
          <p:nvPr/>
        </p:nvPicPr>
        <p:blipFill>
          <a:blip r:embed="rId2"/>
          <a:stretch>
            <a:fillRect/>
          </a:stretch>
        </p:blipFill>
        <p:spPr>
          <a:xfrm>
            <a:off x="1249680" y="1828988"/>
            <a:ext cx="5279594" cy="3511600"/>
          </a:xfrm>
          <a:prstGeom prst="rect">
            <a:avLst/>
          </a:prstGeom>
        </p:spPr>
      </p:pic>
    </p:spTree>
    <p:extLst>
      <p:ext uri="{BB962C8B-B14F-4D97-AF65-F5344CB8AC3E}">
        <p14:creationId xmlns:p14="http://schemas.microsoft.com/office/powerpoint/2010/main" val="3963582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77B47C-40B6-121B-DA31-F702F50010C6}"/>
              </a:ext>
            </a:extLst>
          </p:cNvPr>
          <p:cNvSpPr txBox="1"/>
          <p:nvPr/>
        </p:nvSpPr>
        <p:spPr>
          <a:xfrm>
            <a:off x="680720" y="325120"/>
            <a:ext cx="9916160" cy="523220"/>
          </a:xfrm>
          <a:prstGeom prst="rect">
            <a:avLst/>
          </a:prstGeom>
          <a:noFill/>
        </p:spPr>
        <p:txBody>
          <a:bodyPr wrap="square" rtlCol="0">
            <a:spAutoFit/>
          </a:bodyPr>
          <a:lstStyle/>
          <a:p>
            <a:r>
              <a:rPr lang="en-US" sz="2800" dirty="0">
                <a:solidFill>
                  <a:srgbClr val="00CC99"/>
                </a:solidFill>
              </a:rPr>
              <a:t>Customer Level Analysis</a:t>
            </a:r>
            <a:endParaRPr lang="en-IN" sz="2800" dirty="0">
              <a:solidFill>
                <a:srgbClr val="00CC99"/>
              </a:solidFill>
            </a:endParaRPr>
          </a:p>
        </p:txBody>
      </p:sp>
      <p:sp>
        <p:nvSpPr>
          <p:cNvPr id="5" name="TextBox 4">
            <a:extLst>
              <a:ext uri="{FF2B5EF4-FFF2-40B4-BE49-F238E27FC236}">
                <a16:creationId xmlns:a16="http://schemas.microsoft.com/office/drawing/2014/main" id="{1EFFAE41-1D23-631E-F093-1B147E41939D}"/>
              </a:ext>
            </a:extLst>
          </p:cNvPr>
          <p:cNvSpPr txBox="1"/>
          <p:nvPr/>
        </p:nvSpPr>
        <p:spPr>
          <a:xfrm>
            <a:off x="1432560" y="997802"/>
            <a:ext cx="9062720"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Recency, Frequency and Monetary segmentation</a:t>
            </a:r>
            <a:endParaRPr lang="en-IN" b="1" dirty="0"/>
          </a:p>
        </p:txBody>
      </p:sp>
      <p:pic>
        <p:nvPicPr>
          <p:cNvPr id="12" name="Picture 11">
            <a:extLst>
              <a:ext uri="{FF2B5EF4-FFF2-40B4-BE49-F238E27FC236}">
                <a16:creationId xmlns:a16="http://schemas.microsoft.com/office/drawing/2014/main" id="{CB2C8DA8-3DD2-263F-D345-8BD1470C8051}"/>
              </a:ext>
            </a:extLst>
          </p:cNvPr>
          <p:cNvPicPr>
            <a:picLocks noChangeAspect="1"/>
          </p:cNvPicPr>
          <p:nvPr/>
        </p:nvPicPr>
        <p:blipFill>
          <a:blip r:embed="rId2"/>
          <a:stretch>
            <a:fillRect/>
          </a:stretch>
        </p:blipFill>
        <p:spPr>
          <a:xfrm>
            <a:off x="1196449" y="1802100"/>
            <a:ext cx="4584589" cy="3267739"/>
          </a:xfrm>
          <a:prstGeom prst="rect">
            <a:avLst/>
          </a:prstGeom>
        </p:spPr>
      </p:pic>
      <p:pic>
        <p:nvPicPr>
          <p:cNvPr id="13" name="Picture 12">
            <a:extLst>
              <a:ext uri="{FF2B5EF4-FFF2-40B4-BE49-F238E27FC236}">
                <a16:creationId xmlns:a16="http://schemas.microsoft.com/office/drawing/2014/main" id="{C729B152-EB85-D8BA-ECA9-E0873A61AD00}"/>
              </a:ext>
            </a:extLst>
          </p:cNvPr>
          <p:cNvPicPr>
            <a:picLocks noChangeAspect="1"/>
          </p:cNvPicPr>
          <p:nvPr/>
        </p:nvPicPr>
        <p:blipFill>
          <a:blip r:embed="rId3"/>
          <a:stretch>
            <a:fillRect/>
          </a:stretch>
        </p:blipFill>
        <p:spPr>
          <a:xfrm>
            <a:off x="6258560" y="1802099"/>
            <a:ext cx="4480560" cy="3267740"/>
          </a:xfrm>
          <a:prstGeom prst="rect">
            <a:avLst/>
          </a:prstGeom>
        </p:spPr>
      </p:pic>
    </p:spTree>
    <p:extLst>
      <p:ext uri="{BB962C8B-B14F-4D97-AF65-F5344CB8AC3E}">
        <p14:creationId xmlns:p14="http://schemas.microsoft.com/office/powerpoint/2010/main" val="41783788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0E7DB0-2C0E-8D1C-0A5D-699F17328610}"/>
              </a:ext>
            </a:extLst>
          </p:cNvPr>
          <p:cNvSpPr txBox="1"/>
          <p:nvPr/>
        </p:nvSpPr>
        <p:spPr>
          <a:xfrm>
            <a:off x="812800" y="589280"/>
            <a:ext cx="10200640" cy="2585323"/>
          </a:xfrm>
          <a:prstGeom prst="rect">
            <a:avLst/>
          </a:prstGeom>
          <a:noFill/>
        </p:spPr>
        <p:txBody>
          <a:bodyPr wrap="square" rtlCol="0">
            <a:spAutoFit/>
          </a:bodyPr>
          <a:lstStyle/>
          <a:p>
            <a:pPr marL="285750" indent="-285750">
              <a:buFont typeface="Wingdings" panose="05000000000000000000" pitchFamily="2" charset="2"/>
              <a:buChar char="Ø"/>
            </a:pPr>
            <a:r>
              <a:rPr lang="en-US" dirty="0"/>
              <a:t>We can note that the although the premium customers constitute only 12.21% of total consumers, their contribution to revenue is around 26.36%, so we should adopt some customer retention strategy to attract them through some specific loyalty programs.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 Similarly, there is quite an opportunity for upselling the Standard consumers because them despite being around 4% of the total customers, they contribute less than 1% of the revenue. It opens up huge avenues for upselling.</a:t>
            </a:r>
          </a:p>
          <a:p>
            <a:pPr marL="285750" indent="-285750">
              <a:buFont typeface="Wingdings" panose="05000000000000000000" pitchFamily="2" charset="2"/>
              <a:buChar char="Ø"/>
            </a:pPr>
            <a:endParaRPr lang="en-US"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5995755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3E83E4-1983-8070-8DC3-74D0909D6977}"/>
              </a:ext>
            </a:extLst>
          </p:cNvPr>
          <p:cNvSpPr txBox="1"/>
          <p:nvPr/>
        </p:nvSpPr>
        <p:spPr>
          <a:xfrm>
            <a:off x="680720" y="325120"/>
            <a:ext cx="9916160" cy="523220"/>
          </a:xfrm>
          <a:prstGeom prst="rect">
            <a:avLst/>
          </a:prstGeom>
          <a:noFill/>
        </p:spPr>
        <p:txBody>
          <a:bodyPr wrap="square" rtlCol="0">
            <a:spAutoFit/>
          </a:bodyPr>
          <a:lstStyle/>
          <a:p>
            <a:r>
              <a:rPr lang="en-US" sz="2800" dirty="0">
                <a:solidFill>
                  <a:srgbClr val="00CC99"/>
                </a:solidFill>
              </a:rPr>
              <a:t>Customer Level Analysis</a:t>
            </a:r>
            <a:endParaRPr lang="en-IN" sz="2800" dirty="0">
              <a:solidFill>
                <a:srgbClr val="00CC99"/>
              </a:solidFill>
            </a:endParaRPr>
          </a:p>
        </p:txBody>
      </p:sp>
      <p:sp>
        <p:nvSpPr>
          <p:cNvPr id="4" name="TextBox 3">
            <a:extLst>
              <a:ext uri="{FF2B5EF4-FFF2-40B4-BE49-F238E27FC236}">
                <a16:creationId xmlns:a16="http://schemas.microsoft.com/office/drawing/2014/main" id="{0C35A611-DC49-A8C5-FFF5-52FFC6F17594}"/>
              </a:ext>
            </a:extLst>
          </p:cNvPr>
          <p:cNvSpPr txBox="1"/>
          <p:nvPr/>
        </p:nvSpPr>
        <p:spPr>
          <a:xfrm>
            <a:off x="1534160" y="1248231"/>
            <a:ext cx="9062720"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Cross Selling Opportunity</a:t>
            </a:r>
            <a:endParaRPr lang="en-IN" b="1" dirty="0"/>
          </a:p>
        </p:txBody>
      </p:sp>
      <p:graphicFrame>
        <p:nvGraphicFramePr>
          <p:cNvPr id="5" name="Table 4">
            <a:extLst>
              <a:ext uri="{FF2B5EF4-FFF2-40B4-BE49-F238E27FC236}">
                <a16:creationId xmlns:a16="http://schemas.microsoft.com/office/drawing/2014/main" id="{EFA076CA-2AEB-E7CE-8DF8-4793C1C93CD0}"/>
              </a:ext>
            </a:extLst>
          </p:cNvPr>
          <p:cNvGraphicFramePr>
            <a:graphicFrameLocks noGrp="1"/>
          </p:cNvGraphicFramePr>
          <p:nvPr>
            <p:extLst>
              <p:ext uri="{D42A27DB-BD31-4B8C-83A1-F6EECF244321}">
                <p14:modId xmlns:p14="http://schemas.microsoft.com/office/powerpoint/2010/main" val="3657484038"/>
              </p:ext>
            </p:extLst>
          </p:nvPr>
        </p:nvGraphicFramePr>
        <p:xfrm>
          <a:off x="1452880" y="2050626"/>
          <a:ext cx="7934960" cy="2266125"/>
        </p:xfrm>
        <a:graphic>
          <a:graphicData uri="http://schemas.openxmlformats.org/drawingml/2006/table">
            <a:tbl>
              <a:tblPr firstRow="1" bandRow="1">
                <a:tableStyleId>{5C22544A-7EE6-4342-B048-85BDC9FD1C3A}</a:tableStyleId>
              </a:tblPr>
              <a:tblGrid>
                <a:gridCol w="1983740">
                  <a:extLst>
                    <a:ext uri="{9D8B030D-6E8A-4147-A177-3AD203B41FA5}">
                      <a16:colId xmlns:a16="http://schemas.microsoft.com/office/drawing/2014/main" val="340491222"/>
                    </a:ext>
                  </a:extLst>
                </a:gridCol>
                <a:gridCol w="1983740">
                  <a:extLst>
                    <a:ext uri="{9D8B030D-6E8A-4147-A177-3AD203B41FA5}">
                      <a16:colId xmlns:a16="http://schemas.microsoft.com/office/drawing/2014/main" val="3940029310"/>
                    </a:ext>
                  </a:extLst>
                </a:gridCol>
                <a:gridCol w="1983740">
                  <a:extLst>
                    <a:ext uri="{9D8B030D-6E8A-4147-A177-3AD203B41FA5}">
                      <a16:colId xmlns:a16="http://schemas.microsoft.com/office/drawing/2014/main" val="3066492991"/>
                    </a:ext>
                  </a:extLst>
                </a:gridCol>
                <a:gridCol w="1983740">
                  <a:extLst>
                    <a:ext uri="{9D8B030D-6E8A-4147-A177-3AD203B41FA5}">
                      <a16:colId xmlns:a16="http://schemas.microsoft.com/office/drawing/2014/main" val="26952620"/>
                    </a:ext>
                  </a:extLst>
                </a:gridCol>
              </a:tblGrid>
              <a:tr h="370840">
                <a:tc>
                  <a:txBody>
                    <a:bodyPr/>
                    <a:lstStyle/>
                    <a:p>
                      <a:pPr algn="ctr"/>
                      <a:r>
                        <a:rPr lang="en-US" dirty="0"/>
                        <a:t>Customer Type</a:t>
                      </a:r>
                      <a:endParaRPr lang="en-IN" dirty="0"/>
                    </a:p>
                  </a:txBody>
                  <a:tcPr/>
                </a:tc>
                <a:tc>
                  <a:txBody>
                    <a:bodyPr/>
                    <a:lstStyle/>
                    <a:p>
                      <a:pPr algn="ctr"/>
                      <a:r>
                        <a:rPr lang="en-US" dirty="0"/>
                        <a:t>Share of total Customers</a:t>
                      </a:r>
                      <a:endParaRPr lang="en-IN" dirty="0"/>
                    </a:p>
                  </a:txBody>
                  <a:tcPr/>
                </a:tc>
                <a:tc>
                  <a:txBody>
                    <a:bodyPr/>
                    <a:lstStyle/>
                    <a:p>
                      <a:pPr algn="ctr"/>
                      <a:r>
                        <a:rPr lang="en-US" dirty="0"/>
                        <a:t>Average Order Value</a:t>
                      </a:r>
                      <a:endParaRPr lang="en-IN" dirty="0"/>
                    </a:p>
                  </a:txBody>
                  <a:tcPr/>
                </a:tc>
                <a:tc>
                  <a:txBody>
                    <a:bodyPr/>
                    <a:lstStyle/>
                    <a:p>
                      <a:pPr algn="ctr"/>
                      <a:r>
                        <a:rPr lang="en-US" dirty="0"/>
                        <a:t>Average Profit</a:t>
                      </a:r>
                      <a:endParaRPr lang="en-IN" dirty="0"/>
                    </a:p>
                  </a:txBody>
                  <a:tcPr/>
                </a:tc>
                <a:extLst>
                  <a:ext uri="{0D108BD9-81ED-4DB2-BD59-A6C34878D82A}">
                    <a16:rowId xmlns:a16="http://schemas.microsoft.com/office/drawing/2014/main" val="4103237113"/>
                  </a:ext>
                </a:extLst>
              </a:tr>
              <a:tr h="370840">
                <a:tc>
                  <a:txBody>
                    <a:bodyPr/>
                    <a:lstStyle/>
                    <a:p>
                      <a:pPr algn="ctr"/>
                      <a:r>
                        <a:rPr lang="en-US" dirty="0"/>
                        <a:t>Single Category Purchasers</a:t>
                      </a:r>
                      <a:endParaRPr lang="en-IN" dirty="0"/>
                    </a:p>
                  </a:txBody>
                  <a:tcPr/>
                </a:tc>
                <a:tc>
                  <a:txBody>
                    <a:bodyPr/>
                    <a:lstStyle/>
                    <a:p>
                      <a:pPr algn="ctr"/>
                      <a:r>
                        <a:rPr lang="en-IN" dirty="0"/>
                        <a:t>97814</a:t>
                      </a:r>
                    </a:p>
                  </a:txBody>
                  <a:tcPr/>
                </a:tc>
                <a:tc>
                  <a:txBody>
                    <a:bodyPr/>
                    <a:lstStyle/>
                    <a:p>
                      <a:pPr algn="ctr"/>
                      <a:r>
                        <a:rPr lang="en-IN" dirty="0"/>
                        <a:t>164.04</a:t>
                      </a:r>
                    </a:p>
                  </a:txBody>
                  <a:tcPr/>
                </a:tc>
                <a:tc>
                  <a:txBody>
                    <a:bodyPr/>
                    <a:lstStyle/>
                    <a:p>
                      <a:pPr algn="ctr"/>
                      <a:r>
                        <a:rPr lang="en-US" dirty="0"/>
                        <a:t>21.5%</a:t>
                      </a:r>
                      <a:endParaRPr lang="en-IN" dirty="0"/>
                    </a:p>
                  </a:txBody>
                  <a:tcPr/>
                </a:tc>
                <a:extLst>
                  <a:ext uri="{0D108BD9-81ED-4DB2-BD59-A6C34878D82A}">
                    <a16:rowId xmlns:a16="http://schemas.microsoft.com/office/drawing/2014/main" val="2549763726"/>
                  </a:ext>
                </a:extLst>
              </a:tr>
              <a:tr h="370840">
                <a:tc>
                  <a:txBody>
                    <a:bodyPr/>
                    <a:lstStyle/>
                    <a:p>
                      <a:pPr algn="ctr"/>
                      <a:r>
                        <a:rPr lang="en-US" dirty="0"/>
                        <a:t>Multiple Category Purchasers</a:t>
                      </a:r>
                      <a:endParaRPr lang="en-IN" dirty="0"/>
                    </a:p>
                  </a:txBody>
                  <a:tcPr/>
                </a:tc>
                <a:tc>
                  <a:txBody>
                    <a:bodyPr/>
                    <a:lstStyle/>
                    <a:p>
                      <a:pPr algn="ctr"/>
                      <a:r>
                        <a:rPr lang="en-US" dirty="0"/>
                        <a:t>749</a:t>
                      </a:r>
                      <a:endParaRPr lang="en-IN" dirty="0"/>
                    </a:p>
                  </a:txBody>
                  <a:tcPr/>
                </a:tc>
                <a:tc>
                  <a:txBody>
                    <a:bodyPr/>
                    <a:lstStyle/>
                    <a:p>
                      <a:pPr algn="ctr"/>
                      <a:r>
                        <a:rPr lang="en-US" dirty="0"/>
                        <a:t>378.61</a:t>
                      </a:r>
                      <a:endParaRPr lang="en-IN" dirty="0"/>
                    </a:p>
                  </a:txBody>
                  <a:tcPr/>
                </a:tc>
                <a:tc>
                  <a:txBody>
                    <a:bodyPr/>
                    <a:lstStyle/>
                    <a:p>
                      <a:pPr algn="ctr"/>
                      <a:r>
                        <a:rPr lang="en-US" dirty="0"/>
                        <a:t>52%</a:t>
                      </a:r>
                      <a:endParaRPr lang="en-IN" dirty="0"/>
                    </a:p>
                  </a:txBody>
                  <a:tcPr/>
                </a:tc>
                <a:extLst>
                  <a:ext uri="{0D108BD9-81ED-4DB2-BD59-A6C34878D82A}">
                    <a16:rowId xmlns:a16="http://schemas.microsoft.com/office/drawing/2014/main" val="4236745205"/>
                  </a:ext>
                </a:extLst>
              </a:tr>
            </a:tbl>
          </a:graphicData>
        </a:graphic>
      </p:graphicFrame>
      <p:sp>
        <p:nvSpPr>
          <p:cNvPr id="6" name="TextBox 5">
            <a:extLst>
              <a:ext uri="{FF2B5EF4-FFF2-40B4-BE49-F238E27FC236}">
                <a16:creationId xmlns:a16="http://schemas.microsoft.com/office/drawing/2014/main" id="{D7D0CBAC-AAA0-3119-7283-E7331B43D4A9}"/>
              </a:ext>
            </a:extLst>
          </p:cNvPr>
          <p:cNvSpPr txBox="1"/>
          <p:nvPr/>
        </p:nvSpPr>
        <p:spPr>
          <a:xfrm>
            <a:off x="1270000" y="4409440"/>
            <a:ext cx="9326880" cy="1200329"/>
          </a:xfrm>
          <a:prstGeom prst="rect">
            <a:avLst/>
          </a:prstGeom>
          <a:noFill/>
        </p:spPr>
        <p:txBody>
          <a:bodyPr wrap="square" rtlCol="0">
            <a:spAutoFit/>
          </a:bodyPr>
          <a:lstStyle/>
          <a:p>
            <a:pPr marL="285750" indent="-285750">
              <a:buFont typeface="Wingdings" panose="05000000000000000000" pitchFamily="2" charset="2"/>
              <a:buChar char="Ø"/>
            </a:pPr>
            <a:r>
              <a:rPr lang="en-US" dirty="0"/>
              <a:t>It should be noted that there is a huge opportunity for cross selling as 99.24% consumers are only purchasing single category products. </a:t>
            </a:r>
          </a:p>
          <a:p>
            <a:pPr marL="285750" indent="-285750">
              <a:buFont typeface="Wingdings" panose="05000000000000000000" pitchFamily="2" charset="2"/>
              <a:buChar char="Ø"/>
            </a:pPr>
            <a:r>
              <a:rPr lang="en-US" dirty="0"/>
              <a:t>We can see that both the AOV as well as the Avg profit percentage both are considerably higher for customers who purchase multiple categories. </a:t>
            </a:r>
            <a:endParaRPr lang="en-IN" dirty="0"/>
          </a:p>
        </p:txBody>
      </p:sp>
    </p:spTree>
    <p:extLst>
      <p:ext uri="{BB962C8B-B14F-4D97-AF65-F5344CB8AC3E}">
        <p14:creationId xmlns:p14="http://schemas.microsoft.com/office/powerpoint/2010/main" val="29893143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12CEDB-ADA1-7E12-06CE-78BA8E486C74}"/>
              </a:ext>
            </a:extLst>
          </p:cNvPr>
          <p:cNvSpPr txBox="1"/>
          <p:nvPr/>
        </p:nvSpPr>
        <p:spPr>
          <a:xfrm>
            <a:off x="680720" y="325120"/>
            <a:ext cx="9916160" cy="523220"/>
          </a:xfrm>
          <a:prstGeom prst="rect">
            <a:avLst/>
          </a:prstGeom>
          <a:noFill/>
        </p:spPr>
        <p:txBody>
          <a:bodyPr wrap="square" rtlCol="0">
            <a:spAutoFit/>
          </a:bodyPr>
          <a:lstStyle/>
          <a:p>
            <a:r>
              <a:rPr lang="en-US" sz="2800" dirty="0">
                <a:solidFill>
                  <a:srgbClr val="00CC99"/>
                </a:solidFill>
              </a:rPr>
              <a:t>Customer Level Analysis</a:t>
            </a:r>
            <a:endParaRPr lang="en-IN" sz="2800" dirty="0">
              <a:solidFill>
                <a:srgbClr val="00CC99"/>
              </a:solidFill>
            </a:endParaRPr>
          </a:p>
        </p:txBody>
      </p:sp>
      <p:sp>
        <p:nvSpPr>
          <p:cNvPr id="3" name="TextBox 2">
            <a:extLst>
              <a:ext uri="{FF2B5EF4-FFF2-40B4-BE49-F238E27FC236}">
                <a16:creationId xmlns:a16="http://schemas.microsoft.com/office/drawing/2014/main" id="{E67179B1-ACDB-F0CE-31C1-838EBEB001DF}"/>
              </a:ext>
            </a:extLst>
          </p:cNvPr>
          <p:cNvSpPr txBox="1"/>
          <p:nvPr/>
        </p:nvSpPr>
        <p:spPr>
          <a:xfrm>
            <a:off x="1016000" y="1056640"/>
            <a:ext cx="9245600"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Gender Distribution </a:t>
            </a:r>
            <a:endParaRPr lang="en-IN" b="1" dirty="0"/>
          </a:p>
        </p:txBody>
      </p:sp>
      <p:pic>
        <p:nvPicPr>
          <p:cNvPr id="5" name="Picture 4">
            <a:extLst>
              <a:ext uri="{FF2B5EF4-FFF2-40B4-BE49-F238E27FC236}">
                <a16:creationId xmlns:a16="http://schemas.microsoft.com/office/drawing/2014/main" id="{AA1ADD9F-50CC-B9B9-5CE1-21B28DD93B36}"/>
              </a:ext>
            </a:extLst>
          </p:cNvPr>
          <p:cNvPicPr>
            <a:picLocks noChangeAspect="1"/>
          </p:cNvPicPr>
          <p:nvPr/>
        </p:nvPicPr>
        <p:blipFill>
          <a:blip r:embed="rId2"/>
          <a:stretch>
            <a:fillRect/>
          </a:stretch>
        </p:blipFill>
        <p:spPr>
          <a:xfrm>
            <a:off x="1016000" y="1634272"/>
            <a:ext cx="4439920" cy="2755631"/>
          </a:xfrm>
          <a:prstGeom prst="rect">
            <a:avLst/>
          </a:prstGeom>
        </p:spPr>
      </p:pic>
      <p:pic>
        <p:nvPicPr>
          <p:cNvPr id="7" name="Picture 6">
            <a:extLst>
              <a:ext uri="{FF2B5EF4-FFF2-40B4-BE49-F238E27FC236}">
                <a16:creationId xmlns:a16="http://schemas.microsoft.com/office/drawing/2014/main" id="{2A2F1830-305E-D185-44F8-9D5D2738685B}"/>
              </a:ext>
            </a:extLst>
          </p:cNvPr>
          <p:cNvPicPr>
            <a:picLocks noChangeAspect="1"/>
          </p:cNvPicPr>
          <p:nvPr/>
        </p:nvPicPr>
        <p:blipFill>
          <a:blip r:embed="rId3"/>
          <a:stretch>
            <a:fillRect/>
          </a:stretch>
        </p:blipFill>
        <p:spPr>
          <a:xfrm>
            <a:off x="6248400" y="1634271"/>
            <a:ext cx="4348480" cy="2755631"/>
          </a:xfrm>
          <a:prstGeom prst="rect">
            <a:avLst/>
          </a:prstGeom>
        </p:spPr>
      </p:pic>
      <p:sp>
        <p:nvSpPr>
          <p:cNvPr id="8" name="TextBox 7">
            <a:extLst>
              <a:ext uri="{FF2B5EF4-FFF2-40B4-BE49-F238E27FC236}">
                <a16:creationId xmlns:a16="http://schemas.microsoft.com/office/drawing/2014/main" id="{1888C449-1EB0-95E6-D72E-6AB3B833CB02}"/>
              </a:ext>
            </a:extLst>
          </p:cNvPr>
          <p:cNvSpPr txBox="1"/>
          <p:nvPr/>
        </p:nvSpPr>
        <p:spPr>
          <a:xfrm>
            <a:off x="1016000" y="4806501"/>
            <a:ext cx="9245600" cy="1477328"/>
          </a:xfrm>
          <a:prstGeom prst="rect">
            <a:avLst/>
          </a:prstGeom>
          <a:noFill/>
        </p:spPr>
        <p:txBody>
          <a:bodyPr wrap="square" rtlCol="0">
            <a:spAutoFit/>
          </a:bodyPr>
          <a:lstStyle/>
          <a:p>
            <a:pPr marL="285750" indent="-285750">
              <a:buFont typeface="Wingdings" panose="05000000000000000000" pitchFamily="2" charset="2"/>
              <a:buChar char="Ø"/>
            </a:pPr>
            <a:r>
              <a:rPr lang="en-US" dirty="0"/>
              <a:t>We see that around 70% of our customers are females so this gives us an opportunity to specialize in female products.</a:t>
            </a:r>
          </a:p>
          <a:p>
            <a:pPr marL="285750" indent="-285750">
              <a:buFont typeface="Wingdings" panose="05000000000000000000" pitchFamily="2" charset="2"/>
              <a:buChar char="Ø"/>
            </a:pPr>
            <a:r>
              <a:rPr lang="en-US" dirty="0"/>
              <a:t>We also see that around 30% customer share and revenue contribution of the males also provides us with an avenue to increase the customer base among the males through some first time offers.  </a:t>
            </a:r>
            <a:endParaRPr lang="en-IN" dirty="0"/>
          </a:p>
        </p:txBody>
      </p:sp>
    </p:spTree>
    <p:extLst>
      <p:ext uri="{BB962C8B-B14F-4D97-AF65-F5344CB8AC3E}">
        <p14:creationId xmlns:p14="http://schemas.microsoft.com/office/powerpoint/2010/main" val="13510679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FD691-C34F-3DFF-ABED-FDF326B73D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94DD445-F39B-E41F-F851-98FD3C3832BF}"/>
              </a:ext>
            </a:extLst>
          </p:cNvPr>
          <p:cNvSpPr txBox="1"/>
          <p:nvPr/>
        </p:nvSpPr>
        <p:spPr>
          <a:xfrm>
            <a:off x="680720" y="325120"/>
            <a:ext cx="9916160" cy="523220"/>
          </a:xfrm>
          <a:prstGeom prst="rect">
            <a:avLst/>
          </a:prstGeom>
          <a:noFill/>
        </p:spPr>
        <p:txBody>
          <a:bodyPr wrap="square" rtlCol="0">
            <a:spAutoFit/>
          </a:bodyPr>
          <a:lstStyle/>
          <a:p>
            <a:r>
              <a:rPr lang="en-US" sz="2800" dirty="0">
                <a:solidFill>
                  <a:srgbClr val="00CC99"/>
                </a:solidFill>
              </a:rPr>
              <a:t>Customer Level Analysis</a:t>
            </a:r>
            <a:endParaRPr lang="en-IN" sz="2800" dirty="0">
              <a:solidFill>
                <a:srgbClr val="00CC99"/>
              </a:solidFill>
            </a:endParaRPr>
          </a:p>
        </p:txBody>
      </p:sp>
      <p:sp>
        <p:nvSpPr>
          <p:cNvPr id="3" name="TextBox 2">
            <a:extLst>
              <a:ext uri="{FF2B5EF4-FFF2-40B4-BE49-F238E27FC236}">
                <a16:creationId xmlns:a16="http://schemas.microsoft.com/office/drawing/2014/main" id="{190E0941-43A6-0A08-BFC1-A3ECBE4E3132}"/>
              </a:ext>
            </a:extLst>
          </p:cNvPr>
          <p:cNvSpPr txBox="1"/>
          <p:nvPr/>
        </p:nvSpPr>
        <p:spPr>
          <a:xfrm>
            <a:off x="1107440" y="1209040"/>
            <a:ext cx="3332480"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Payment Type distribution                                         </a:t>
            </a:r>
            <a:endParaRPr lang="en-IN" b="1" dirty="0"/>
          </a:p>
        </p:txBody>
      </p:sp>
      <p:pic>
        <p:nvPicPr>
          <p:cNvPr id="4" name="Picture 3">
            <a:extLst>
              <a:ext uri="{FF2B5EF4-FFF2-40B4-BE49-F238E27FC236}">
                <a16:creationId xmlns:a16="http://schemas.microsoft.com/office/drawing/2014/main" id="{2296426D-4196-0724-1AD3-2B832764952E}"/>
              </a:ext>
            </a:extLst>
          </p:cNvPr>
          <p:cNvPicPr>
            <a:picLocks noChangeAspect="1"/>
          </p:cNvPicPr>
          <p:nvPr/>
        </p:nvPicPr>
        <p:blipFill>
          <a:blip r:embed="rId2"/>
          <a:stretch>
            <a:fillRect/>
          </a:stretch>
        </p:blipFill>
        <p:spPr>
          <a:xfrm>
            <a:off x="904241" y="1733113"/>
            <a:ext cx="5283200" cy="3651687"/>
          </a:xfrm>
          <a:prstGeom prst="rect">
            <a:avLst/>
          </a:prstGeom>
        </p:spPr>
      </p:pic>
      <p:sp>
        <p:nvSpPr>
          <p:cNvPr id="10" name="TextBox 9">
            <a:extLst>
              <a:ext uri="{FF2B5EF4-FFF2-40B4-BE49-F238E27FC236}">
                <a16:creationId xmlns:a16="http://schemas.microsoft.com/office/drawing/2014/main" id="{4F23D082-85B3-2184-6033-1CEED9FBDA0D}"/>
              </a:ext>
            </a:extLst>
          </p:cNvPr>
          <p:cNvSpPr txBox="1"/>
          <p:nvPr/>
        </p:nvSpPr>
        <p:spPr>
          <a:xfrm>
            <a:off x="6370320" y="1209040"/>
            <a:ext cx="4856480"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Customer preference for Store State</a:t>
            </a:r>
            <a:endParaRPr lang="en-IN" b="1" dirty="0"/>
          </a:p>
        </p:txBody>
      </p:sp>
      <p:pic>
        <p:nvPicPr>
          <p:cNvPr id="11" name="Picture 10">
            <a:extLst>
              <a:ext uri="{FF2B5EF4-FFF2-40B4-BE49-F238E27FC236}">
                <a16:creationId xmlns:a16="http://schemas.microsoft.com/office/drawing/2014/main" id="{82C8EB7D-323A-250B-43F1-7C020DA1143F}"/>
              </a:ext>
            </a:extLst>
          </p:cNvPr>
          <p:cNvPicPr>
            <a:picLocks noChangeAspect="1"/>
          </p:cNvPicPr>
          <p:nvPr/>
        </p:nvPicPr>
        <p:blipFill>
          <a:blip r:embed="rId3"/>
          <a:stretch>
            <a:fillRect/>
          </a:stretch>
        </p:blipFill>
        <p:spPr>
          <a:xfrm>
            <a:off x="6370320" y="1733113"/>
            <a:ext cx="4592320" cy="3651687"/>
          </a:xfrm>
          <a:prstGeom prst="rect">
            <a:avLst/>
          </a:prstGeom>
        </p:spPr>
      </p:pic>
    </p:spTree>
    <p:extLst>
      <p:ext uri="{BB962C8B-B14F-4D97-AF65-F5344CB8AC3E}">
        <p14:creationId xmlns:p14="http://schemas.microsoft.com/office/powerpoint/2010/main" val="24055506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2FC299-93FD-B61B-A895-8B943E41E193}"/>
              </a:ext>
            </a:extLst>
          </p:cNvPr>
          <p:cNvSpPr txBox="1"/>
          <p:nvPr/>
        </p:nvSpPr>
        <p:spPr>
          <a:xfrm>
            <a:off x="680720" y="325120"/>
            <a:ext cx="9916160" cy="523220"/>
          </a:xfrm>
          <a:prstGeom prst="rect">
            <a:avLst/>
          </a:prstGeom>
          <a:noFill/>
        </p:spPr>
        <p:txBody>
          <a:bodyPr wrap="square" rtlCol="0">
            <a:spAutoFit/>
          </a:bodyPr>
          <a:lstStyle/>
          <a:p>
            <a:r>
              <a:rPr lang="en-US" sz="2800" dirty="0">
                <a:solidFill>
                  <a:srgbClr val="00CC99"/>
                </a:solidFill>
              </a:rPr>
              <a:t>Cross selling analysis</a:t>
            </a:r>
            <a:endParaRPr lang="en-IN" sz="2800" dirty="0">
              <a:solidFill>
                <a:srgbClr val="00CC99"/>
              </a:solidFill>
            </a:endParaRPr>
          </a:p>
        </p:txBody>
      </p:sp>
      <p:graphicFrame>
        <p:nvGraphicFramePr>
          <p:cNvPr id="3" name="Table 2">
            <a:extLst>
              <a:ext uri="{FF2B5EF4-FFF2-40B4-BE49-F238E27FC236}">
                <a16:creationId xmlns:a16="http://schemas.microsoft.com/office/drawing/2014/main" id="{25F9BCDE-9BC6-C4EC-E18B-3CAAA2F9B99F}"/>
              </a:ext>
            </a:extLst>
          </p:cNvPr>
          <p:cNvGraphicFramePr>
            <a:graphicFrameLocks noGrp="1"/>
          </p:cNvGraphicFramePr>
          <p:nvPr>
            <p:extLst>
              <p:ext uri="{D42A27DB-BD31-4B8C-83A1-F6EECF244321}">
                <p14:modId xmlns:p14="http://schemas.microsoft.com/office/powerpoint/2010/main" val="4250346149"/>
              </p:ext>
            </p:extLst>
          </p:nvPr>
        </p:nvGraphicFramePr>
        <p:xfrm>
          <a:off x="1849120" y="1065106"/>
          <a:ext cx="8127999" cy="3728784"/>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325041208"/>
                    </a:ext>
                  </a:extLst>
                </a:gridCol>
                <a:gridCol w="2709333">
                  <a:extLst>
                    <a:ext uri="{9D8B030D-6E8A-4147-A177-3AD203B41FA5}">
                      <a16:colId xmlns:a16="http://schemas.microsoft.com/office/drawing/2014/main" val="59276167"/>
                    </a:ext>
                  </a:extLst>
                </a:gridCol>
                <a:gridCol w="2709333">
                  <a:extLst>
                    <a:ext uri="{9D8B030D-6E8A-4147-A177-3AD203B41FA5}">
                      <a16:colId xmlns:a16="http://schemas.microsoft.com/office/drawing/2014/main" val="1215115694"/>
                    </a:ext>
                  </a:extLst>
                </a:gridCol>
              </a:tblGrid>
              <a:tr h="231987">
                <a:tc>
                  <a:txBody>
                    <a:bodyPr/>
                    <a:lstStyle/>
                    <a:p>
                      <a:pPr algn="ctr"/>
                      <a:r>
                        <a:rPr lang="en-US" dirty="0"/>
                        <a:t>Category_1</a:t>
                      </a:r>
                      <a:endParaRPr lang="en-IN" dirty="0"/>
                    </a:p>
                  </a:txBody>
                  <a:tcPr/>
                </a:tc>
                <a:tc>
                  <a:txBody>
                    <a:bodyPr/>
                    <a:lstStyle/>
                    <a:p>
                      <a:pPr algn="ctr"/>
                      <a:r>
                        <a:rPr lang="en-US" dirty="0"/>
                        <a:t>Category_2</a:t>
                      </a:r>
                      <a:endParaRPr lang="en-IN" dirty="0"/>
                    </a:p>
                  </a:txBody>
                  <a:tcPr/>
                </a:tc>
                <a:tc>
                  <a:txBody>
                    <a:bodyPr/>
                    <a:lstStyle/>
                    <a:p>
                      <a:pPr algn="ctr"/>
                      <a:r>
                        <a:rPr lang="en-US" dirty="0"/>
                        <a:t>Orders together</a:t>
                      </a:r>
                      <a:endParaRPr lang="en-IN" dirty="0"/>
                    </a:p>
                  </a:txBody>
                  <a:tcPr/>
                </a:tc>
                <a:extLst>
                  <a:ext uri="{0D108BD9-81ED-4DB2-BD59-A6C34878D82A}">
                    <a16:rowId xmlns:a16="http://schemas.microsoft.com/office/drawing/2014/main" val="4292156248"/>
                  </a:ext>
                </a:extLst>
              </a:tr>
              <a:tr h="231987">
                <a:tc>
                  <a:txBody>
                    <a:bodyPr/>
                    <a:lstStyle/>
                    <a:p>
                      <a:pPr algn="ctr"/>
                      <a:r>
                        <a:rPr lang="en-US" sz="1600" dirty="0"/>
                        <a:t>Baby</a:t>
                      </a:r>
                      <a:endParaRPr lang="en-IN" sz="1600"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t>Furniture</a:t>
                      </a:r>
                      <a:endParaRPr lang="en-IN" sz="1600" dirty="0"/>
                    </a:p>
                  </a:txBody>
                  <a:tcPr/>
                </a:tc>
                <a:tc>
                  <a:txBody>
                    <a:bodyPr/>
                    <a:lstStyle/>
                    <a:p>
                      <a:pPr algn="ctr"/>
                      <a:r>
                        <a:rPr lang="en-US" sz="1600" dirty="0"/>
                        <a:t>90</a:t>
                      </a:r>
                      <a:endParaRPr lang="en-IN" sz="1600" dirty="0"/>
                    </a:p>
                  </a:txBody>
                  <a:tcPr/>
                </a:tc>
                <a:extLst>
                  <a:ext uri="{0D108BD9-81ED-4DB2-BD59-A6C34878D82A}">
                    <a16:rowId xmlns:a16="http://schemas.microsoft.com/office/drawing/2014/main" val="1360068861"/>
                  </a:ext>
                </a:extLst>
              </a:tr>
              <a:tr h="231987">
                <a:tc>
                  <a:txBody>
                    <a:bodyPr/>
                    <a:lstStyle/>
                    <a:p>
                      <a:pPr algn="ctr"/>
                      <a:r>
                        <a:rPr lang="en-US" sz="1600" dirty="0"/>
                        <a:t>Baby</a:t>
                      </a:r>
                      <a:endParaRPr lang="en-IN" sz="1600"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t>Home Appliances</a:t>
                      </a:r>
                      <a:endParaRPr lang="en-IN" sz="1600" dirty="0"/>
                    </a:p>
                  </a:txBody>
                  <a:tcPr/>
                </a:tc>
                <a:tc>
                  <a:txBody>
                    <a:bodyPr/>
                    <a:lstStyle/>
                    <a:p>
                      <a:pPr algn="ctr"/>
                      <a:r>
                        <a:rPr lang="en-US" sz="1600" dirty="0"/>
                        <a:t>77</a:t>
                      </a:r>
                      <a:endParaRPr lang="en-IN" sz="1600" dirty="0"/>
                    </a:p>
                  </a:txBody>
                  <a:tcPr/>
                </a:tc>
                <a:extLst>
                  <a:ext uri="{0D108BD9-81ED-4DB2-BD59-A6C34878D82A}">
                    <a16:rowId xmlns:a16="http://schemas.microsoft.com/office/drawing/2014/main" val="2116018709"/>
                  </a:ext>
                </a:extLst>
              </a:tr>
              <a:tr h="231987">
                <a:tc>
                  <a:txBody>
                    <a:bodyPr/>
                    <a:lstStyle/>
                    <a:p>
                      <a:pPr algn="ctr"/>
                      <a:r>
                        <a:rPr lang="en-US" sz="1600" dirty="0"/>
                        <a:t>Furniture</a:t>
                      </a:r>
                      <a:endParaRPr lang="en-IN" sz="1600"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t>Home Appliances</a:t>
                      </a:r>
                      <a:endParaRPr lang="en-IN" sz="1600" dirty="0"/>
                    </a:p>
                  </a:txBody>
                  <a:tcPr/>
                </a:tc>
                <a:tc>
                  <a:txBody>
                    <a:bodyPr/>
                    <a:lstStyle/>
                    <a:p>
                      <a:pPr algn="ctr"/>
                      <a:r>
                        <a:rPr lang="en-US" sz="1600" dirty="0"/>
                        <a:t>62</a:t>
                      </a:r>
                    </a:p>
                  </a:txBody>
                  <a:tcPr/>
                </a:tc>
                <a:extLst>
                  <a:ext uri="{0D108BD9-81ED-4DB2-BD59-A6C34878D82A}">
                    <a16:rowId xmlns:a16="http://schemas.microsoft.com/office/drawing/2014/main" val="3200057813"/>
                  </a:ext>
                </a:extLst>
              </a:tr>
              <a:tr h="231987">
                <a:tc>
                  <a:txBody>
                    <a:bodyPr/>
                    <a:lstStyle/>
                    <a:p>
                      <a:pPr algn="ctr"/>
                      <a:r>
                        <a:rPr lang="en-US" sz="1600" dirty="0"/>
                        <a:t>Baby</a:t>
                      </a:r>
                      <a:endParaRPr lang="en-IN" sz="1600" dirty="0"/>
                    </a:p>
                  </a:txBody>
                  <a:tcPr/>
                </a:tc>
                <a:tc>
                  <a:txBody>
                    <a:bodyPr/>
                    <a:lstStyle/>
                    <a:p>
                      <a:pPr algn="ctr"/>
                      <a:r>
                        <a:rPr lang="en-US" sz="1600" dirty="0"/>
                        <a:t>Construction tools</a:t>
                      </a:r>
                      <a:endParaRPr lang="en-IN" sz="1600" dirty="0"/>
                    </a:p>
                  </a:txBody>
                  <a:tcPr/>
                </a:tc>
                <a:tc>
                  <a:txBody>
                    <a:bodyPr/>
                    <a:lstStyle/>
                    <a:p>
                      <a:pPr algn="ctr"/>
                      <a:r>
                        <a:rPr lang="en-US" sz="1600" dirty="0"/>
                        <a:t>36</a:t>
                      </a:r>
                      <a:endParaRPr lang="en-IN" sz="1600" dirty="0"/>
                    </a:p>
                  </a:txBody>
                  <a:tcPr/>
                </a:tc>
                <a:extLst>
                  <a:ext uri="{0D108BD9-81ED-4DB2-BD59-A6C34878D82A}">
                    <a16:rowId xmlns:a16="http://schemas.microsoft.com/office/drawing/2014/main" val="3807230406"/>
                  </a:ext>
                </a:extLst>
              </a:tr>
              <a:tr h="231987">
                <a:tc>
                  <a:txBody>
                    <a:bodyPr/>
                    <a:lstStyle/>
                    <a:p>
                      <a:pPr algn="ctr"/>
                      <a:r>
                        <a:rPr lang="en-US" sz="1600" dirty="0"/>
                        <a:t>Baby</a:t>
                      </a:r>
                      <a:endParaRPr lang="en-IN" sz="1600" dirty="0"/>
                    </a:p>
                  </a:txBody>
                  <a:tcPr/>
                </a:tc>
                <a:tc>
                  <a:txBody>
                    <a:bodyPr/>
                    <a:lstStyle/>
                    <a:p>
                      <a:pPr algn="ctr"/>
                      <a:r>
                        <a:rPr lang="en-US" sz="1600" dirty="0"/>
                        <a:t>Toys &amp; Gifts</a:t>
                      </a:r>
                      <a:endParaRPr lang="en-IN" sz="1600" dirty="0"/>
                    </a:p>
                  </a:txBody>
                  <a:tcPr/>
                </a:tc>
                <a:tc>
                  <a:txBody>
                    <a:bodyPr/>
                    <a:lstStyle/>
                    <a:p>
                      <a:pPr algn="ctr"/>
                      <a:r>
                        <a:rPr lang="en-US" sz="1600" dirty="0"/>
                        <a:t>25</a:t>
                      </a:r>
                      <a:endParaRPr lang="en-IN" sz="1600" dirty="0"/>
                    </a:p>
                  </a:txBody>
                  <a:tcPr/>
                </a:tc>
                <a:extLst>
                  <a:ext uri="{0D108BD9-81ED-4DB2-BD59-A6C34878D82A}">
                    <a16:rowId xmlns:a16="http://schemas.microsoft.com/office/drawing/2014/main" val="1300895700"/>
                  </a:ext>
                </a:extLst>
              </a:tr>
              <a:tr h="231987">
                <a:tc>
                  <a:txBody>
                    <a:bodyPr/>
                    <a:lstStyle/>
                    <a:p>
                      <a:pPr algn="ctr"/>
                      <a:r>
                        <a:rPr lang="en-US" sz="1600" dirty="0"/>
                        <a:t>Food &amp; Beverage</a:t>
                      </a:r>
                      <a:endParaRPr lang="en-IN" sz="1600"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t>Luggage Accessories</a:t>
                      </a:r>
                      <a:endParaRPr lang="en-IN" sz="1600" dirty="0"/>
                    </a:p>
                  </a:txBody>
                  <a:tcPr/>
                </a:tc>
                <a:tc>
                  <a:txBody>
                    <a:bodyPr/>
                    <a:lstStyle/>
                    <a:p>
                      <a:pPr algn="ctr"/>
                      <a:r>
                        <a:rPr lang="en-US" sz="1600" dirty="0"/>
                        <a:t>24</a:t>
                      </a:r>
                      <a:endParaRPr lang="en-IN" sz="1600" dirty="0"/>
                    </a:p>
                  </a:txBody>
                  <a:tcPr/>
                </a:tc>
                <a:extLst>
                  <a:ext uri="{0D108BD9-81ED-4DB2-BD59-A6C34878D82A}">
                    <a16:rowId xmlns:a16="http://schemas.microsoft.com/office/drawing/2014/main" val="2469064379"/>
                  </a:ext>
                </a:extLst>
              </a:tr>
              <a:tr h="23198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t>Food &amp; Beverage</a:t>
                      </a:r>
                      <a:endParaRPr lang="en-IN" sz="1600"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t>Toys &amp; Gifts</a:t>
                      </a:r>
                      <a:endParaRPr lang="en-IN" sz="1600" dirty="0"/>
                    </a:p>
                  </a:txBody>
                  <a:tcPr/>
                </a:tc>
                <a:tc>
                  <a:txBody>
                    <a:bodyPr/>
                    <a:lstStyle/>
                    <a:p>
                      <a:pPr algn="ctr"/>
                      <a:r>
                        <a:rPr lang="en-US" sz="1600" dirty="0"/>
                        <a:t>18</a:t>
                      </a:r>
                      <a:endParaRPr lang="en-IN" sz="1600" dirty="0"/>
                    </a:p>
                  </a:txBody>
                  <a:tcPr/>
                </a:tc>
                <a:extLst>
                  <a:ext uri="{0D108BD9-81ED-4DB2-BD59-A6C34878D82A}">
                    <a16:rowId xmlns:a16="http://schemas.microsoft.com/office/drawing/2014/main" val="1350220782"/>
                  </a:ext>
                </a:extLst>
              </a:tr>
              <a:tr h="231987">
                <a:tc>
                  <a:txBody>
                    <a:bodyPr/>
                    <a:lstStyle/>
                    <a:p>
                      <a:pPr algn="ctr"/>
                      <a:r>
                        <a:rPr lang="en-US" sz="1600" dirty="0"/>
                        <a:t>Home Appliances</a:t>
                      </a:r>
                      <a:endParaRPr lang="en-IN" sz="1600"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t>Luggage Accessories</a:t>
                      </a:r>
                      <a:endParaRPr lang="en-IN" sz="1600" dirty="0"/>
                    </a:p>
                  </a:txBody>
                  <a:tcPr/>
                </a:tc>
                <a:tc>
                  <a:txBody>
                    <a:bodyPr/>
                    <a:lstStyle/>
                    <a:p>
                      <a:pPr algn="ctr"/>
                      <a:r>
                        <a:rPr lang="en-US" sz="1600" dirty="0"/>
                        <a:t>18</a:t>
                      </a:r>
                      <a:endParaRPr lang="en-IN" sz="1600" dirty="0"/>
                    </a:p>
                  </a:txBody>
                  <a:tcPr/>
                </a:tc>
                <a:extLst>
                  <a:ext uri="{0D108BD9-81ED-4DB2-BD59-A6C34878D82A}">
                    <a16:rowId xmlns:a16="http://schemas.microsoft.com/office/drawing/2014/main" val="3951528501"/>
                  </a:ext>
                </a:extLst>
              </a:tr>
              <a:tr h="23198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t>Furniture</a:t>
                      </a:r>
                      <a:endParaRPr lang="en-IN" sz="1600"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t>Toys &amp; Gifts</a:t>
                      </a:r>
                      <a:endParaRPr lang="en-IN" sz="1600" dirty="0"/>
                    </a:p>
                  </a:txBody>
                  <a:tcPr/>
                </a:tc>
                <a:tc>
                  <a:txBody>
                    <a:bodyPr/>
                    <a:lstStyle/>
                    <a:p>
                      <a:pPr algn="ctr"/>
                      <a:r>
                        <a:rPr lang="en-US" sz="1600" dirty="0"/>
                        <a:t>17</a:t>
                      </a:r>
                      <a:endParaRPr lang="en-IN" sz="1600" dirty="0"/>
                    </a:p>
                  </a:txBody>
                  <a:tcPr/>
                </a:tc>
                <a:extLst>
                  <a:ext uri="{0D108BD9-81ED-4DB2-BD59-A6C34878D82A}">
                    <a16:rowId xmlns:a16="http://schemas.microsoft.com/office/drawing/2014/main" val="2118897705"/>
                  </a:ext>
                </a:extLst>
              </a:tr>
              <a:tr h="231987">
                <a:tc>
                  <a:txBody>
                    <a:bodyPr/>
                    <a:lstStyle/>
                    <a:p>
                      <a:pPr algn="ctr"/>
                      <a:r>
                        <a:rPr lang="en-US" sz="1600" dirty="0"/>
                        <a:t>Luggage Accessories</a:t>
                      </a:r>
                      <a:endParaRPr lang="en-IN" sz="1600"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t>Toys &amp; Gifts</a:t>
                      </a:r>
                      <a:endParaRPr lang="en-IN" sz="1600" dirty="0"/>
                    </a:p>
                  </a:txBody>
                  <a:tcPr/>
                </a:tc>
                <a:tc>
                  <a:txBody>
                    <a:bodyPr/>
                    <a:lstStyle/>
                    <a:p>
                      <a:pPr algn="ctr"/>
                      <a:r>
                        <a:rPr lang="en-US" sz="1600" dirty="0"/>
                        <a:t>17</a:t>
                      </a:r>
                      <a:endParaRPr lang="en-IN" sz="1600" dirty="0"/>
                    </a:p>
                  </a:txBody>
                  <a:tcPr/>
                </a:tc>
                <a:extLst>
                  <a:ext uri="{0D108BD9-81ED-4DB2-BD59-A6C34878D82A}">
                    <a16:rowId xmlns:a16="http://schemas.microsoft.com/office/drawing/2014/main" val="377936542"/>
                  </a:ext>
                </a:extLst>
              </a:tr>
            </a:tbl>
          </a:graphicData>
        </a:graphic>
      </p:graphicFrame>
      <p:sp>
        <p:nvSpPr>
          <p:cNvPr id="4" name="TextBox 3">
            <a:extLst>
              <a:ext uri="{FF2B5EF4-FFF2-40B4-BE49-F238E27FC236}">
                <a16:creationId xmlns:a16="http://schemas.microsoft.com/office/drawing/2014/main" id="{BD2A2CF4-218F-3F41-D5DA-A69794EBB97B}"/>
              </a:ext>
            </a:extLst>
          </p:cNvPr>
          <p:cNvSpPr txBox="1"/>
          <p:nvPr/>
        </p:nvSpPr>
        <p:spPr>
          <a:xfrm>
            <a:off x="843280" y="5191760"/>
            <a:ext cx="10424160"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t>The categories that are sold together shows us avenues for further cross selling through bundle promotions.</a:t>
            </a:r>
            <a:endParaRPr lang="en-IN" dirty="0"/>
          </a:p>
        </p:txBody>
      </p:sp>
    </p:spTree>
    <p:extLst>
      <p:ext uri="{BB962C8B-B14F-4D97-AF65-F5344CB8AC3E}">
        <p14:creationId xmlns:p14="http://schemas.microsoft.com/office/powerpoint/2010/main" val="5055393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E9DFE0-4259-A2A0-3912-C64A6F3ABB69}"/>
              </a:ext>
            </a:extLst>
          </p:cNvPr>
          <p:cNvSpPr txBox="1"/>
          <p:nvPr/>
        </p:nvSpPr>
        <p:spPr>
          <a:xfrm>
            <a:off x="680720" y="325120"/>
            <a:ext cx="9916160" cy="523220"/>
          </a:xfrm>
          <a:prstGeom prst="rect">
            <a:avLst/>
          </a:prstGeom>
          <a:noFill/>
        </p:spPr>
        <p:txBody>
          <a:bodyPr wrap="square" rtlCol="0">
            <a:spAutoFit/>
          </a:bodyPr>
          <a:lstStyle/>
          <a:p>
            <a:r>
              <a:rPr lang="en-US" sz="2800" dirty="0">
                <a:solidFill>
                  <a:srgbClr val="00CC99"/>
                </a:solidFill>
              </a:rPr>
              <a:t>Category Level Analysis</a:t>
            </a:r>
            <a:endParaRPr lang="en-IN" sz="2800" dirty="0">
              <a:solidFill>
                <a:srgbClr val="00CC99"/>
              </a:solidFill>
            </a:endParaRPr>
          </a:p>
        </p:txBody>
      </p:sp>
      <p:pic>
        <p:nvPicPr>
          <p:cNvPr id="3" name="Picture 2">
            <a:extLst>
              <a:ext uri="{FF2B5EF4-FFF2-40B4-BE49-F238E27FC236}">
                <a16:creationId xmlns:a16="http://schemas.microsoft.com/office/drawing/2014/main" id="{4F22ED7B-A5BA-9A2D-90F8-1A48C0951E2B}"/>
              </a:ext>
            </a:extLst>
          </p:cNvPr>
          <p:cNvPicPr>
            <a:picLocks noChangeAspect="1"/>
          </p:cNvPicPr>
          <p:nvPr/>
        </p:nvPicPr>
        <p:blipFill>
          <a:blip r:embed="rId2"/>
          <a:stretch>
            <a:fillRect/>
          </a:stretch>
        </p:blipFill>
        <p:spPr>
          <a:xfrm>
            <a:off x="680720" y="1066800"/>
            <a:ext cx="11135360" cy="3566160"/>
          </a:xfrm>
          <a:prstGeom prst="rect">
            <a:avLst/>
          </a:prstGeom>
        </p:spPr>
      </p:pic>
      <p:sp>
        <p:nvSpPr>
          <p:cNvPr id="4" name="TextBox 3">
            <a:extLst>
              <a:ext uri="{FF2B5EF4-FFF2-40B4-BE49-F238E27FC236}">
                <a16:creationId xmlns:a16="http://schemas.microsoft.com/office/drawing/2014/main" id="{C914CDB3-B7AF-B453-4AC3-2510D1BB2D26}"/>
              </a:ext>
            </a:extLst>
          </p:cNvPr>
          <p:cNvSpPr txBox="1"/>
          <p:nvPr/>
        </p:nvSpPr>
        <p:spPr>
          <a:xfrm>
            <a:off x="680720" y="4754880"/>
            <a:ext cx="10546080" cy="1323439"/>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t>Nearly 80% of total revenue is generated by a few key categories — primarily Toys &amp; Gifts, Baby, Home Appliances, Food &amp; Beverages, and Luggage Accessories.</a:t>
            </a:r>
          </a:p>
          <a:p>
            <a:pPr marL="285750" indent="-285750">
              <a:buFont typeface="Wingdings" panose="05000000000000000000" pitchFamily="2" charset="2"/>
              <a:buChar char="Ø"/>
            </a:pPr>
            <a:r>
              <a:rPr lang="en-US" sz="1600" dirty="0"/>
              <a:t>Focus marketing, inventory, and cross-selling efforts on these top-performing categories to maximize ROI, while identifying strategies to boost visibility and sales of lower-contributing categories through targeted promotions or bundling.</a:t>
            </a:r>
            <a:endParaRPr lang="en-IN" sz="1600" dirty="0"/>
          </a:p>
        </p:txBody>
      </p:sp>
    </p:spTree>
    <p:extLst>
      <p:ext uri="{BB962C8B-B14F-4D97-AF65-F5344CB8AC3E}">
        <p14:creationId xmlns:p14="http://schemas.microsoft.com/office/powerpoint/2010/main" val="14626094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52FD35B-B9E8-4BC6-8933-113BD22F5B96}"/>
              </a:ext>
            </a:extLst>
          </p:cNvPr>
          <p:cNvPicPr>
            <a:picLocks noChangeAspect="1"/>
          </p:cNvPicPr>
          <p:nvPr/>
        </p:nvPicPr>
        <p:blipFill>
          <a:blip r:embed="rId2"/>
          <a:stretch>
            <a:fillRect/>
          </a:stretch>
        </p:blipFill>
        <p:spPr>
          <a:xfrm>
            <a:off x="508000" y="1073906"/>
            <a:ext cx="10820400" cy="3145548"/>
          </a:xfrm>
          <a:prstGeom prst="rect">
            <a:avLst/>
          </a:prstGeom>
        </p:spPr>
      </p:pic>
      <p:sp>
        <p:nvSpPr>
          <p:cNvPr id="3" name="TextBox 2">
            <a:extLst>
              <a:ext uri="{FF2B5EF4-FFF2-40B4-BE49-F238E27FC236}">
                <a16:creationId xmlns:a16="http://schemas.microsoft.com/office/drawing/2014/main" id="{8DC79B4D-7D6E-A042-0A57-14DE78E07CD0}"/>
              </a:ext>
            </a:extLst>
          </p:cNvPr>
          <p:cNvSpPr txBox="1"/>
          <p:nvPr/>
        </p:nvSpPr>
        <p:spPr>
          <a:xfrm>
            <a:off x="508000" y="233680"/>
            <a:ext cx="9916160" cy="523220"/>
          </a:xfrm>
          <a:prstGeom prst="rect">
            <a:avLst/>
          </a:prstGeom>
          <a:noFill/>
        </p:spPr>
        <p:txBody>
          <a:bodyPr wrap="square" rtlCol="0">
            <a:spAutoFit/>
          </a:bodyPr>
          <a:lstStyle/>
          <a:p>
            <a:r>
              <a:rPr lang="en-US" sz="2800" dirty="0">
                <a:solidFill>
                  <a:srgbClr val="00CC99"/>
                </a:solidFill>
              </a:rPr>
              <a:t>Category Level Analysis</a:t>
            </a:r>
            <a:endParaRPr lang="en-IN" sz="2800" dirty="0">
              <a:solidFill>
                <a:srgbClr val="00CC99"/>
              </a:solidFill>
            </a:endParaRPr>
          </a:p>
        </p:txBody>
      </p:sp>
      <p:sp>
        <p:nvSpPr>
          <p:cNvPr id="4" name="TextBox 3">
            <a:extLst>
              <a:ext uri="{FF2B5EF4-FFF2-40B4-BE49-F238E27FC236}">
                <a16:creationId xmlns:a16="http://schemas.microsoft.com/office/drawing/2014/main" id="{10E2740C-E312-E07B-83C5-8B1CD0F679D9}"/>
              </a:ext>
            </a:extLst>
          </p:cNvPr>
          <p:cNvSpPr txBox="1"/>
          <p:nvPr/>
        </p:nvSpPr>
        <p:spPr>
          <a:xfrm>
            <a:off x="508000" y="4480560"/>
            <a:ext cx="10820400" cy="1323439"/>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t>The analysis shows that Furniture, Baby, Home Appliances, and Toys &amp; Gifts are the top revenue-generating and profitable categories, contributing a major share to overall performance. In contrast, categories like Stationery, Auto, Electronics, and Pet Shop show minimal contribution, indicating low sales or limited customer interest</a:t>
            </a:r>
          </a:p>
          <a:p>
            <a:pPr marL="285750" indent="-285750">
              <a:buFont typeface="Wingdings" panose="05000000000000000000" pitchFamily="2" charset="2"/>
              <a:buChar char="Ø"/>
            </a:pPr>
            <a:r>
              <a:rPr lang="en-US" sz="1600" dirty="0"/>
              <a:t>Maintain focus and inventory strength in top-performing categories to sustain profitability, while exploring targeted marketing, bundling, or discount strategies to uplift underperforming categories.</a:t>
            </a:r>
            <a:endParaRPr lang="en-IN" sz="1600" dirty="0"/>
          </a:p>
        </p:txBody>
      </p:sp>
    </p:spTree>
    <p:extLst>
      <p:ext uri="{BB962C8B-B14F-4D97-AF65-F5344CB8AC3E}">
        <p14:creationId xmlns:p14="http://schemas.microsoft.com/office/powerpoint/2010/main" val="26024776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69F0B-9D81-E3B9-6507-188D83A3137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CE6AB60-930D-92FD-E323-80BDE125AB7E}"/>
              </a:ext>
            </a:extLst>
          </p:cNvPr>
          <p:cNvSpPr txBox="1"/>
          <p:nvPr/>
        </p:nvSpPr>
        <p:spPr>
          <a:xfrm>
            <a:off x="508000" y="233680"/>
            <a:ext cx="9916160" cy="523220"/>
          </a:xfrm>
          <a:prstGeom prst="rect">
            <a:avLst/>
          </a:prstGeom>
          <a:noFill/>
        </p:spPr>
        <p:txBody>
          <a:bodyPr wrap="square" rtlCol="0">
            <a:spAutoFit/>
          </a:bodyPr>
          <a:lstStyle/>
          <a:p>
            <a:r>
              <a:rPr lang="en-US" sz="2800" dirty="0">
                <a:solidFill>
                  <a:srgbClr val="00CC99"/>
                </a:solidFill>
              </a:rPr>
              <a:t>Category Level Analysis</a:t>
            </a:r>
            <a:endParaRPr lang="en-IN" sz="2800" dirty="0">
              <a:solidFill>
                <a:srgbClr val="00CC99"/>
              </a:solidFill>
            </a:endParaRPr>
          </a:p>
        </p:txBody>
      </p:sp>
      <p:pic>
        <p:nvPicPr>
          <p:cNvPr id="5" name="Picture 4">
            <a:extLst>
              <a:ext uri="{FF2B5EF4-FFF2-40B4-BE49-F238E27FC236}">
                <a16:creationId xmlns:a16="http://schemas.microsoft.com/office/drawing/2014/main" id="{64454E07-5A49-FFED-905E-84B7F108C5CA}"/>
              </a:ext>
            </a:extLst>
          </p:cNvPr>
          <p:cNvPicPr>
            <a:picLocks noChangeAspect="1"/>
          </p:cNvPicPr>
          <p:nvPr/>
        </p:nvPicPr>
        <p:blipFill>
          <a:blip r:embed="rId2"/>
          <a:stretch>
            <a:fillRect/>
          </a:stretch>
        </p:blipFill>
        <p:spPr>
          <a:xfrm>
            <a:off x="508000" y="937297"/>
            <a:ext cx="10922000" cy="3611900"/>
          </a:xfrm>
          <a:prstGeom prst="rect">
            <a:avLst/>
          </a:prstGeom>
        </p:spPr>
      </p:pic>
      <p:sp>
        <p:nvSpPr>
          <p:cNvPr id="6" name="TextBox 5">
            <a:extLst>
              <a:ext uri="{FF2B5EF4-FFF2-40B4-BE49-F238E27FC236}">
                <a16:creationId xmlns:a16="http://schemas.microsoft.com/office/drawing/2014/main" id="{CEA12939-F3D7-3703-CD44-80632DA27109}"/>
              </a:ext>
            </a:extLst>
          </p:cNvPr>
          <p:cNvSpPr txBox="1"/>
          <p:nvPr/>
        </p:nvSpPr>
        <p:spPr>
          <a:xfrm>
            <a:off x="508000" y="4716951"/>
            <a:ext cx="10779760" cy="1323439"/>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t>The majority of first-time purchases come from Toys &amp; Gifts, Baby, and Home Appliances categories, indicating that these are the primary entry points for new customers. In contrast, categories such as Pet Shop, Fashion, and Others show limited engagement at the acquisition stage.</a:t>
            </a:r>
          </a:p>
          <a:p>
            <a:pPr marL="285750" indent="-285750">
              <a:buFont typeface="Wingdings" panose="05000000000000000000" pitchFamily="2" charset="2"/>
              <a:buChar char="Ø"/>
            </a:pPr>
            <a:r>
              <a:rPr lang="en-US" sz="1600" dirty="0"/>
              <a:t>Leverage high-entry categories like Toys &amp; Gifts and Baby for customer acquisition campaigns.</a:t>
            </a:r>
            <a:r>
              <a:rPr lang="en-IN" sz="1600" dirty="0"/>
              <a:t> </a:t>
            </a:r>
            <a:r>
              <a:rPr lang="en-US" sz="1600" dirty="0"/>
              <a:t>For low-entry categories, focus on visibility, bundled offers, or partnerships to increase initial purchase attraction.</a:t>
            </a:r>
          </a:p>
        </p:txBody>
      </p:sp>
    </p:spTree>
    <p:extLst>
      <p:ext uri="{BB962C8B-B14F-4D97-AF65-F5344CB8AC3E}">
        <p14:creationId xmlns:p14="http://schemas.microsoft.com/office/powerpoint/2010/main" val="38935746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3F3609-9A5F-12D9-FAE5-9CAE49E184CB}"/>
              </a:ext>
            </a:extLst>
          </p:cNvPr>
          <p:cNvSpPr txBox="1"/>
          <p:nvPr/>
        </p:nvSpPr>
        <p:spPr>
          <a:xfrm>
            <a:off x="508000" y="233680"/>
            <a:ext cx="9916160" cy="523220"/>
          </a:xfrm>
          <a:prstGeom prst="rect">
            <a:avLst/>
          </a:prstGeom>
          <a:noFill/>
        </p:spPr>
        <p:txBody>
          <a:bodyPr wrap="square" rtlCol="0">
            <a:spAutoFit/>
          </a:bodyPr>
          <a:lstStyle/>
          <a:p>
            <a:r>
              <a:rPr lang="en-US" sz="2800" dirty="0">
                <a:solidFill>
                  <a:srgbClr val="00CC99"/>
                </a:solidFill>
              </a:rPr>
              <a:t>Category Level Analysis</a:t>
            </a:r>
            <a:endParaRPr lang="en-IN" sz="2800" dirty="0">
              <a:solidFill>
                <a:srgbClr val="00CC99"/>
              </a:solidFill>
            </a:endParaRPr>
          </a:p>
        </p:txBody>
      </p:sp>
      <p:pic>
        <p:nvPicPr>
          <p:cNvPr id="4" name="Picture 3">
            <a:extLst>
              <a:ext uri="{FF2B5EF4-FFF2-40B4-BE49-F238E27FC236}">
                <a16:creationId xmlns:a16="http://schemas.microsoft.com/office/drawing/2014/main" id="{AECA7B8D-470F-34CC-7B93-C6E4FB20197C}"/>
              </a:ext>
            </a:extLst>
          </p:cNvPr>
          <p:cNvPicPr>
            <a:picLocks noChangeAspect="1"/>
          </p:cNvPicPr>
          <p:nvPr/>
        </p:nvPicPr>
        <p:blipFill>
          <a:blip r:embed="rId2"/>
          <a:stretch>
            <a:fillRect/>
          </a:stretch>
        </p:blipFill>
        <p:spPr>
          <a:xfrm>
            <a:off x="737219" y="1424290"/>
            <a:ext cx="5043822" cy="3676029"/>
          </a:xfrm>
          <a:prstGeom prst="rect">
            <a:avLst/>
          </a:prstGeom>
        </p:spPr>
      </p:pic>
      <p:sp>
        <p:nvSpPr>
          <p:cNvPr id="5" name="TextBox 4">
            <a:extLst>
              <a:ext uri="{FF2B5EF4-FFF2-40B4-BE49-F238E27FC236}">
                <a16:creationId xmlns:a16="http://schemas.microsoft.com/office/drawing/2014/main" id="{25F574BB-D6DF-F7FD-36C2-0E277FDAF589}"/>
              </a:ext>
            </a:extLst>
          </p:cNvPr>
          <p:cNvSpPr txBox="1"/>
          <p:nvPr/>
        </p:nvSpPr>
        <p:spPr>
          <a:xfrm>
            <a:off x="6187440" y="1424290"/>
            <a:ext cx="4897120" cy="2308324"/>
          </a:xfrm>
          <a:prstGeom prst="rect">
            <a:avLst/>
          </a:prstGeom>
          <a:noFill/>
        </p:spPr>
        <p:txBody>
          <a:bodyPr wrap="square" rtlCol="0">
            <a:spAutoFit/>
          </a:bodyPr>
          <a:lstStyle/>
          <a:p>
            <a:pPr marL="285750" indent="-285750">
              <a:buFont typeface="Wingdings" panose="05000000000000000000" pitchFamily="2" charset="2"/>
              <a:buChar char="Ø"/>
            </a:pPr>
            <a:r>
              <a:rPr lang="en-US" dirty="0"/>
              <a:t>Top categories like Toys &amp; Gifts, Baby, and Furniture show the highest market penetration, driving most customer engagement.</a:t>
            </a:r>
          </a:p>
          <a:p>
            <a:pPr marL="285750" indent="-285750">
              <a:buFont typeface="Wingdings" panose="05000000000000000000" pitchFamily="2" charset="2"/>
              <a:buChar char="Ø"/>
            </a:pPr>
            <a:r>
              <a:rPr lang="en-US" dirty="0"/>
              <a:t>Focus on retaining these customers while boosting visibility and offers for low-penetration categories like Auto and Fashion.</a:t>
            </a:r>
            <a:endParaRPr lang="en-IN" dirty="0"/>
          </a:p>
        </p:txBody>
      </p:sp>
    </p:spTree>
    <p:extLst>
      <p:ext uri="{BB962C8B-B14F-4D97-AF65-F5344CB8AC3E}">
        <p14:creationId xmlns:p14="http://schemas.microsoft.com/office/powerpoint/2010/main" val="11272139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0AA71-CAC3-9956-AD73-2EC7BEDA80A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27E65A6-05FA-3001-6793-19A48845DEF9}"/>
              </a:ext>
            </a:extLst>
          </p:cNvPr>
          <p:cNvSpPr txBox="1"/>
          <p:nvPr/>
        </p:nvSpPr>
        <p:spPr>
          <a:xfrm>
            <a:off x="508000" y="233680"/>
            <a:ext cx="9916160" cy="523220"/>
          </a:xfrm>
          <a:prstGeom prst="rect">
            <a:avLst/>
          </a:prstGeom>
          <a:noFill/>
        </p:spPr>
        <p:txBody>
          <a:bodyPr wrap="square" rtlCol="0">
            <a:spAutoFit/>
          </a:bodyPr>
          <a:lstStyle/>
          <a:p>
            <a:r>
              <a:rPr lang="en-US" sz="2800" dirty="0">
                <a:solidFill>
                  <a:srgbClr val="00CC99"/>
                </a:solidFill>
              </a:rPr>
              <a:t>Customer Satisfaction Analysis</a:t>
            </a:r>
            <a:endParaRPr lang="en-IN" sz="2800" dirty="0">
              <a:solidFill>
                <a:srgbClr val="00CC99"/>
              </a:solidFill>
            </a:endParaRPr>
          </a:p>
        </p:txBody>
      </p:sp>
      <p:sp>
        <p:nvSpPr>
          <p:cNvPr id="6" name="TextBox 5">
            <a:extLst>
              <a:ext uri="{FF2B5EF4-FFF2-40B4-BE49-F238E27FC236}">
                <a16:creationId xmlns:a16="http://schemas.microsoft.com/office/drawing/2014/main" id="{61201B25-21D3-52DC-231E-4F01BE8480A0}"/>
              </a:ext>
            </a:extLst>
          </p:cNvPr>
          <p:cNvSpPr txBox="1"/>
          <p:nvPr/>
        </p:nvSpPr>
        <p:spPr>
          <a:xfrm>
            <a:off x="1493520" y="985520"/>
            <a:ext cx="7766578"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Average Rating by Category</a:t>
            </a:r>
            <a:endParaRPr lang="en-IN" b="1" dirty="0"/>
          </a:p>
        </p:txBody>
      </p:sp>
      <p:sp>
        <p:nvSpPr>
          <p:cNvPr id="8" name="TextBox 7">
            <a:extLst>
              <a:ext uri="{FF2B5EF4-FFF2-40B4-BE49-F238E27FC236}">
                <a16:creationId xmlns:a16="http://schemas.microsoft.com/office/drawing/2014/main" id="{A797B67C-50EE-DF6E-5C64-7B4FAE63851C}"/>
              </a:ext>
            </a:extLst>
          </p:cNvPr>
          <p:cNvSpPr txBox="1"/>
          <p:nvPr/>
        </p:nvSpPr>
        <p:spPr>
          <a:xfrm>
            <a:off x="8270240" y="1692653"/>
            <a:ext cx="3921760" cy="3416320"/>
          </a:xfrm>
          <a:prstGeom prst="rect">
            <a:avLst/>
          </a:prstGeom>
          <a:noFill/>
        </p:spPr>
        <p:txBody>
          <a:bodyPr wrap="square" rtlCol="0">
            <a:spAutoFit/>
          </a:bodyPr>
          <a:lstStyle/>
          <a:p>
            <a:pPr marL="285750" indent="-285750">
              <a:buFont typeface="Wingdings" panose="05000000000000000000" pitchFamily="2" charset="2"/>
              <a:buChar char="Ø"/>
            </a:pPr>
            <a:r>
              <a:rPr lang="en-US" dirty="0"/>
              <a:t>Pet Shop has highest reviews of 4.19 whereas Furniture has lowest reviews of 3.19</a:t>
            </a:r>
          </a:p>
          <a:p>
            <a:pPr marL="285750" indent="-285750">
              <a:buFont typeface="Wingdings" panose="05000000000000000000" pitchFamily="2" charset="2"/>
              <a:buChar char="Ø"/>
            </a:pPr>
            <a:r>
              <a:rPr lang="en-US" dirty="0"/>
              <a:t>However, the reviews are mostly above 4 for most of the categories, indicating good customer satisfaction.</a:t>
            </a:r>
          </a:p>
          <a:p>
            <a:pPr marL="285750" indent="-285750">
              <a:buFont typeface="Wingdings" panose="05000000000000000000" pitchFamily="2" charset="2"/>
              <a:buChar char="Ø"/>
            </a:pPr>
            <a:r>
              <a:rPr lang="en-US" dirty="0"/>
              <a:t>Customer Satisfaction improvement program across categories for better customer experience specially aimed at low performing categories.</a:t>
            </a:r>
            <a:endParaRPr lang="en-IN" dirty="0"/>
          </a:p>
        </p:txBody>
      </p:sp>
      <p:pic>
        <p:nvPicPr>
          <p:cNvPr id="9" name="Picture 8">
            <a:extLst>
              <a:ext uri="{FF2B5EF4-FFF2-40B4-BE49-F238E27FC236}">
                <a16:creationId xmlns:a16="http://schemas.microsoft.com/office/drawing/2014/main" id="{DA22A94D-9EB1-FEAB-FFA1-4265C8707821}"/>
              </a:ext>
            </a:extLst>
          </p:cNvPr>
          <p:cNvPicPr>
            <a:picLocks noChangeAspect="1"/>
          </p:cNvPicPr>
          <p:nvPr/>
        </p:nvPicPr>
        <p:blipFill>
          <a:blip r:embed="rId2"/>
          <a:stretch>
            <a:fillRect/>
          </a:stretch>
        </p:blipFill>
        <p:spPr>
          <a:xfrm>
            <a:off x="614359" y="1692653"/>
            <a:ext cx="7407282" cy="3810330"/>
          </a:xfrm>
          <a:prstGeom prst="rect">
            <a:avLst/>
          </a:prstGeom>
        </p:spPr>
      </p:pic>
    </p:spTree>
    <p:extLst>
      <p:ext uri="{BB962C8B-B14F-4D97-AF65-F5344CB8AC3E}">
        <p14:creationId xmlns:p14="http://schemas.microsoft.com/office/powerpoint/2010/main" val="41754213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86D58-BBAC-B132-4830-E2A251AF21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2DB8A2-5149-4BBC-117B-00EAF7D6E6E5}"/>
              </a:ext>
            </a:extLst>
          </p:cNvPr>
          <p:cNvSpPr txBox="1"/>
          <p:nvPr/>
        </p:nvSpPr>
        <p:spPr>
          <a:xfrm>
            <a:off x="508000" y="233680"/>
            <a:ext cx="9916160" cy="523220"/>
          </a:xfrm>
          <a:prstGeom prst="rect">
            <a:avLst/>
          </a:prstGeom>
          <a:noFill/>
        </p:spPr>
        <p:txBody>
          <a:bodyPr wrap="square" rtlCol="0">
            <a:spAutoFit/>
          </a:bodyPr>
          <a:lstStyle/>
          <a:p>
            <a:r>
              <a:rPr lang="en-US" sz="2800" dirty="0">
                <a:solidFill>
                  <a:srgbClr val="00CC99"/>
                </a:solidFill>
              </a:rPr>
              <a:t>Customer Satisfaction Analysis</a:t>
            </a:r>
            <a:endParaRPr lang="en-IN" sz="2800" dirty="0">
              <a:solidFill>
                <a:srgbClr val="00CC99"/>
              </a:solidFill>
            </a:endParaRPr>
          </a:p>
        </p:txBody>
      </p:sp>
      <p:sp>
        <p:nvSpPr>
          <p:cNvPr id="6" name="TextBox 5">
            <a:extLst>
              <a:ext uri="{FF2B5EF4-FFF2-40B4-BE49-F238E27FC236}">
                <a16:creationId xmlns:a16="http://schemas.microsoft.com/office/drawing/2014/main" id="{BE0DAB2F-141D-EFBB-9ECC-3B684D2F5683}"/>
              </a:ext>
            </a:extLst>
          </p:cNvPr>
          <p:cNvSpPr txBox="1"/>
          <p:nvPr/>
        </p:nvSpPr>
        <p:spPr>
          <a:xfrm>
            <a:off x="1493520" y="985520"/>
            <a:ext cx="7766578"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Average Rating by Month</a:t>
            </a:r>
            <a:endParaRPr lang="en-IN" b="1" dirty="0"/>
          </a:p>
        </p:txBody>
      </p:sp>
      <p:pic>
        <p:nvPicPr>
          <p:cNvPr id="5" name="Picture 4">
            <a:extLst>
              <a:ext uri="{FF2B5EF4-FFF2-40B4-BE49-F238E27FC236}">
                <a16:creationId xmlns:a16="http://schemas.microsoft.com/office/drawing/2014/main" id="{BE401530-B7A9-AFE8-3298-5AD25764B94A}"/>
              </a:ext>
            </a:extLst>
          </p:cNvPr>
          <p:cNvPicPr>
            <a:picLocks noChangeAspect="1"/>
          </p:cNvPicPr>
          <p:nvPr/>
        </p:nvPicPr>
        <p:blipFill>
          <a:blip r:embed="rId2"/>
          <a:stretch>
            <a:fillRect/>
          </a:stretch>
        </p:blipFill>
        <p:spPr>
          <a:xfrm>
            <a:off x="436880" y="1724890"/>
            <a:ext cx="8067040" cy="3954549"/>
          </a:xfrm>
          <a:prstGeom prst="rect">
            <a:avLst/>
          </a:prstGeom>
        </p:spPr>
      </p:pic>
      <p:sp>
        <p:nvSpPr>
          <p:cNvPr id="7" name="TextBox 6">
            <a:extLst>
              <a:ext uri="{FF2B5EF4-FFF2-40B4-BE49-F238E27FC236}">
                <a16:creationId xmlns:a16="http://schemas.microsoft.com/office/drawing/2014/main" id="{B2E4F697-754A-F376-4740-0051C138AA06}"/>
              </a:ext>
            </a:extLst>
          </p:cNvPr>
          <p:cNvSpPr txBox="1"/>
          <p:nvPr/>
        </p:nvSpPr>
        <p:spPr>
          <a:xfrm>
            <a:off x="8717280" y="1720840"/>
            <a:ext cx="3169920" cy="2554545"/>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t>Over time the reviews have been improving as shown by the positively sloping. trendline across the months. </a:t>
            </a:r>
          </a:p>
          <a:p>
            <a:pPr marL="285750" indent="-285750">
              <a:buFont typeface="Wingdings" panose="05000000000000000000" pitchFamily="2" charset="2"/>
              <a:buChar char="Ø"/>
            </a:pPr>
            <a:r>
              <a:rPr lang="en-US" sz="1600" dirty="0"/>
              <a:t>The monthly analysis shows that the reviews are mostly consistent throughout the year although the trends suggest some dip in the months of December.</a:t>
            </a:r>
            <a:endParaRPr lang="en-IN" sz="1600" dirty="0"/>
          </a:p>
        </p:txBody>
      </p:sp>
    </p:spTree>
    <p:extLst>
      <p:ext uri="{BB962C8B-B14F-4D97-AF65-F5344CB8AC3E}">
        <p14:creationId xmlns:p14="http://schemas.microsoft.com/office/powerpoint/2010/main" val="41970760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74EAB-892E-857C-F62B-0912FB63A2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966386-6B37-4E30-3465-91F433308CBE}"/>
              </a:ext>
            </a:extLst>
          </p:cNvPr>
          <p:cNvSpPr txBox="1"/>
          <p:nvPr/>
        </p:nvSpPr>
        <p:spPr>
          <a:xfrm>
            <a:off x="508000" y="233680"/>
            <a:ext cx="9916160" cy="523220"/>
          </a:xfrm>
          <a:prstGeom prst="rect">
            <a:avLst/>
          </a:prstGeom>
          <a:noFill/>
        </p:spPr>
        <p:txBody>
          <a:bodyPr wrap="square" rtlCol="0">
            <a:spAutoFit/>
          </a:bodyPr>
          <a:lstStyle/>
          <a:p>
            <a:r>
              <a:rPr lang="en-US" sz="2800" dirty="0">
                <a:solidFill>
                  <a:srgbClr val="00CC99"/>
                </a:solidFill>
              </a:rPr>
              <a:t>Customer Satisfaction Analysis</a:t>
            </a:r>
            <a:endParaRPr lang="en-IN" sz="2800" dirty="0">
              <a:solidFill>
                <a:srgbClr val="00CC99"/>
              </a:solidFill>
            </a:endParaRPr>
          </a:p>
        </p:txBody>
      </p:sp>
      <p:sp>
        <p:nvSpPr>
          <p:cNvPr id="6" name="TextBox 5">
            <a:extLst>
              <a:ext uri="{FF2B5EF4-FFF2-40B4-BE49-F238E27FC236}">
                <a16:creationId xmlns:a16="http://schemas.microsoft.com/office/drawing/2014/main" id="{6F01A2AC-83D4-A1AB-20D4-EC9876B76811}"/>
              </a:ext>
            </a:extLst>
          </p:cNvPr>
          <p:cNvSpPr txBox="1"/>
          <p:nvPr/>
        </p:nvSpPr>
        <p:spPr>
          <a:xfrm>
            <a:off x="1493520" y="985520"/>
            <a:ext cx="7766578"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Average Rating by Customer State</a:t>
            </a:r>
            <a:endParaRPr lang="en-IN" b="1" dirty="0"/>
          </a:p>
        </p:txBody>
      </p:sp>
      <p:pic>
        <p:nvPicPr>
          <p:cNvPr id="4" name="Picture 3">
            <a:extLst>
              <a:ext uri="{FF2B5EF4-FFF2-40B4-BE49-F238E27FC236}">
                <a16:creationId xmlns:a16="http://schemas.microsoft.com/office/drawing/2014/main" id="{BA0DF64B-41D4-C9F7-5525-89586F2CF081}"/>
              </a:ext>
            </a:extLst>
          </p:cNvPr>
          <p:cNvPicPr>
            <a:picLocks noChangeAspect="1"/>
          </p:cNvPicPr>
          <p:nvPr/>
        </p:nvPicPr>
        <p:blipFill>
          <a:blip r:embed="rId2"/>
          <a:stretch>
            <a:fillRect/>
          </a:stretch>
        </p:blipFill>
        <p:spPr>
          <a:xfrm>
            <a:off x="600011" y="1583472"/>
            <a:ext cx="7924229" cy="4541914"/>
          </a:xfrm>
          <a:prstGeom prst="rect">
            <a:avLst/>
          </a:prstGeom>
        </p:spPr>
      </p:pic>
      <p:sp>
        <p:nvSpPr>
          <p:cNvPr id="7" name="TextBox 6">
            <a:extLst>
              <a:ext uri="{FF2B5EF4-FFF2-40B4-BE49-F238E27FC236}">
                <a16:creationId xmlns:a16="http://schemas.microsoft.com/office/drawing/2014/main" id="{0D71C5F1-7364-4DD6-EE42-4C21D02877C3}"/>
              </a:ext>
            </a:extLst>
          </p:cNvPr>
          <p:cNvSpPr txBox="1"/>
          <p:nvPr/>
        </p:nvSpPr>
        <p:spPr>
          <a:xfrm>
            <a:off x="8636000" y="1583472"/>
            <a:ext cx="3200400" cy="3693319"/>
          </a:xfrm>
          <a:prstGeom prst="rect">
            <a:avLst/>
          </a:prstGeom>
          <a:noFill/>
        </p:spPr>
        <p:txBody>
          <a:bodyPr wrap="square" rtlCol="0">
            <a:spAutoFit/>
          </a:bodyPr>
          <a:lstStyle/>
          <a:p>
            <a:pPr marL="285750" indent="-285750">
              <a:buFont typeface="Wingdings" panose="05000000000000000000" pitchFamily="2" charset="2"/>
              <a:buChar char="Ø"/>
            </a:pPr>
            <a:r>
              <a:rPr lang="en-US" dirty="0"/>
              <a:t>Goa has highest reviews of 4.8 whereas Uttaranchal has lowest reviews of 3.91.</a:t>
            </a:r>
          </a:p>
          <a:p>
            <a:pPr marL="285750" indent="-285750">
              <a:buFont typeface="Wingdings" panose="05000000000000000000" pitchFamily="2" charset="2"/>
              <a:buChar char="Ø"/>
            </a:pPr>
            <a:r>
              <a:rPr lang="en-US" dirty="0"/>
              <a:t>However, the reviews are  above 4 for all States, indicating good customer satisfaction.</a:t>
            </a:r>
          </a:p>
          <a:p>
            <a:pPr marL="285750" indent="-285750">
              <a:buFont typeface="Wingdings" panose="05000000000000000000" pitchFamily="2" charset="2"/>
              <a:buChar char="Ø"/>
            </a:pPr>
            <a:r>
              <a:rPr lang="en-US" dirty="0"/>
              <a:t>Strategies from Goa shall be replicated in the low performing states of Uttaranchal, Himachal and West Bengal.</a:t>
            </a:r>
          </a:p>
        </p:txBody>
      </p:sp>
    </p:spTree>
    <p:extLst>
      <p:ext uri="{BB962C8B-B14F-4D97-AF65-F5344CB8AC3E}">
        <p14:creationId xmlns:p14="http://schemas.microsoft.com/office/powerpoint/2010/main" val="10103607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1E3F3-7C3F-3CAB-91CC-F5C0A821466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ED65990-472B-10FF-0FE7-5E4FA331E152}"/>
              </a:ext>
            </a:extLst>
          </p:cNvPr>
          <p:cNvSpPr txBox="1"/>
          <p:nvPr/>
        </p:nvSpPr>
        <p:spPr>
          <a:xfrm>
            <a:off x="508000" y="233680"/>
            <a:ext cx="9916160" cy="523220"/>
          </a:xfrm>
          <a:prstGeom prst="rect">
            <a:avLst/>
          </a:prstGeom>
          <a:noFill/>
        </p:spPr>
        <p:txBody>
          <a:bodyPr wrap="square" rtlCol="0">
            <a:spAutoFit/>
          </a:bodyPr>
          <a:lstStyle/>
          <a:p>
            <a:r>
              <a:rPr lang="en-US" sz="2800" dirty="0">
                <a:solidFill>
                  <a:srgbClr val="00CC99"/>
                </a:solidFill>
              </a:rPr>
              <a:t>Customer Satisfaction Analysis</a:t>
            </a:r>
            <a:endParaRPr lang="en-IN" sz="2800" dirty="0">
              <a:solidFill>
                <a:srgbClr val="00CC99"/>
              </a:solidFill>
            </a:endParaRPr>
          </a:p>
        </p:txBody>
      </p:sp>
      <p:sp>
        <p:nvSpPr>
          <p:cNvPr id="6" name="TextBox 5">
            <a:extLst>
              <a:ext uri="{FF2B5EF4-FFF2-40B4-BE49-F238E27FC236}">
                <a16:creationId xmlns:a16="http://schemas.microsoft.com/office/drawing/2014/main" id="{39FD6DF7-DC95-8E33-8CAD-DA44AD804824}"/>
              </a:ext>
            </a:extLst>
          </p:cNvPr>
          <p:cNvSpPr txBox="1"/>
          <p:nvPr/>
        </p:nvSpPr>
        <p:spPr>
          <a:xfrm>
            <a:off x="1493520" y="985520"/>
            <a:ext cx="7766578"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Average Rating by Store</a:t>
            </a:r>
            <a:endParaRPr lang="en-IN" b="1" dirty="0"/>
          </a:p>
        </p:txBody>
      </p:sp>
      <p:sp>
        <p:nvSpPr>
          <p:cNvPr id="5" name="TextBox 4">
            <a:extLst>
              <a:ext uri="{FF2B5EF4-FFF2-40B4-BE49-F238E27FC236}">
                <a16:creationId xmlns:a16="http://schemas.microsoft.com/office/drawing/2014/main" id="{4F679C18-B493-54FA-159D-908B400D4BE8}"/>
              </a:ext>
            </a:extLst>
          </p:cNvPr>
          <p:cNvSpPr txBox="1"/>
          <p:nvPr/>
        </p:nvSpPr>
        <p:spPr>
          <a:xfrm>
            <a:off x="8636000" y="1583472"/>
            <a:ext cx="3200400" cy="3416320"/>
          </a:xfrm>
          <a:prstGeom prst="rect">
            <a:avLst/>
          </a:prstGeom>
          <a:noFill/>
        </p:spPr>
        <p:txBody>
          <a:bodyPr wrap="square" rtlCol="0">
            <a:spAutoFit/>
          </a:bodyPr>
          <a:lstStyle/>
          <a:p>
            <a:pPr marL="285750" indent="-285750">
              <a:buFont typeface="Wingdings" panose="05000000000000000000" pitchFamily="2" charset="2"/>
              <a:buChar char="Ø"/>
            </a:pPr>
            <a:r>
              <a:rPr lang="en-US" dirty="0"/>
              <a:t>ST138 has highest reviews of 4.27 whereas ST180 has lowest reviews of 3.75.</a:t>
            </a:r>
          </a:p>
          <a:p>
            <a:pPr marL="285750" indent="-285750">
              <a:buFont typeface="Wingdings" panose="05000000000000000000" pitchFamily="2" charset="2"/>
              <a:buChar char="Ø"/>
            </a:pPr>
            <a:r>
              <a:rPr lang="en-US" dirty="0"/>
              <a:t>However, except in 4 stores the reviews are  above 4 for all, indicating good customer satisfaction.</a:t>
            </a:r>
          </a:p>
          <a:p>
            <a:pPr marL="285750" indent="-285750">
              <a:buFont typeface="Wingdings" panose="05000000000000000000" pitchFamily="2" charset="2"/>
              <a:buChar char="Ø"/>
            </a:pPr>
            <a:r>
              <a:rPr lang="en-US" dirty="0"/>
              <a:t>Customer feedback and audits from low performing stores.</a:t>
            </a:r>
          </a:p>
        </p:txBody>
      </p:sp>
      <p:pic>
        <p:nvPicPr>
          <p:cNvPr id="7" name="Picture 6">
            <a:extLst>
              <a:ext uri="{FF2B5EF4-FFF2-40B4-BE49-F238E27FC236}">
                <a16:creationId xmlns:a16="http://schemas.microsoft.com/office/drawing/2014/main" id="{B2CC3F2C-6FDB-6592-5B9D-62DBD164845B}"/>
              </a:ext>
            </a:extLst>
          </p:cNvPr>
          <p:cNvPicPr>
            <a:picLocks noChangeAspect="1"/>
          </p:cNvPicPr>
          <p:nvPr/>
        </p:nvPicPr>
        <p:blipFill>
          <a:blip r:embed="rId2"/>
          <a:stretch>
            <a:fillRect/>
          </a:stretch>
        </p:blipFill>
        <p:spPr>
          <a:xfrm>
            <a:off x="355600" y="1583472"/>
            <a:ext cx="8254699" cy="4176122"/>
          </a:xfrm>
          <a:prstGeom prst="rect">
            <a:avLst/>
          </a:prstGeom>
        </p:spPr>
      </p:pic>
    </p:spTree>
    <p:extLst>
      <p:ext uri="{BB962C8B-B14F-4D97-AF65-F5344CB8AC3E}">
        <p14:creationId xmlns:p14="http://schemas.microsoft.com/office/powerpoint/2010/main" val="36783476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360047-EDDB-ACD6-E4EC-AE2175BABF28}"/>
              </a:ext>
            </a:extLst>
          </p:cNvPr>
          <p:cNvSpPr txBox="1"/>
          <p:nvPr/>
        </p:nvSpPr>
        <p:spPr>
          <a:xfrm>
            <a:off x="508000" y="324339"/>
            <a:ext cx="9916160" cy="523220"/>
          </a:xfrm>
          <a:prstGeom prst="rect">
            <a:avLst/>
          </a:prstGeom>
          <a:noFill/>
        </p:spPr>
        <p:txBody>
          <a:bodyPr wrap="square" rtlCol="0">
            <a:spAutoFit/>
          </a:bodyPr>
          <a:lstStyle/>
          <a:p>
            <a:r>
              <a:rPr lang="en-US" sz="2800" dirty="0">
                <a:solidFill>
                  <a:srgbClr val="00CC99"/>
                </a:solidFill>
              </a:rPr>
              <a:t>Sales Trend &amp; Pattern Analysis</a:t>
            </a:r>
            <a:endParaRPr lang="en-IN" sz="2800" dirty="0">
              <a:solidFill>
                <a:srgbClr val="00CC99"/>
              </a:solidFill>
            </a:endParaRPr>
          </a:p>
        </p:txBody>
      </p:sp>
      <p:pic>
        <p:nvPicPr>
          <p:cNvPr id="3" name="Picture 2">
            <a:extLst>
              <a:ext uri="{FF2B5EF4-FFF2-40B4-BE49-F238E27FC236}">
                <a16:creationId xmlns:a16="http://schemas.microsoft.com/office/drawing/2014/main" id="{DC53754F-714E-5994-C4C3-FC56084ECACD}"/>
              </a:ext>
            </a:extLst>
          </p:cNvPr>
          <p:cNvPicPr>
            <a:picLocks noChangeAspect="1"/>
          </p:cNvPicPr>
          <p:nvPr/>
        </p:nvPicPr>
        <p:blipFill>
          <a:blip r:embed="rId2"/>
          <a:stretch>
            <a:fillRect/>
          </a:stretch>
        </p:blipFill>
        <p:spPr>
          <a:xfrm>
            <a:off x="508000" y="1778831"/>
            <a:ext cx="7914640" cy="3300337"/>
          </a:xfrm>
          <a:prstGeom prst="rect">
            <a:avLst/>
          </a:prstGeom>
        </p:spPr>
      </p:pic>
      <p:sp>
        <p:nvSpPr>
          <p:cNvPr id="4" name="TextBox 3">
            <a:extLst>
              <a:ext uri="{FF2B5EF4-FFF2-40B4-BE49-F238E27FC236}">
                <a16:creationId xmlns:a16="http://schemas.microsoft.com/office/drawing/2014/main" id="{812EA356-59ED-D523-E51D-7AB62C117480}"/>
              </a:ext>
            </a:extLst>
          </p:cNvPr>
          <p:cNvSpPr txBox="1"/>
          <p:nvPr/>
        </p:nvSpPr>
        <p:spPr>
          <a:xfrm>
            <a:off x="8636000" y="1583472"/>
            <a:ext cx="3200400" cy="3416320"/>
          </a:xfrm>
          <a:prstGeom prst="rect">
            <a:avLst/>
          </a:prstGeom>
          <a:noFill/>
        </p:spPr>
        <p:txBody>
          <a:bodyPr wrap="square" rtlCol="0">
            <a:spAutoFit/>
          </a:bodyPr>
          <a:lstStyle/>
          <a:p>
            <a:pPr marL="285750" indent="-285750">
              <a:buFont typeface="Wingdings" panose="05000000000000000000" pitchFamily="2" charset="2"/>
              <a:buChar char="Ø"/>
            </a:pPr>
            <a:r>
              <a:rPr lang="en-US" dirty="0"/>
              <a:t>The upward trend line suggests that business is growing.</a:t>
            </a:r>
          </a:p>
          <a:p>
            <a:pPr marL="285750" indent="-285750">
              <a:buFont typeface="Wingdings" panose="05000000000000000000" pitchFamily="2" charset="2"/>
              <a:buChar char="Ø"/>
            </a:pPr>
            <a:r>
              <a:rPr lang="en-US" dirty="0"/>
              <a:t>The recurring peaks and troughs reflect that there is some seasonal factors.</a:t>
            </a:r>
          </a:p>
          <a:p>
            <a:pPr marL="285750" indent="-285750">
              <a:buFont typeface="Wingdings" panose="05000000000000000000" pitchFamily="2" charset="2"/>
              <a:buChar char="Ø"/>
            </a:pPr>
            <a:r>
              <a:rPr lang="en-US" dirty="0"/>
              <a:t>The total sales coincides with the percentage contribution as well reflecting that percentage is determined by sales volume.</a:t>
            </a:r>
          </a:p>
        </p:txBody>
      </p:sp>
      <p:sp>
        <p:nvSpPr>
          <p:cNvPr id="5" name="TextBox 4">
            <a:extLst>
              <a:ext uri="{FF2B5EF4-FFF2-40B4-BE49-F238E27FC236}">
                <a16:creationId xmlns:a16="http://schemas.microsoft.com/office/drawing/2014/main" id="{BD68CB98-C7F2-F9B4-68BC-DBB4D6995937}"/>
              </a:ext>
            </a:extLst>
          </p:cNvPr>
          <p:cNvSpPr txBox="1"/>
          <p:nvPr/>
        </p:nvSpPr>
        <p:spPr>
          <a:xfrm>
            <a:off x="1168400" y="1083199"/>
            <a:ext cx="8199120"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Yearly and Monthly Sales and Percentage Contribution</a:t>
            </a:r>
            <a:endParaRPr lang="en-IN" b="1" dirty="0"/>
          </a:p>
        </p:txBody>
      </p:sp>
    </p:spTree>
    <p:extLst>
      <p:ext uri="{BB962C8B-B14F-4D97-AF65-F5344CB8AC3E}">
        <p14:creationId xmlns:p14="http://schemas.microsoft.com/office/powerpoint/2010/main" val="40337931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0B6A1-15A2-7143-D6E5-BCC7259302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09CCBE-2BF0-DB21-4D95-0294E892F662}"/>
              </a:ext>
            </a:extLst>
          </p:cNvPr>
          <p:cNvSpPr txBox="1"/>
          <p:nvPr/>
        </p:nvSpPr>
        <p:spPr>
          <a:xfrm>
            <a:off x="508000" y="233680"/>
            <a:ext cx="9916160" cy="523220"/>
          </a:xfrm>
          <a:prstGeom prst="rect">
            <a:avLst/>
          </a:prstGeom>
          <a:noFill/>
        </p:spPr>
        <p:txBody>
          <a:bodyPr wrap="square" rtlCol="0">
            <a:spAutoFit/>
          </a:bodyPr>
          <a:lstStyle/>
          <a:p>
            <a:r>
              <a:rPr lang="en-US" sz="2800" dirty="0">
                <a:solidFill>
                  <a:srgbClr val="00CC99"/>
                </a:solidFill>
              </a:rPr>
              <a:t>Sales Trend &amp; Pattern Analysis</a:t>
            </a:r>
            <a:endParaRPr lang="en-IN" sz="2800" dirty="0">
              <a:solidFill>
                <a:srgbClr val="00CC99"/>
              </a:solidFill>
            </a:endParaRPr>
          </a:p>
        </p:txBody>
      </p:sp>
      <p:pic>
        <p:nvPicPr>
          <p:cNvPr id="6" name="Picture 5">
            <a:extLst>
              <a:ext uri="{FF2B5EF4-FFF2-40B4-BE49-F238E27FC236}">
                <a16:creationId xmlns:a16="http://schemas.microsoft.com/office/drawing/2014/main" id="{2D4AC0BD-CC0D-765E-1CCD-C3ED3609DED1}"/>
              </a:ext>
            </a:extLst>
          </p:cNvPr>
          <p:cNvPicPr>
            <a:picLocks noChangeAspect="1"/>
          </p:cNvPicPr>
          <p:nvPr/>
        </p:nvPicPr>
        <p:blipFill>
          <a:blip r:embed="rId3"/>
          <a:stretch>
            <a:fillRect/>
          </a:stretch>
        </p:blipFill>
        <p:spPr>
          <a:xfrm>
            <a:off x="233680" y="1417320"/>
            <a:ext cx="7477760" cy="4023360"/>
          </a:xfrm>
          <a:prstGeom prst="rect">
            <a:avLst/>
          </a:prstGeom>
        </p:spPr>
      </p:pic>
      <p:sp>
        <p:nvSpPr>
          <p:cNvPr id="7" name="TextBox 6">
            <a:extLst>
              <a:ext uri="{FF2B5EF4-FFF2-40B4-BE49-F238E27FC236}">
                <a16:creationId xmlns:a16="http://schemas.microsoft.com/office/drawing/2014/main" id="{1197CC82-30E6-D160-282A-7696DABDC0AB}"/>
              </a:ext>
            </a:extLst>
          </p:cNvPr>
          <p:cNvSpPr txBox="1"/>
          <p:nvPr/>
        </p:nvSpPr>
        <p:spPr>
          <a:xfrm>
            <a:off x="1412240" y="965200"/>
            <a:ext cx="8199120"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Sales Trend by Month</a:t>
            </a:r>
            <a:endParaRPr lang="en-IN" b="1" dirty="0"/>
          </a:p>
        </p:txBody>
      </p:sp>
      <p:sp>
        <p:nvSpPr>
          <p:cNvPr id="8" name="TextBox 7">
            <a:extLst>
              <a:ext uri="{FF2B5EF4-FFF2-40B4-BE49-F238E27FC236}">
                <a16:creationId xmlns:a16="http://schemas.microsoft.com/office/drawing/2014/main" id="{B7DCB9DB-3F6C-59E1-EF0C-50F04ECE6BCA}"/>
              </a:ext>
            </a:extLst>
          </p:cNvPr>
          <p:cNvSpPr txBox="1"/>
          <p:nvPr/>
        </p:nvSpPr>
        <p:spPr>
          <a:xfrm>
            <a:off x="8011160" y="1417320"/>
            <a:ext cx="3200400" cy="2585323"/>
          </a:xfrm>
          <a:prstGeom prst="rect">
            <a:avLst/>
          </a:prstGeom>
          <a:noFill/>
        </p:spPr>
        <p:txBody>
          <a:bodyPr wrap="square" rtlCol="0">
            <a:spAutoFit/>
          </a:bodyPr>
          <a:lstStyle/>
          <a:p>
            <a:pPr marL="285750" indent="-285750">
              <a:buFont typeface="Wingdings" panose="05000000000000000000" pitchFamily="2" charset="2"/>
              <a:buChar char="Ø"/>
            </a:pPr>
            <a:r>
              <a:rPr lang="en-US" dirty="0"/>
              <a:t>We can see that the first half of the year has more stable sales pattern whereas the latter half of the year experiences fall in sales. </a:t>
            </a:r>
          </a:p>
          <a:p>
            <a:pPr marL="285750" indent="-285750">
              <a:buFont typeface="Wingdings" panose="05000000000000000000" pitchFamily="2" charset="2"/>
              <a:buChar char="Ø"/>
            </a:pPr>
            <a:r>
              <a:rPr lang="en-US" dirty="0"/>
              <a:t>This is also visible through the negatively sloping trend line.</a:t>
            </a:r>
          </a:p>
        </p:txBody>
      </p:sp>
    </p:spTree>
    <p:extLst>
      <p:ext uri="{BB962C8B-B14F-4D97-AF65-F5344CB8AC3E}">
        <p14:creationId xmlns:p14="http://schemas.microsoft.com/office/powerpoint/2010/main" val="39197042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4A9B-0E77-6634-F70B-6ACFBBD6DEA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8117B1A-FF7F-8746-3412-3DBBCB5F87DA}"/>
              </a:ext>
            </a:extLst>
          </p:cNvPr>
          <p:cNvSpPr txBox="1"/>
          <p:nvPr/>
        </p:nvSpPr>
        <p:spPr>
          <a:xfrm>
            <a:off x="508000" y="233680"/>
            <a:ext cx="9916160" cy="523220"/>
          </a:xfrm>
          <a:prstGeom prst="rect">
            <a:avLst/>
          </a:prstGeom>
          <a:noFill/>
        </p:spPr>
        <p:txBody>
          <a:bodyPr wrap="square" rtlCol="0">
            <a:spAutoFit/>
          </a:bodyPr>
          <a:lstStyle/>
          <a:p>
            <a:r>
              <a:rPr lang="en-US" sz="2800" dirty="0">
                <a:solidFill>
                  <a:srgbClr val="00CC99"/>
                </a:solidFill>
              </a:rPr>
              <a:t>Sales Trend &amp; Pattern Analysis</a:t>
            </a:r>
            <a:endParaRPr lang="en-IN" sz="2800" dirty="0">
              <a:solidFill>
                <a:srgbClr val="00CC99"/>
              </a:solidFill>
            </a:endParaRPr>
          </a:p>
        </p:txBody>
      </p:sp>
      <p:sp>
        <p:nvSpPr>
          <p:cNvPr id="7" name="TextBox 6">
            <a:extLst>
              <a:ext uri="{FF2B5EF4-FFF2-40B4-BE49-F238E27FC236}">
                <a16:creationId xmlns:a16="http://schemas.microsoft.com/office/drawing/2014/main" id="{CDEE0A38-E63D-D121-22AA-05A1EF759BCB}"/>
              </a:ext>
            </a:extLst>
          </p:cNvPr>
          <p:cNvSpPr txBox="1"/>
          <p:nvPr/>
        </p:nvSpPr>
        <p:spPr>
          <a:xfrm>
            <a:off x="1412240" y="965200"/>
            <a:ext cx="8199120"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Sales Trend by Weekdays</a:t>
            </a:r>
            <a:endParaRPr lang="en-IN" b="1" dirty="0"/>
          </a:p>
        </p:txBody>
      </p:sp>
      <p:pic>
        <p:nvPicPr>
          <p:cNvPr id="4" name="Picture 3">
            <a:extLst>
              <a:ext uri="{FF2B5EF4-FFF2-40B4-BE49-F238E27FC236}">
                <a16:creationId xmlns:a16="http://schemas.microsoft.com/office/drawing/2014/main" id="{ABEA72EB-8028-8502-CE73-5190AFAF2314}"/>
              </a:ext>
            </a:extLst>
          </p:cNvPr>
          <p:cNvPicPr>
            <a:picLocks noChangeAspect="1"/>
          </p:cNvPicPr>
          <p:nvPr/>
        </p:nvPicPr>
        <p:blipFill>
          <a:blip r:embed="rId2"/>
          <a:stretch>
            <a:fillRect/>
          </a:stretch>
        </p:blipFill>
        <p:spPr>
          <a:xfrm>
            <a:off x="717035" y="1542832"/>
            <a:ext cx="10509765" cy="3525520"/>
          </a:xfrm>
          <a:prstGeom prst="rect">
            <a:avLst/>
          </a:prstGeom>
        </p:spPr>
      </p:pic>
      <p:sp>
        <p:nvSpPr>
          <p:cNvPr id="5" name="TextBox 4">
            <a:extLst>
              <a:ext uri="{FF2B5EF4-FFF2-40B4-BE49-F238E27FC236}">
                <a16:creationId xmlns:a16="http://schemas.microsoft.com/office/drawing/2014/main" id="{92E9B77B-CD12-F445-D90F-5B6611268B5D}"/>
              </a:ext>
            </a:extLst>
          </p:cNvPr>
          <p:cNvSpPr txBox="1"/>
          <p:nvPr/>
        </p:nvSpPr>
        <p:spPr>
          <a:xfrm>
            <a:off x="717035" y="5323840"/>
            <a:ext cx="10509765"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t>We notice a dip in the sales and revenue over the course of the week viz Friday, Saturday.</a:t>
            </a:r>
          </a:p>
          <a:p>
            <a:pPr marL="285750" indent="-285750">
              <a:buFont typeface="Wingdings" panose="05000000000000000000" pitchFamily="2" charset="2"/>
              <a:buChar char="Ø"/>
            </a:pPr>
            <a:r>
              <a:rPr lang="en-US" dirty="0"/>
              <a:t>We can introduce some special discounts on these days so as to enhance sales on these days.</a:t>
            </a:r>
          </a:p>
        </p:txBody>
      </p:sp>
    </p:spTree>
    <p:extLst>
      <p:ext uri="{BB962C8B-B14F-4D97-AF65-F5344CB8AC3E}">
        <p14:creationId xmlns:p14="http://schemas.microsoft.com/office/powerpoint/2010/main" val="17224050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D3F5D-D404-2A06-5C32-BFC6820790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9F3913-19BB-890A-BAA4-024385DF18CC}"/>
              </a:ext>
            </a:extLst>
          </p:cNvPr>
          <p:cNvSpPr txBox="1"/>
          <p:nvPr/>
        </p:nvSpPr>
        <p:spPr>
          <a:xfrm>
            <a:off x="508000" y="233680"/>
            <a:ext cx="9916160" cy="523220"/>
          </a:xfrm>
          <a:prstGeom prst="rect">
            <a:avLst/>
          </a:prstGeom>
          <a:noFill/>
        </p:spPr>
        <p:txBody>
          <a:bodyPr wrap="square" rtlCol="0">
            <a:spAutoFit/>
          </a:bodyPr>
          <a:lstStyle/>
          <a:p>
            <a:r>
              <a:rPr lang="en-US" sz="2800" dirty="0">
                <a:solidFill>
                  <a:srgbClr val="00CC99"/>
                </a:solidFill>
              </a:rPr>
              <a:t>Sales Trend &amp; Pattern Analysis</a:t>
            </a:r>
            <a:endParaRPr lang="en-IN" sz="2800" dirty="0">
              <a:solidFill>
                <a:srgbClr val="00CC99"/>
              </a:solidFill>
            </a:endParaRPr>
          </a:p>
        </p:txBody>
      </p:sp>
      <p:sp>
        <p:nvSpPr>
          <p:cNvPr id="7" name="TextBox 6">
            <a:extLst>
              <a:ext uri="{FF2B5EF4-FFF2-40B4-BE49-F238E27FC236}">
                <a16:creationId xmlns:a16="http://schemas.microsoft.com/office/drawing/2014/main" id="{838FEA02-134C-58DA-EE09-18F18E5912C7}"/>
              </a:ext>
            </a:extLst>
          </p:cNvPr>
          <p:cNvSpPr txBox="1"/>
          <p:nvPr/>
        </p:nvSpPr>
        <p:spPr>
          <a:xfrm>
            <a:off x="1412240" y="965200"/>
            <a:ext cx="8199120"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Sales Trend by Time of Day</a:t>
            </a:r>
            <a:endParaRPr lang="en-IN" b="1" dirty="0"/>
          </a:p>
        </p:txBody>
      </p:sp>
      <p:pic>
        <p:nvPicPr>
          <p:cNvPr id="3" name="Picture 2">
            <a:extLst>
              <a:ext uri="{FF2B5EF4-FFF2-40B4-BE49-F238E27FC236}">
                <a16:creationId xmlns:a16="http://schemas.microsoft.com/office/drawing/2014/main" id="{F01496F0-8AB5-6881-A4A9-B5AA9D2F497D}"/>
              </a:ext>
            </a:extLst>
          </p:cNvPr>
          <p:cNvPicPr>
            <a:picLocks noChangeAspect="1"/>
          </p:cNvPicPr>
          <p:nvPr/>
        </p:nvPicPr>
        <p:blipFill>
          <a:blip r:embed="rId2"/>
          <a:stretch>
            <a:fillRect/>
          </a:stretch>
        </p:blipFill>
        <p:spPr>
          <a:xfrm>
            <a:off x="711200" y="1542832"/>
            <a:ext cx="10231119" cy="3437251"/>
          </a:xfrm>
          <a:prstGeom prst="rect">
            <a:avLst/>
          </a:prstGeom>
        </p:spPr>
      </p:pic>
      <p:sp>
        <p:nvSpPr>
          <p:cNvPr id="5" name="TextBox 4">
            <a:extLst>
              <a:ext uri="{FF2B5EF4-FFF2-40B4-BE49-F238E27FC236}">
                <a16:creationId xmlns:a16="http://schemas.microsoft.com/office/drawing/2014/main" id="{3E864BFC-382C-5EDE-C546-ADBBD508C909}"/>
              </a:ext>
            </a:extLst>
          </p:cNvPr>
          <p:cNvSpPr txBox="1"/>
          <p:nvPr/>
        </p:nvSpPr>
        <p:spPr>
          <a:xfrm>
            <a:off x="711200" y="5293360"/>
            <a:ext cx="10231119" cy="830997"/>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t>Sales peaks in the Afternoon period. However, the least sales happen in the Late night 12 am to 6 am window. We can give like Happy Breakfast Hour in the period in which sales have fallen </a:t>
            </a:r>
          </a:p>
          <a:p>
            <a:pPr marL="285750" indent="-285750">
              <a:buFont typeface="Wingdings" panose="05000000000000000000" pitchFamily="2" charset="2"/>
              <a:buChar char="Ø"/>
            </a:pPr>
            <a:r>
              <a:rPr lang="en-US" sz="1600" dirty="0"/>
              <a:t>The negatively sloping trendline suggests that as sales are more in the former part of the day than the latter.</a:t>
            </a:r>
            <a:endParaRPr lang="en-IN" sz="1600" dirty="0"/>
          </a:p>
        </p:txBody>
      </p:sp>
    </p:spTree>
    <p:extLst>
      <p:ext uri="{BB962C8B-B14F-4D97-AF65-F5344CB8AC3E}">
        <p14:creationId xmlns:p14="http://schemas.microsoft.com/office/powerpoint/2010/main" val="9040517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754368-7645-084F-3ECA-E5B5792BD4AD}"/>
              </a:ext>
            </a:extLst>
          </p:cNvPr>
          <p:cNvSpPr txBox="1"/>
          <p:nvPr/>
        </p:nvSpPr>
        <p:spPr>
          <a:xfrm>
            <a:off x="629920" y="304800"/>
            <a:ext cx="9916160" cy="523220"/>
          </a:xfrm>
          <a:prstGeom prst="rect">
            <a:avLst/>
          </a:prstGeom>
          <a:noFill/>
        </p:spPr>
        <p:txBody>
          <a:bodyPr wrap="square" rtlCol="0">
            <a:spAutoFit/>
          </a:bodyPr>
          <a:lstStyle/>
          <a:p>
            <a:r>
              <a:rPr lang="en-US" sz="2800" dirty="0">
                <a:solidFill>
                  <a:srgbClr val="00CC99"/>
                </a:solidFill>
              </a:rPr>
              <a:t>Cohort Analysis</a:t>
            </a:r>
            <a:endParaRPr lang="en-IN" sz="2800" dirty="0">
              <a:solidFill>
                <a:srgbClr val="00CC99"/>
              </a:solidFill>
            </a:endParaRPr>
          </a:p>
        </p:txBody>
      </p:sp>
      <p:sp>
        <p:nvSpPr>
          <p:cNvPr id="4" name="TextBox 3">
            <a:extLst>
              <a:ext uri="{FF2B5EF4-FFF2-40B4-BE49-F238E27FC236}">
                <a16:creationId xmlns:a16="http://schemas.microsoft.com/office/drawing/2014/main" id="{0DFC2468-97DF-245B-BBB7-85839029382A}"/>
              </a:ext>
            </a:extLst>
          </p:cNvPr>
          <p:cNvSpPr txBox="1"/>
          <p:nvPr/>
        </p:nvSpPr>
        <p:spPr>
          <a:xfrm>
            <a:off x="7802880" y="1322649"/>
            <a:ext cx="4033520" cy="2862322"/>
          </a:xfrm>
          <a:prstGeom prst="rect">
            <a:avLst/>
          </a:prstGeom>
          <a:noFill/>
        </p:spPr>
        <p:txBody>
          <a:bodyPr wrap="square" rtlCol="0">
            <a:spAutoFit/>
          </a:bodyPr>
          <a:lstStyle/>
          <a:p>
            <a:pPr marL="285750" indent="-285750">
              <a:buFont typeface="Wingdings" panose="05000000000000000000" pitchFamily="2" charset="2"/>
              <a:buChar char="Ø"/>
            </a:pPr>
            <a:r>
              <a:rPr lang="en-US" dirty="0"/>
              <a:t>The retention rate is very low and  volatile, even less than 1%.</a:t>
            </a:r>
          </a:p>
          <a:p>
            <a:pPr marL="285750" indent="-285750">
              <a:buFont typeface="Wingdings" panose="05000000000000000000" pitchFamily="2" charset="2"/>
              <a:buChar char="Ø"/>
            </a:pPr>
            <a:r>
              <a:rPr lang="en-US" dirty="0"/>
              <a:t>The customer base shows weak repeat behavior, suggesting short-term campaign effects rather than long-term loyalty.</a:t>
            </a:r>
          </a:p>
          <a:p>
            <a:pPr marL="285750" indent="-285750">
              <a:buFont typeface="Wingdings" panose="05000000000000000000" pitchFamily="2" charset="2"/>
              <a:buChar char="Ø"/>
            </a:pPr>
            <a:r>
              <a:rPr lang="en-US" dirty="0"/>
              <a:t>Focus must shift from acquisition to engagement — personalized follow-ups, loyalty programs, and reactivation campaigns.</a:t>
            </a:r>
          </a:p>
        </p:txBody>
      </p:sp>
      <p:pic>
        <p:nvPicPr>
          <p:cNvPr id="5" name="Picture 4">
            <a:extLst>
              <a:ext uri="{FF2B5EF4-FFF2-40B4-BE49-F238E27FC236}">
                <a16:creationId xmlns:a16="http://schemas.microsoft.com/office/drawing/2014/main" id="{678C8889-38B9-0C26-4443-0B4E2D7A4DA0}"/>
              </a:ext>
            </a:extLst>
          </p:cNvPr>
          <p:cNvPicPr>
            <a:picLocks noChangeAspect="1"/>
          </p:cNvPicPr>
          <p:nvPr/>
        </p:nvPicPr>
        <p:blipFill>
          <a:blip r:embed="rId2"/>
          <a:stretch>
            <a:fillRect/>
          </a:stretch>
        </p:blipFill>
        <p:spPr>
          <a:xfrm>
            <a:off x="629920" y="1221049"/>
            <a:ext cx="6939280" cy="4212701"/>
          </a:xfrm>
          <a:prstGeom prst="rect">
            <a:avLst/>
          </a:prstGeom>
        </p:spPr>
      </p:pic>
    </p:spTree>
    <p:extLst>
      <p:ext uri="{BB962C8B-B14F-4D97-AF65-F5344CB8AC3E}">
        <p14:creationId xmlns:p14="http://schemas.microsoft.com/office/powerpoint/2010/main" val="33152264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092D11-F590-3830-4EE0-3C5DE2112F97}"/>
              </a:ext>
            </a:extLst>
          </p:cNvPr>
          <p:cNvSpPr txBox="1"/>
          <p:nvPr/>
        </p:nvSpPr>
        <p:spPr>
          <a:xfrm>
            <a:off x="629920" y="304800"/>
            <a:ext cx="9916160" cy="523220"/>
          </a:xfrm>
          <a:prstGeom prst="rect">
            <a:avLst/>
          </a:prstGeom>
          <a:noFill/>
        </p:spPr>
        <p:txBody>
          <a:bodyPr wrap="square" rtlCol="0">
            <a:spAutoFit/>
          </a:bodyPr>
          <a:lstStyle/>
          <a:p>
            <a:r>
              <a:rPr lang="en-US" sz="2800" dirty="0">
                <a:solidFill>
                  <a:srgbClr val="00CC99"/>
                </a:solidFill>
              </a:rPr>
              <a:t>Cohort Analysis</a:t>
            </a:r>
            <a:endParaRPr lang="en-IN" sz="2800" dirty="0">
              <a:solidFill>
                <a:srgbClr val="00CC99"/>
              </a:solidFill>
            </a:endParaRPr>
          </a:p>
        </p:txBody>
      </p:sp>
      <p:pic>
        <p:nvPicPr>
          <p:cNvPr id="4" name="Picture 3" descr="A screenshot of a computer screen">
            <a:extLst>
              <a:ext uri="{FF2B5EF4-FFF2-40B4-BE49-F238E27FC236}">
                <a16:creationId xmlns:a16="http://schemas.microsoft.com/office/drawing/2014/main" id="{3F284DFB-E1F5-607F-93D8-6823874B5C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840" y="1005841"/>
            <a:ext cx="11196320" cy="3596639"/>
          </a:xfrm>
          <a:prstGeom prst="rect">
            <a:avLst/>
          </a:prstGeom>
        </p:spPr>
      </p:pic>
      <p:sp>
        <p:nvSpPr>
          <p:cNvPr id="5" name="TextBox 4">
            <a:extLst>
              <a:ext uri="{FF2B5EF4-FFF2-40B4-BE49-F238E27FC236}">
                <a16:creationId xmlns:a16="http://schemas.microsoft.com/office/drawing/2014/main" id="{FDC89F65-766A-159A-EBE8-F0E6264A6073}"/>
              </a:ext>
            </a:extLst>
          </p:cNvPr>
          <p:cNvSpPr txBox="1"/>
          <p:nvPr/>
        </p:nvSpPr>
        <p:spPr>
          <a:xfrm>
            <a:off x="416560" y="4780301"/>
            <a:ext cx="11277600" cy="1323439"/>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t>Retention rates drop sharply after Month-1 — only 0.04–0.06% of customers make a repeat purchase, with almost zero retention after Month-3.</a:t>
            </a:r>
          </a:p>
          <a:p>
            <a:pPr marL="285750" indent="-285750">
              <a:buFont typeface="Wingdings" panose="05000000000000000000" pitchFamily="2" charset="2"/>
              <a:buChar char="Ø"/>
            </a:pPr>
            <a:r>
              <a:rPr lang="en-US" sz="1600" dirty="0"/>
              <a:t>A few cohorts show higher retention (~0.10–0.12%) but these effects are temporary.</a:t>
            </a:r>
          </a:p>
          <a:p>
            <a:pPr marL="285750" indent="-285750">
              <a:buFont typeface="Wingdings" panose="05000000000000000000" pitchFamily="2" charset="2"/>
              <a:buChar char="Ø"/>
            </a:pPr>
            <a:r>
              <a:rPr lang="en-US" sz="1600" dirty="0"/>
              <a:t>The business needs to focus on post-purchase engagement, second-order incentives, and loyalty programs to turn one-time buyers into repeat customers</a:t>
            </a:r>
            <a:endParaRPr lang="en-IN" sz="1600" dirty="0"/>
          </a:p>
        </p:txBody>
      </p:sp>
    </p:spTree>
    <p:extLst>
      <p:ext uri="{BB962C8B-B14F-4D97-AF65-F5344CB8AC3E}">
        <p14:creationId xmlns:p14="http://schemas.microsoft.com/office/powerpoint/2010/main" val="26474953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07"/>
        <p:cNvGrpSpPr/>
        <p:nvPr/>
      </p:nvGrpSpPr>
      <p:grpSpPr>
        <a:xfrm>
          <a:off x="0" y="0"/>
          <a:ext cx="0" cy="0"/>
          <a:chOff x="0" y="0"/>
          <a:chExt cx="0" cy="0"/>
        </a:xfrm>
      </p:grpSpPr>
      <p:sp>
        <p:nvSpPr>
          <p:cNvPr id="1208" name="Google Shape;1208;p46"/>
          <p:cNvSpPr txBox="1">
            <a:spLocks noGrp="1"/>
          </p:cNvSpPr>
          <p:nvPr>
            <p:ph type="subTitle" idx="1"/>
          </p:nvPr>
        </p:nvSpPr>
        <p:spPr>
          <a:xfrm>
            <a:off x="2849000" y="2488624"/>
            <a:ext cx="6494000" cy="1056800"/>
          </a:xfrm>
          <a:prstGeom prst="rect">
            <a:avLst/>
          </a:prstGeom>
          <a:noFill/>
          <a:ln>
            <a:noFill/>
          </a:ln>
        </p:spPr>
        <p:txBody>
          <a:bodyPr spcFirstLastPara="1" wrap="square" lIns="121900" tIns="121900" rIns="121900" bIns="121900" anchor="ctr" anchorCtr="0">
            <a:normAutofit fontScale="92500" lnSpcReduction="10000"/>
          </a:bodyPr>
          <a:lstStyle/>
          <a:p>
            <a:pPr marL="609585" indent="-457189"/>
            <a:r>
              <a:rPr lang="en-US" sz="6400" b="1" dirty="0"/>
              <a:t>THANK YOU!</a:t>
            </a:r>
          </a:p>
        </p:txBody>
      </p:sp>
    </p:spTree>
    <p:extLst>
      <p:ext uri="{BB962C8B-B14F-4D97-AF65-F5344CB8AC3E}">
        <p14:creationId xmlns:p14="http://schemas.microsoft.com/office/powerpoint/2010/main" val="3656772840"/>
      </p:ext>
    </p:extLst>
  </p:cSld>
  <p:clrMapOvr>
    <a:masterClrMapping/>
  </p:clrMapOvr>
</p:sld>
</file>

<file path=ppt/theme/theme1.xml><?xml version="1.0" encoding="utf-8"?>
<a:theme xmlns:a="http://schemas.openxmlformats.org/drawingml/2006/main" name="Tropic">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54818</TotalTime>
  <Words>3706</Words>
  <Application>Microsoft Office PowerPoint</Application>
  <PresentationFormat>Widescreen</PresentationFormat>
  <Paragraphs>462</Paragraphs>
  <Slides>49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Calibri</vt:lpstr>
      <vt:lpstr>Open Sans</vt:lpstr>
      <vt:lpstr>PT Sans Narrow</vt:lpstr>
      <vt:lpstr>Raleway</vt:lpstr>
      <vt:lpstr>Wingdings</vt:lpstr>
      <vt:lpstr>Tropic</vt:lpstr>
      <vt:lpstr>PowerPoint Presentation</vt:lpstr>
      <vt:lpstr>Business Context and Objective</vt:lpstr>
      <vt:lpstr>Task Overview</vt:lpstr>
      <vt:lpstr>Data Summary</vt:lpstr>
      <vt:lpstr>Table Relationship</vt:lpstr>
      <vt:lpstr>PowerPoint Presentation</vt:lpstr>
      <vt:lpstr>Foreign Key Consistency</vt:lpstr>
      <vt:lpstr>Outliers Detection</vt:lpstr>
      <vt:lpstr>PowerPoint Presentation</vt:lpstr>
      <vt:lpstr>Logical Fallacies </vt:lpstr>
      <vt:lpstr>PowerPoint Presentation</vt:lpstr>
      <vt:lpstr>PowerPoint Presentation</vt:lpstr>
      <vt:lpstr>Data Cleaning(1/2)</vt:lpstr>
      <vt:lpstr>Data Cleaning (2/2 )</vt:lpstr>
      <vt:lpstr>Sales Performance Dashboard</vt:lpstr>
      <vt:lpstr>PowerPoint Presentation</vt:lpstr>
      <vt:lpstr>Customer Level Dashboard</vt:lpstr>
      <vt:lpstr>PowerPoint Presentation</vt:lpstr>
      <vt:lpstr>Store Level Dashboard</vt:lpstr>
      <vt:lpstr>PowerPoint Presentation</vt:lpstr>
      <vt:lpstr>Product &amp; Review Analytics Dashboard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oorja gund</dc:creator>
  <cp:lastModifiedBy>adarshgupta22474@outlook.com</cp:lastModifiedBy>
  <cp:revision>100</cp:revision>
  <dcterms:created xsi:type="dcterms:W3CDTF">2025-04-04T02:52:34Z</dcterms:created>
  <dcterms:modified xsi:type="dcterms:W3CDTF">2025-11-12T11:56:40Z</dcterms:modified>
</cp:coreProperties>
</file>